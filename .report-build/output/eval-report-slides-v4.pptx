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9b000ae4294ed8" /><Relationship Type="http://schemas.openxmlformats.org/officeDocument/2006/relationships/extended-properties" Target="/docProps/app.xml" Id="R8a4d0395656f4cdb" /><Relationship Type="http://schemas.openxmlformats.org/officeDocument/2006/relationships/officeDocument" Target="/ppt/presentation.xml" Id="R0391906c94894b0d" /></Relationships>
</file>

<file path=ppt/presentation.xml><?xml version="1.0" encoding="utf-8"?>
<p:presentation xmlns:p="http://schemas.openxmlformats.org/presentationml/2006/main">
  <p:sldMasterIdLst>
    <p:sldMasterId xmlns:r="http://schemas.openxmlformats.org/officeDocument/2006/relationships" id="2147483648" r:id="Rf9fefd18f91643ac"/>
  </p:sldMasterIdLst>
  <p:notesMasterIdLst>
    <p:notesMasterId xmlns:r="http://schemas.openxmlformats.org/officeDocument/2006/relationships" r:id="R3c143ea7c1fb475a"/>
  </p:notesMasterIdLst>
  <p:sldIdLst>
    <p:sldId xmlns:r="http://schemas.openxmlformats.org/officeDocument/2006/relationships" id="256" r:id="Ra49bec49e5204fd1"/>
    <p:sldId xmlns:r="http://schemas.openxmlformats.org/officeDocument/2006/relationships" id="257" r:id="R110b816385f14c44"/>
    <p:sldId xmlns:r="http://schemas.openxmlformats.org/officeDocument/2006/relationships" id="258" r:id="Rc9c0c87739624a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cdef3f56ae4c2b" /><Relationship Type="http://schemas.openxmlformats.org/officeDocument/2006/relationships/slideMaster" Target="/ppt/slideMasters/slideMaster1.xml" Id="Rf9fefd18f91643ac" /><Relationship Type="http://schemas.openxmlformats.org/officeDocument/2006/relationships/notesMaster" Target="/ppt/notesMasters/notesMaster1.xml" Id="R3c143ea7c1fb475a" /><Relationship Type="http://schemas.openxmlformats.org/officeDocument/2006/relationships/presProps" Target="/ppt/presProps.xml" Id="R87abf35fbdc04252" /><Relationship Type="http://schemas.openxmlformats.org/officeDocument/2006/relationships/tableStyles" Target="/ppt/tableStyles.xml" Id="Rbf8e4b6c9fc44b35" /><Relationship Type="http://schemas.openxmlformats.org/officeDocument/2006/relationships/slide" Target="/ppt/slides/slide1.xml" Id="Ra49bec49e5204fd1" /><Relationship Type="http://schemas.openxmlformats.org/officeDocument/2006/relationships/slide" Target="/ppt/slides/slide2.xml" Id="R110b816385f14c44" /><Relationship Type="http://schemas.openxmlformats.org/officeDocument/2006/relationships/slide" Target="/ppt/slides/slide3.xml" Id="Rc9c0c87739624a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4e219a70a74a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86460da0c647c0" /><Relationship Type="http://schemas.openxmlformats.org/officeDocument/2006/relationships/notesMaster" Target="/ppt/notesMasters/notesMaster1.xml" Id="R10f8ef71a2104c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f9763b844e4100" /><Relationship Type="http://schemas.openxmlformats.org/officeDocument/2006/relationships/notesMaster" Target="/ppt/notesMasters/notesMaster1.xml" Id="R557bb1d0ff1249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78d411cd4447e7" /><Relationship Type="http://schemas.openxmlformats.org/officeDocument/2006/relationships/notesMaster" Target="/ppt/notesMasters/notesMaster1.xml" Id="R2a2becbe7bc844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pipeline hiện tại là profile có cấu trúc đã chuẩn hóa cùng JD; output là XML context cho AI interviewer. Bộ context chứa câu hỏi kỹ thuật và STAR, expected answers, rubric, interview stages và score anchors. Ví dụ phỏng vấn công ty là nhu cầu thu thập, không khẳng định dữ liệu hiện có đã có nguồn xác thực. Không đưa số lượng dữ liệu trên trang tổng quan.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CV:185Fresher,38Junior,35Intern,40Mid,2Senior trên300. JD:211Junior,129Fresher,28Intern,14Fresher/Junior,13Fresher/Intern trên395. Các thanh có cùng thang0–65%. JD nhãn kết hợp27/395=6.8%. Framework chỉ Intern/Fresher/Junior;42CV Mid/Senior ngoài phạm vi. Tên kỹ năng lowercase:CV119,JD69,giao29;chỉCV90,chỉJD40,union159,Jaccard18.24%. Đây là overlap từ vựng tổng thể không phải skillgap từngCV. Các alias minh họa cần đối soát ngữ nghĩa trước chuẩn hóa. Có350technicalquestions và342question_idunique;composite(position_id,question_id)350unique. SQLite metadata+JSON;BM25 vàTFIDF/SVD64 chiều lưu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CSV32rows:8CVReactDeveloper/Fresher×4strategies,3uniqueJD. Mean Recall25/30/55/32.5%;Precision61.7/75/95/95%;Rubric40/100/100/100%;Faithfulness70/75.625/87.375/86%. Metrics custom implemented in src/evaluation/metrics.py:Recall substring match first5JDskills,Precision60%role+40%level,Rubric structural criteria. Faithfulness mixed: S1hardcoded.7;S2hardcoded.85/.7;S3/S4judge onlyCVindices1,2,5,remaininghardcoded.90/.78. Judgeparse/APIerrorsdefault.92. CSV lacks judgeprovenance. Therefore Faithfulness is reported as stored benchmark value, not independent source-grounding validation. No standard Ragas calls. S3Recall advantage22.5percentagepoints.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0fcb1a1bfc4e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132e254d2e4948" /><Relationship Type="http://schemas.openxmlformats.org/officeDocument/2006/relationships/slideLayout" Target="/ppt/slideLayouts/slideLayout1.xml" Id="R595ce202f30d43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5ce202f30d43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984c94f7d949d1" /><Relationship Type="http://schemas.openxmlformats.org/officeDocument/2006/relationships/notesSlide" Target="/ppt/notesSlides/notesSlide1.xml" Id="Ree35cf8f679145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01fa1eeac740a4" /><Relationship Type="http://schemas.openxmlformats.org/officeDocument/2006/relationships/notesSlide" Target="/ppt/notesSlides/notesSlide2.xml" Id="R7e17af4d9fc143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f5f63fa1c84e43" /><Relationship Type="http://schemas.openxmlformats.org/officeDocument/2006/relationships/notesSlide" Target="/ppt/notesSlides/notesSlide3.xml" Id="R1f1305bfe364424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A5ECF1B-1E72-4853-B776-0F16551D28C6}"/>
              </a:ext>
            </a:extLst>
          </p:cNvPr>
          <p:cNvSpPr>
            <a:spLocks xmlns:a="http://schemas.openxmlformats.org/drawingml/2006/main" noGrp="1"/>
          </p:cNvSpPr>
          <p:nvPr/>
        </p:nvSpPr>
        <p:spPr>
          <a:xfrm xmlns:a="http://schemas.openxmlformats.org/drawingml/2006/main">
            <a:off x="381000" y="190500"/>
            <a:ext cx="1333500" cy="323850"/>
          </a:xfrm>
          <a:prstGeom xmlns:a="http://schemas.openxmlformats.org/drawingml/2006/main" prst="roundRect">
            <a:avLst>
              <a:gd name="adj" fmla="val 23529"/>
            </a:avLst>
          </a:prstGeom>
          <a:solidFill xmlns:a="http://schemas.openxmlformats.org/drawingml/2006/main">
            <a:srgbClr val="1635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DA68A9-CE0B-4E95-B03B-00A77F2E1DCE}"/>
              </a:ext>
            </a:extLst>
          </p:cNvPr>
          <p:cNvSpPr>
            <a:spLocks xmlns:a="http://schemas.openxmlformats.org/drawingml/2006/main" noGrp="1"/>
          </p:cNvSpPr>
          <p:nvPr/>
        </p:nvSpPr>
        <p:spPr>
          <a:xfrm xmlns:a="http://schemas.openxmlformats.org/drawingml/2006/main">
            <a:off x="4953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Tổng quan</a:t>
            </a:r>
          </a:p>
        </p:txBody>
      </p:sp>
      <p:sp>
        <p:nvSpPr>
          <p:cNvPr id="3" name="">
            <a:extLst xmlns:a="http://schemas.openxmlformats.org/drawingml/2006/main">
              <a:ext uri="{FF2B5EF4-FFF2-40B4-BE49-F238E27FC236}">
                <a16:creationId xmlns:a16="http://schemas.microsoft.com/office/drawing/2014/main" id="{F1B21340-BCEA-4F44-A174-E0B4A2DF75EF}"/>
              </a:ext>
            </a:extLst>
          </p:cNvPr>
          <p:cNvSpPr>
            <a:spLocks xmlns:a="http://schemas.openxmlformats.org/drawingml/2006/main" noGrp="1"/>
          </p:cNvSpPr>
          <p:nvPr/>
        </p:nvSpPr>
        <p:spPr>
          <a:xfrm xmlns:a="http://schemas.openxmlformats.org/drawingml/2006/main">
            <a:off x="19431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Thu thập</a:t>
            </a:r>
          </a:p>
        </p:txBody>
      </p:sp>
      <p:sp>
        <p:nvSpPr>
          <p:cNvPr id="4" name="">
            <a:extLst xmlns:a="http://schemas.openxmlformats.org/drawingml/2006/main">
              <a:ext uri="{FF2B5EF4-FFF2-40B4-BE49-F238E27FC236}">
                <a16:creationId xmlns:a16="http://schemas.microsoft.com/office/drawing/2014/main" id="{F6ADB4F2-6F9E-48E4-9C11-F4C15944007F}"/>
              </a:ext>
            </a:extLst>
          </p:cNvPr>
          <p:cNvSpPr>
            <a:spLocks xmlns:a="http://schemas.openxmlformats.org/drawingml/2006/main" noGrp="1"/>
          </p:cNvSpPr>
          <p:nvPr/>
        </p:nvSpPr>
        <p:spPr>
          <a:xfrm xmlns:a="http://schemas.openxmlformats.org/drawingml/2006/main">
            <a:off x="33909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EDA</a:t>
            </a:r>
          </a:p>
        </p:txBody>
      </p:sp>
      <p:sp>
        <p:nvSpPr>
          <p:cNvPr id="5" name="">
            <a:extLst xmlns:a="http://schemas.openxmlformats.org/drawingml/2006/main">
              <a:ext uri="{FF2B5EF4-FFF2-40B4-BE49-F238E27FC236}">
                <a16:creationId xmlns:a16="http://schemas.microsoft.com/office/drawing/2014/main" id="{7B3B9146-132A-4273-A18E-5C9E88124469}"/>
              </a:ext>
            </a:extLst>
          </p:cNvPr>
          <p:cNvSpPr>
            <a:spLocks xmlns:a="http://schemas.openxmlformats.org/drawingml/2006/main" noGrp="1"/>
          </p:cNvSpPr>
          <p:nvPr/>
        </p:nvSpPr>
        <p:spPr>
          <a:xfrm xmlns:a="http://schemas.openxmlformats.org/drawingml/2006/main">
            <a:off x="48387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Đánh giá</a:t>
            </a:r>
          </a:p>
        </p:txBody>
      </p:sp>
      <p:sp>
        <p:nvSpPr>
          <p:cNvPr id="6" name="">
            <a:extLst xmlns:a="http://schemas.openxmlformats.org/drawingml/2006/main">
              <a:ext uri="{FF2B5EF4-FFF2-40B4-BE49-F238E27FC236}">
                <a16:creationId xmlns:a16="http://schemas.microsoft.com/office/drawing/2014/main" id="{CBD9C252-EBED-4DA6-A793-9A5AE5A413FB}"/>
              </a:ext>
            </a:extLst>
          </p:cNvPr>
          <p:cNvSpPr>
            <a:spLocks xmlns:a="http://schemas.openxmlformats.org/drawingml/2006/main" noGrp="1"/>
          </p:cNvSpPr>
          <p:nvPr/>
        </p:nvSpPr>
        <p:spPr>
          <a:xfrm xmlns:a="http://schemas.openxmlformats.org/drawingml/2006/main">
            <a:off x="0" y="647700"/>
            <a:ext cx="12192000" cy="59055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0CE311-E858-404F-94EC-EB3B8650288C}"/>
              </a:ext>
            </a:extLst>
          </p:cNvPr>
          <p:cNvSpPr>
            <a:spLocks xmlns:a="http://schemas.openxmlformats.org/drawingml/2006/main" noGrp="1"/>
          </p:cNvSpPr>
          <p:nvPr/>
        </p:nvSpPr>
        <p:spPr>
          <a:xfrm xmlns:a="http://schemas.openxmlformats.org/drawingml/2006/main">
            <a:off x="381000" y="74295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Từ CV đến bộ ngữ cảnh phỏng vấn</a:t>
            </a:r>
          </a:p>
        </p:txBody>
      </p:sp>
      <p:sp>
        <p:nvSpPr>
          <p:cNvPr id="8" name="">
            <a:extLst xmlns:a="http://schemas.openxmlformats.org/drawingml/2006/main">
              <a:ext uri="{FF2B5EF4-FFF2-40B4-BE49-F238E27FC236}">
                <a16:creationId xmlns:a16="http://schemas.microsoft.com/office/drawing/2014/main" id="{4FF8076B-B103-4729-B0DC-E76047D96D39}"/>
              </a:ext>
            </a:extLst>
          </p:cNvPr>
          <p:cNvSpPr>
            <a:spLocks xmlns:a="http://schemas.openxmlformats.org/drawingml/2006/main" noGrp="1"/>
          </p:cNvSpPr>
          <p:nvPr/>
        </p:nvSpPr>
        <p:spPr>
          <a:xfrm xmlns:a="http://schemas.openxmlformats.org/drawingml/2006/main">
            <a:off x="11268075" y="64293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5FF"/>
                </a:solidFill>
                <a:latin typeface="Arial"/>
                <a:ea typeface="Arial"/>
                <a:cs typeface="Arial"/>
              </a:defRPr>
            </a:pPr>
            <a:r>
              <a:rPr sz="1275" b="1">
                <a:solidFill>
                  <a:srgbClr val="1635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FEAABF55-9F37-4B91-92E7-C6600B202428}"/>
              </a:ext>
            </a:extLst>
          </p:cNvPr>
          <p:cNvSpPr>
            <a:spLocks xmlns:a="http://schemas.openxmlformats.org/drawingml/2006/main" noGrp="1"/>
          </p:cNvSpPr>
          <p:nvPr/>
        </p:nvSpPr>
        <p:spPr>
          <a:xfrm xmlns:a="http://schemas.openxmlformats.org/drawingml/2006/main">
            <a:off x="381000" y="1457325"/>
            <a:ext cx="1143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192F"/>
                </a:solidFill>
                <a:latin typeface="Arial"/>
                <a:ea typeface="Arial"/>
                <a:cs typeface="Arial"/>
              </a:defRPr>
            </a:pPr>
            <a:r>
              <a:rPr sz="2175" b="1">
                <a:solidFill>
                  <a:srgbClr val="14192F"/>
                </a:solidFill>
                <a:latin typeface="Arial"/>
                <a:ea typeface="Arial"/>
                <a:cs typeface="Arial"/>
              </a:rPr>
              <a:t>Làm sao chọn câu hỏi đúng với ứng viên và vị trí ứng tuyển?</a:t>
            </a:r>
          </a:p>
        </p:txBody>
      </p:sp>
      <p:sp>
        <p:nvSpPr>
          <p:cNvPr id="10" name="">
            <a:extLst xmlns:a="http://schemas.openxmlformats.org/drawingml/2006/main">
              <a:ext uri="{FF2B5EF4-FFF2-40B4-BE49-F238E27FC236}">
                <a16:creationId xmlns:a16="http://schemas.microsoft.com/office/drawing/2014/main" id="{87CDF438-150A-4593-93D4-E952DA033931}"/>
              </a:ext>
            </a:extLst>
          </p:cNvPr>
          <p:cNvSpPr>
            <a:spLocks xmlns:a="http://schemas.openxmlformats.org/drawingml/2006/main" noGrp="1"/>
          </p:cNvSpPr>
          <p:nvPr/>
        </p:nvSpPr>
        <p:spPr>
          <a:xfrm xmlns:a="http://schemas.openxmlformats.org/drawingml/2006/main">
            <a:off x="381000" y="21526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INPUT</a:t>
            </a:r>
          </a:p>
        </p:txBody>
      </p:sp>
      <p:sp>
        <p:nvSpPr>
          <p:cNvPr id="11" name="">
            <a:extLst xmlns:a="http://schemas.openxmlformats.org/drawingml/2006/main">
              <a:ext uri="{FF2B5EF4-FFF2-40B4-BE49-F238E27FC236}">
                <a16:creationId xmlns:a16="http://schemas.microsoft.com/office/drawing/2014/main" id="{4FC13FB6-1C84-41DA-8496-5F782B8F0C0F}"/>
              </a:ext>
            </a:extLst>
          </p:cNvPr>
          <p:cNvSpPr>
            <a:spLocks xmlns:a="http://schemas.openxmlformats.org/drawingml/2006/main" noGrp="1"/>
          </p:cNvSpPr>
          <p:nvPr/>
        </p:nvSpPr>
        <p:spPr>
          <a:xfrm xmlns:a="http://schemas.openxmlformats.org/drawingml/2006/main">
            <a:off x="381000" y="26098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192F"/>
                </a:solidFill>
                <a:latin typeface="Arial"/>
                <a:ea typeface="Arial"/>
                <a:cs typeface="Arial"/>
              </a:defRPr>
            </a:pPr>
            <a:r>
              <a:rPr sz="2400" b="1">
                <a:solidFill>
                  <a:srgbClr val="14192F"/>
                </a:solidFill>
                <a:latin typeface="Arial"/>
                <a:ea typeface="Arial"/>
                <a:cs typeface="Arial"/>
              </a:rPr>
              <a:t>CV ứng viên</a:t>
            </a:r>
          </a:p>
        </p:txBody>
      </p:sp>
      <p:sp>
        <p:nvSpPr>
          <p:cNvPr id="12" name="">
            <a:extLst xmlns:a="http://schemas.openxmlformats.org/drawingml/2006/main">
              <a:ext uri="{FF2B5EF4-FFF2-40B4-BE49-F238E27FC236}">
                <a16:creationId xmlns:a16="http://schemas.microsoft.com/office/drawing/2014/main" id="{0AB8EA76-194F-433F-8704-6FE462DFA4CF}"/>
              </a:ext>
            </a:extLst>
          </p:cNvPr>
          <p:cNvSpPr>
            <a:spLocks xmlns:a="http://schemas.openxmlformats.org/drawingml/2006/main" noGrp="1"/>
          </p:cNvSpPr>
          <p:nvPr/>
        </p:nvSpPr>
        <p:spPr>
          <a:xfrm xmlns:a="http://schemas.openxmlformats.org/drawingml/2006/main">
            <a:off x="381000" y="32099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Kỹ năng, dự án, kinh nghiệm</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Vị trí, cấp độ, công ty mục tiêu</a:t>
            </a:r>
          </a:p>
        </p:txBody>
      </p:sp>
      <p:sp>
        <p:nvSpPr>
          <p:cNvPr id="13" name="">
            <a:extLst xmlns:a="http://schemas.openxmlformats.org/drawingml/2006/main">
              <a:ext uri="{FF2B5EF4-FFF2-40B4-BE49-F238E27FC236}">
                <a16:creationId xmlns:a16="http://schemas.microsoft.com/office/drawing/2014/main" id="{FBEDADDD-0485-4DD6-9443-FD722321C854}"/>
              </a:ext>
            </a:extLst>
          </p:cNvPr>
          <p:cNvSpPr>
            <a:spLocks xmlns:a="http://schemas.openxmlformats.org/drawingml/2006/main" noGrp="1"/>
          </p:cNvSpPr>
          <p:nvPr/>
        </p:nvSpPr>
        <p:spPr>
          <a:xfrm xmlns:a="http://schemas.openxmlformats.org/drawingml/2006/main">
            <a:off x="3886200" y="2943225"/>
            <a:ext cx="428625" cy="238125"/>
          </a:xfrm>
          <a:prstGeom xmlns:a="http://schemas.openxmlformats.org/drawingml/2006/main" prst="rightArrow">
            <a:avLst/>
          </a:prstGeom>
          <a:solidFill xmlns:a="http://schemas.openxmlformats.org/drawingml/2006/main">
            <a:srgbClr val="1635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C138D93-3570-47EC-87D4-CED715A51BC5}"/>
              </a:ext>
            </a:extLst>
          </p:cNvPr>
          <p:cNvSpPr>
            <a:spLocks xmlns:a="http://schemas.openxmlformats.org/drawingml/2006/main" noGrp="1"/>
          </p:cNvSpPr>
          <p:nvPr/>
        </p:nvSpPr>
        <p:spPr>
          <a:xfrm xmlns:a="http://schemas.openxmlformats.org/drawingml/2006/main">
            <a:off x="4572000" y="2152650"/>
            <a:ext cx="319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CẦN BIẾT THÊM</a:t>
            </a:r>
          </a:p>
        </p:txBody>
      </p:sp>
      <p:sp>
        <p:nvSpPr>
          <p:cNvPr id="15" name="">
            <a:extLst xmlns:a="http://schemas.openxmlformats.org/drawingml/2006/main">
              <a:ext uri="{FF2B5EF4-FFF2-40B4-BE49-F238E27FC236}">
                <a16:creationId xmlns:a16="http://schemas.microsoft.com/office/drawing/2014/main" id="{93EC42BC-29BE-493D-92E3-83930CC9680E}"/>
              </a:ext>
            </a:extLst>
          </p:cNvPr>
          <p:cNvSpPr>
            <a:spLocks xmlns:a="http://schemas.openxmlformats.org/drawingml/2006/main" noGrp="1"/>
          </p:cNvSpPr>
          <p:nvPr/>
        </p:nvSpPr>
        <p:spPr>
          <a:xfrm xmlns:a="http://schemas.openxmlformats.org/drawingml/2006/main">
            <a:off x="4572000" y="2609850"/>
            <a:ext cx="328612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192F"/>
                </a:solidFill>
                <a:latin typeface="Arial"/>
                <a:ea typeface="Arial"/>
                <a:cs typeface="Arial"/>
              </a:defRPr>
            </a:pPr>
            <a:r>
              <a:rPr sz="2175" b="1">
                <a:solidFill>
                  <a:srgbClr val="14192F"/>
                </a:solidFill>
                <a:latin typeface="Arial"/>
                <a:ea typeface="Arial"/>
                <a:cs typeface="Arial"/>
              </a:rPr>
              <a:t>Vị trí này yêu cầu gì?</a:t>
            </a:r>
          </a:p>
          <a:p xmlns:a="http://schemas.openxmlformats.org/drawingml/2006/main">
            <a:pPr>
              <a:defRPr sz="2175" b="1">
                <a:solidFill>
                  <a:srgbClr val="14192F"/>
                </a:solidFill>
                <a:latin typeface="Arial"/>
                <a:ea typeface="Arial"/>
                <a:cs typeface="Arial"/>
              </a:defRPr>
            </a:pPr>
            <a:r>
              <a:rPr sz="2175" b="1">
                <a:solidFill>
                  <a:srgbClr val="14192F"/>
                </a:solidFill>
                <a:latin typeface="Arial"/>
                <a:ea typeface="Arial"/>
                <a:cs typeface="Arial"/>
              </a:rPr>
              <a:t>Ứng viên còn thiếu gì?</a:t>
            </a:r>
          </a:p>
          <a:p xmlns:a="http://schemas.openxmlformats.org/drawingml/2006/main">
            <a:pPr>
              <a:defRPr sz="2175" b="1">
                <a:solidFill>
                  <a:srgbClr val="14192F"/>
                </a:solidFill>
                <a:latin typeface="Arial"/>
                <a:ea typeface="Arial"/>
                <a:cs typeface="Arial"/>
              </a:defRPr>
            </a:pPr>
            <a:r>
              <a:rPr sz="2175" b="1">
                <a:solidFill>
                  <a:srgbClr val="14192F"/>
                </a:solidFill>
                <a:latin typeface="Arial"/>
                <a:ea typeface="Arial"/>
                <a:cs typeface="Arial"/>
              </a:rPr>
              <a:t>Hỏi gì và chấm thế nào?</a:t>
            </a:r>
          </a:p>
        </p:txBody>
      </p:sp>
      <p:sp>
        <p:nvSpPr>
          <p:cNvPr id="16" name="">
            <a:extLst xmlns:a="http://schemas.openxmlformats.org/drawingml/2006/main">
              <a:ext uri="{FF2B5EF4-FFF2-40B4-BE49-F238E27FC236}">
                <a16:creationId xmlns:a16="http://schemas.microsoft.com/office/drawing/2014/main" id="{E4411854-D61E-4FE0-8C3D-DFC1BD2E8983}"/>
              </a:ext>
            </a:extLst>
          </p:cNvPr>
          <p:cNvSpPr>
            <a:spLocks xmlns:a="http://schemas.openxmlformats.org/drawingml/2006/main" noGrp="1"/>
          </p:cNvSpPr>
          <p:nvPr/>
        </p:nvSpPr>
        <p:spPr>
          <a:xfrm xmlns:a="http://schemas.openxmlformats.org/drawingml/2006/main">
            <a:off x="7972425" y="2943225"/>
            <a:ext cx="428625" cy="238125"/>
          </a:xfrm>
          <a:prstGeom xmlns:a="http://schemas.openxmlformats.org/drawingml/2006/main" prst="rightArrow">
            <a:avLst/>
          </a:prstGeom>
          <a:solidFill xmlns:a="http://schemas.openxmlformats.org/drawingml/2006/main">
            <a:srgbClr val="1635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E47F3D3-AA7C-44B6-97DD-BBBA89F94B4D}"/>
              </a:ext>
            </a:extLst>
          </p:cNvPr>
          <p:cNvSpPr>
            <a:spLocks xmlns:a="http://schemas.openxmlformats.org/drawingml/2006/main" noGrp="1"/>
          </p:cNvSpPr>
          <p:nvPr/>
        </p:nvSpPr>
        <p:spPr>
          <a:xfrm xmlns:a="http://schemas.openxmlformats.org/drawingml/2006/main">
            <a:off x="8667750" y="21526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OUTPUT</a:t>
            </a:r>
          </a:p>
        </p:txBody>
      </p:sp>
      <p:sp>
        <p:nvSpPr>
          <p:cNvPr id="18" name="">
            <a:extLst xmlns:a="http://schemas.openxmlformats.org/drawingml/2006/main">
              <a:ext uri="{FF2B5EF4-FFF2-40B4-BE49-F238E27FC236}">
                <a16:creationId xmlns:a16="http://schemas.microsoft.com/office/drawing/2014/main" id="{9656B16E-0829-4494-9D8A-BDF5B5028933}"/>
              </a:ext>
            </a:extLst>
          </p:cNvPr>
          <p:cNvSpPr>
            <a:spLocks xmlns:a="http://schemas.openxmlformats.org/drawingml/2006/main" noGrp="1"/>
          </p:cNvSpPr>
          <p:nvPr/>
        </p:nvSpPr>
        <p:spPr>
          <a:xfrm xmlns:a="http://schemas.openxmlformats.org/drawingml/2006/main">
            <a:off x="8667750" y="26098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192F"/>
                </a:solidFill>
                <a:latin typeface="Arial"/>
                <a:ea typeface="Arial"/>
                <a:cs typeface="Arial"/>
              </a:defRPr>
            </a:pPr>
            <a:r>
              <a:rPr sz="2175" b="1">
                <a:solidFill>
                  <a:srgbClr val="14192F"/>
                </a:solidFill>
                <a:latin typeface="Arial"/>
                <a:ea typeface="Arial"/>
                <a:cs typeface="Arial"/>
              </a:rPr>
              <a:t>Context cho AI phỏng vấn</a:t>
            </a:r>
          </a:p>
        </p:txBody>
      </p:sp>
      <p:sp>
        <p:nvSpPr>
          <p:cNvPr id="19" name="">
            <a:extLst xmlns:a="http://schemas.openxmlformats.org/drawingml/2006/main">
              <a:ext uri="{FF2B5EF4-FFF2-40B4-BE49-F238E27FC236}">
                <a16:creationId xmlns:a16="http://schemas.microsoft.com/office/drawing/2014/main" id="{9DB86F70-9BE5-4E2D-8511-94FD3593DC07}"/>
              </a:ext>
            </a:extLst>
          </p:cNvPr>
          <p:cNvSpPr>
            <a:spLocks xmlns:a="http://schemas.openxmlformats.org/drawingml/2006/main" noGrp="1"/>
          </p:cNvSpPr>
          <p:nvPr/>
        </p:nvSpPr>
        <p:spPr>
          <a:xfrm xmlns:a="http://schemas.openxmlformats.org/drawingml/2006/main">
            <a:off x="8667750" y="3581400"/>
            <a:ext cx="31623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192F"/>
                </a:solidFill>
                <a:latin typeface="Arial"/>
                <a:ea typeface="Arial"/>
                <a:cs typeface="Arial"/>
              </a:defRPr>
            </a:pPr>
            <a:r>
              <a:rPr sz="1800" b="0">
                <a:solidFill>
                  <a:srgbClr val="14192F"/>
                </a:solidFill>
                <a:latin typeface="Arial"/>
                <a:ea typeface="Arial"/>
                <a:cs typeface="Arial"/>
              </a:rPr>
              <a:t>Câu hỏi theo CV và JD</a:t>
            </a:r>
          </a:p>
          <a:p xmlns:a="http://schemas.openxmlformats.org/drawingml/2006/main">
            <a:pPr>
              <a:defRPr sz="1800" b="0">
                <a:solidFill>
                  <a:srgbClr val="14192F"/>
                </a:solidFill>
                <a:latin typeface="Arial"/>
                <a:ea typeface="Arial"/>
                <a:cs typeface="Arial"/>
              </a:defRPr>
            </a:pPr>
            <a:r>
              <a:rPr sz="1800" b="0">
                <a:solidFill>
                  <a:srgbClr val="14192F"/>
                </a:solidFill>
                <a:latin typeface="Arial"/>
                <a:ea typeface="Arial"/>
                <a:cs typeface="Arial"/>
              </a:rPr>
              <a:t>Đáp án, rubric, thang điểm</a:t>
            </a:r>
          </a:p>
          <a:p xmlns:a="http://schemas.openxmlformats.org/drawingml/2006/main">
            <a:pPr>
              <a:defRPr sz="1800" b="0">
                <a:solidFill>
                  <a:srgbClr val="14192F"/>
                </a:solidFill>
                <a:latin typeface="Arial"/>
                <a:ea typeface="Arial"/>
                <a:cs typeface="Arial"/>
              </a:defRPr>
            </a:pPr>
            <a:r>
              <a:rPr sz="1800" b="0">
                <a:solidFill>
                  <a:srgbClr val="14192F"/>
                </a:solidFill>
                <a:latin typeface="Arial"/>
                <a:ea typeface="Arial"/>
                <a:cs typeface="Arial"/>
              </a:rPr>
              <a:t>Các chặng của buổi phỏng vấn</a:t>
            </a:r>
          </a:p>
        </p:txBody>
      </p:sp>
      <p:sp>
        <p:nvSpPr>
          <p:cNvPr id="20" name="">
            <a:extLst xmlns:a="http://schemas.openxmlformats.org/drawingml/2006/main">
              <a:ext uri="{FF2B5EF4-FFF2-40B4-BE49-F238E27FC236}">
                <a16:creationId xmlns:a16="http://schemas.microsoft.com/office/drawing/2014/main" id="{480A9BE0-E75F-4E2C-B726-8A2164A909C7}"/>
              </a:ext>
            </a:extLst>
          </p:cNvPr>
          <p:cNvSpPr>
            <a:spLocks xmlns:a="http://schemas.openxmlformats.org/drawingml/2006/main" noGrp="1"/>
          </p:cNvSpPr>
          <p:nvPr/>
        </p:nvSpPr>
        <p:spPr>
          <a:xfrm xmlns:a="http://schemas.openxmlformats.org/drawingml/2006/main">
            <a:off x="381000" y="4791075"/>
            <a:ext cx="11430000" cy="2857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90FAFD6-D2AB-42C8-AE2A-52CFA09A1A6A}"/>
              </a:ext>
            </a:extLst>
          </p:cNvPr>
          <p:cNvSpPr>
            <a:spLocks xmlns:a="http://schemas.openxmlformats.org/drawingml/2006/main" noGrp="1"/>
          </p:cNvSpPr>
          <p:nvPr/>
        </p:nvSpPr>
        <p:spPr>
          <a:xfrm xmlns:a="http://schemas.openxmlformats.org/drawingml/2006/main">
            <a:off x="381000" y="5038725"/>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35FF"/>
                </a:solidFill>
                <a:latin typeface="Arial"/>
                <a:ea typeface="Arial"/>
                <a:cs typeface="Arial"/>
              </a:defRPr>
            </a:pPr>
            <a:r>
              <a:rPr sz="2175" b="1">
                <a:solidFill>
                  <a:srgbClr val="1635FF"/>
                </a:solidFill>
                <a:latin typeface="Arial"/>
                <a:ea typeface="Arial"/>
                <a:cs typeface="Arial"/>
              </a:rPr>
              <a:t>Dữ liệu cần thu thập</a:t>
            </a:r>
          </a:p>
        </p:txBody>
      </p:sp>
      <p:sp>
        <p:nvSpPr>
          <p:cNvPr id="22" name="">
            <a:extLst xmlns:a="http://schemas.openxmlformats.org/drawingml/2006/main">
              <a:ext uri="{FF2B5EF4-FFF2-40B4-BE49-F238E27FC236}">
                <a16:creationId xmlns:a16="http://schemas.microsoft.com/office/drawing/2014/main" id="{AAEDDFF0-7349-427E-BA08-A2633DCB1A68}"/>
              </a:ext>
            </a:extLst>
          </p:cNvPr>
          <p:cNvSpPr>
            <a:spLocks xmlns:a="http://schemas.openxmlformats.org/drawingml/2006/main" noGrp="1"/>
          </p:cNvSpPr>
          <p:nvPr/>
        </p:nvSpPr>
        <p:spPr>
          <a:xfrm xmlns:a="http://schemas.openxmlformats.org/drawingml/2006/main">
            <a:off x="3771900" y="5010150"/>
            <a:ext cx="8039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JD theo vị trí và cấp độ • Khung kiến thức / năng lực</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Câu hỏi kỹ thuật và tình huống STAR • Đáp án, tiêu chí chấm</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Ví dụ phỏng vấn theo công ty, nếu tìm được nguồn</a:t>
            </a:r>
          </a:p>
        </p:txBody>
      </p:sp>
    </p:spTree>
    <p:extLst>
      <p:ext uri="{BB962C8B-B14F-4D97-AF65-F5344CB8AC3E}">
        <p14:creationId xmlns:p14="http://schemas.microsoft.com/office/powerpoint/2010/main" val="20687502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2D3CE22C-70D7-490D-80BF-5F9DF9978831}"/>
              </a:ext>
            </a:extLst>
          </p:cNvPr>
          <p:cNvSpPr>
            <a:spLocks xmlns:a="http://schemas.openxmlformats.org/drawingml/2006/main" noGrp="1"/>
          </p:cNvSpPr>
          <p:nvPr/>
        </p:nvSpPr>
        <p:spPr>
          <a:xfrm xmlns:a="http://schemas.openxmlformats.org/drawingml/2006/main">
            <a:off x="4953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Tổng quan</a:t>
            </a:r>
          </a:p>
        </p:txBody>
      </p:sp>
      <p:sp>
        <p:nvSpPr>
          <p:cNvPr id="2" name="">
            <a:extLst xmlns:a="http://schemas.openxmlformats.org/drawingml/2006/main">
              <a:ext uri="{FF2B5EF4-FFF2-40B4-BE49-F238E27FC236}">
                <a16:creationId xmlns:a16="http://schemas.microsoft.com/office/drawing/2014/main" id="{9CC91982-DB1F-4CB8-84B5-C961FDC91124}"/>
              </a:ext>
            </a:extLst>
          </p:cNvPr>
          <p:cNvSpPr>
            <a:spLocks xmlns:a="http://schemas.openxmlformats.org/drawingml/2006/main" noGrp="1"/>
          </p:cNvSpPr>
          <p:nvPr/>
        </p:nvSpPr>
        <p:spPr>
          <a:xfrm xmlns:a="http://schemas.openxmlformats.org/drawingml/2006/main">
            <a:off x="19431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Thu thập</a:t>
            </a:r>
          </a:p>
        </p:txBody>
      </p:sp>
      <p:sp>
        <p:nvSpPr>
          <p:cNvPr id="3" name="">
            <a:extLst xmlns:a="http://schemas.openxmlformats.org/drawingml/2006/main">
              <a:ext uri="{FF2B5EF4-FFF2-40B4-BE49-F238E27FC236}">
                <a16:creationId xmlns:a16="http://schemas.microsoft.com/office/drawing/2014/main" id="{C03D803F-6AC8-4B82-BFB3-6A860DBE0D00}"/>
              </a:ext>
            </a:extLst>
          </p:cNvPr>
          <p:cNvSpPr>
            <a:spLocks xmlns:a="http://schemas.openxmlformats.org/drawingml/2006/main" noGrp="1"/>
          </p:cNvSpPr>
          <p:nvPr/>
        </p:nvSpPr>
        <p:spPr>
          <a:xfrm xmlns:a="http://schemas.openxmlformats.org/drawingml/2006/main">
            <a:off x="3276600" y="190500"/>
            <a:ext cx="1333500" cy="323850"/>
          </a:xfrm>
          <a:prstGeom xmlns:a="http://schemas.openxmlformats.org/drawingml/2006/main" prst="roundRect">
            <a:avLst>
              <a:gd name="adj" fmla="val 23529"/>
            </a:avLst>
          </a:prstGeom>
          <a:solidFill xmlns:a="http://schemas.openxmlformats.org/drawingml/2006/main">
            <a:srgbClr val="1635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FBCF66-B26E-4C54-BE99-14D4B6486549}"/>
              </a:ext>
            </a:extLst>
          </p:cNvPr>
          <p:cNvSpPr>
            <a:spLocks xmlns:a="http://schemas.openxmlformats.org/drawingml/2006/main" noGrp="1"/>
          </p:cNvSpPr>
          <p:nvPr/>
        </p:nvSpPr>
        <p:spPr>
          <a:xfrm xmlns:a="http://schemas.openxmlformats.org/drawingml/2006/main">
            <a:off x="33909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EDA</a:t>
            </a:r>
          </a:p>
        </p:txBody>
      </p:sp>
      <p:sp>
        <p:nvSpPr>
          <p:cNvPr id="5" name="">
            <a:extLst xmlns:a="http://schemas.openxmlformats.org/drawingml/2006/main">
              <a:ext uri="{FF2B5EF4-FFF2-40B4-BE49-F238E27FC236}">
                <a16:creationId xmlns:a16="http://schemas.microsoft.com/office/drawing/2014/main" id="{16C34D3D-7F71-4585-B743-4C6266D62CA8}"/>
              </a:ext>
            </a:extLst>
          </p:cNvPr>
          <p:cNvSpPr>
            <a:spLocks xmlns:a="http://schemas.openxmlformats.org/drawingml/2006/main" noGrp="1"/>
          </p:cNvSpPr>
          <p:nvPr/>
        </p:nvSpPr>
        <p:spPr>
          <a:xfrm xmlns:a="http://schemas.openxmlformats.org/drawingml/2006/main">
            <a:off x="48387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Đánh giá</a:t>
            </a:r>
          </a:p>
        </p:txBody>
      </p:sp>
      <p:sp>
        <p:nvSpPr>
          <p:cNvPr id="6" name="">
            <a:extLst xmlns:a="http://schemas.openxmlformats.org/drawingml/2006/main">
              <a:ext uri="{FF2B5EF4-FFF2-40B4-BE49-F238E27FC236}">
                <a16:creationId xmlns:a16="http://schemas.microsoft.com/office/drawing/2014/main" id="{7346D4A8-E6CB-4362-B269-BF5D15E5E7DC}"/>
              </a:ext>
            </a:extLst>
          </p:cNvPr>
          <p:cNvSpPr>
            <a:spLocks xmlns:a="http://schemas.openxmlformats.org/drawingml/2006/main" noGrp="1"/>
          </p:cNvSpPr>
          <p:nvPr/>
        </p:nvSpPr>
        <p:spPr>
          <a:xfrm xmlns:a="http://schemas.openxmlformats.org/drawingml/2006/main">
            <a:off x="0" y="647700"/>
            <a:ext cx="12192000" cy="59055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AA1C6DA-683A-4D8D-B21F-09FCBA0CC9AC}"/>
              </a:ext>
            </a:extLst>
          </p:cNvPr>
          <p:cNvSpPr>
            <a:spLocks xmlns:a="http://schemas.openxmlformats.org/drawingml/2006/main" noGrp="1"/>
          </p:cNvSpPr>
          <p:nvPr/>
        </p:nvSpPr>
        <p:spPr>
          <a:xfrm xmlns:a="http://schemas.openxmlformats.org/drawingml/2006/main">
            <a:off x="381000" y="74295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CV thiên về Fresher, JD thiên về Junior</a:t>
            </a:r>
          </a:p>
        </p:txBody>
      </p:sp>
      <p:sp>
        <p:nvSpPr>
          <p:cNvPr id="8" name="">
            <a:extLst xmlns:a="http://schemas.openxmlformats.org/drawingml/2006/main">
              <a:ext uri="{FF2B5EF4-FFF2-40B4-BE49-F238E27FC236}">
                <a16:creationId xmlns:a16="http://schemas.microsoft.com/office/drawing/2014/main" id="{DAFE8C10-48EE-4F37-82A4-3B43199A97ED}"/>
              </a:ext>
            </a:extLst>
          </p:cNvPr>
          <p:cNvSpPr>
            <a:spLocks xmlns:a="http://schemas.openxmlformats.org/drawingml/2006/main" noGrp="1"/>
          </p:cNvSpPr>
          <p:nvPr/>
        </p:nvSpPr>
        <p:spPr>
          <a:xfrm xmlns:a="http://schemas.openxmlformats.org/drawingml/2006/main">
            <a:off x="11268075" y="64293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5FF"/>
                </a:solidFill>
                <a:latin typeface="Arial"/>
                <a:ea typeface="Arial"/>
                <a:cs typeface="Arial"/>
              </a:defRPr>
            </a:pPr>
            <a:r>
              <a:rPr sz="1275" b="1">
                <a:solidFill>
                  <a:srgbClr val="1635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4F7001DF-2C3E-4A40-9280-E7AB78AE2009}"/>
              </a:ext>
            </a:extLst>
          </p:cNvPr>
          <p:cNvSpPr>
            <a:spLocks xmlns:a="http://schemas.openxmlformats.org/drawingml/2006/main" noGrp="1"/>
          </p:cNvSpPr>
          <p:nvPr/>
        </p:nvSpPr>
        <p:spPr>
          <a:xfrm xmlns:a="http://schemas.openxmlformats.org/drawingml/2006/main">
            <a:off x="381000" y="14573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192F"/>
                </a:solidFill>
                <a:latin typeface="Arial"/>
                <a:ea typeface="Arial"/>
                <a:cs typeface="Arial"/>
              </a:defRPr>
            </a:pPr>
            <a:r>
              <a:rPr sz="2025" b="1">
                <a:solidFill>
                  <a:srgbClr val="14192F"/>
                </a:solidFill>
                <a:latin typeface="Arial"/>
                <a:ea typeface="Arial"/>
                <a:cs typeface="Arial"/>
              </a:rPr>
              <a:t>Phân bố cấp độ</a:t>
            </a:r>
          </a:p>
        </p:txBody>
      </p:sp>
      <p:sp>
        <p:nvSpPr>
          <p:cNvPr id="10" name="">
            <a:extLst xmlns:a="http://schemas.openxmlformats.org/drawingml/2006/main">
              <a:ext uri="{FF2B5EF4-FFF2-40B4-BE49-F238E27FC236}">
                <a16:creationId xmlns:a16="http://schemas.microsoft.com/office/drawing/2014/main" id="{F3BB541D-0CD9-4AD2-957F-9436E7EE2213}"/>
              </a:ext>
            </a:extLst>
          </p:cNvPr>
          <p:cNvSpPr>
            <a:spLocks xmlns:a="http://schemas.openxmlformats.org/drawingml/2006/main" noGrp="1"/>
          </p:cNvSpPr>
          <p:nvPr/>
        </p:nvSpPr>
        <p:spPr>
          <a:xfrm xmlns:a="http://schemas.openxmlformats.org/drawingml/2006/main">
            <a:off x="381000" y="19526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35FF"/>
                </a:solidFill>
                <a:latin typeface="Arial"/>
                <a:ea typeface="Arial"/>
                <a:cs typeface="Arial"/>
              </a:defRPr>
            </a:pPr>
            <a:r>
              <a:rPr sz="1650" b="1">
                <a:solidFill>
                  <a:srgbClr val="1635FF"/>
                </a:solidFill>
                <a:latin typeface="Arial"/>
                <a:ea typeface="Arial"/>
                <a:cs typeface="Arial"/>
              </a:rPr>
              <a:t>CV (n = 300)</a:t>
            </a:r>
          </a:p>
        </p:txBody>
      </p:sp>
      <p:sp>
        <p:nvSpPr>
          <p:cNvPr id="11" name="">
            <a:extLst xmlns:a="http://schemas.openxmlformats.org/drawingml/2006/main">
              <a:ext uri="{FF2B5EF4-FFF2-40B4-BE49-F238E27FC236}">
                <a16:creationId xmlns:a16="http://schemas.microsoft.com/office/drawing/2014/main" id="{4A0E2B7D-2D00-46D9-B002-0817445F341B}"/>
              </a:ext>
            </a:extLst>
          </p:cNvPr>
          <p:cNvSpPr>
            <a:spLocks xmlns:a="http://schemas.openxmlformats.org/drawingml/2006/main" noGrp="1"/>
          </p:cNvSpPr>
          <p:nvPr/>
        </p:nvSpPr>
        <p:spPr>
          <a:xfrm xmlns:a="http://schemas.openxmlformats.org/drawingml/2006/main">
            <a:off x="3048000" y="1952625"/>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35FF"/>
                </a:solidFill>
                <a:latin typeface="Arial"/>
                <a:ea typeface="Arial"/>
                <a:cs typeface="Arial"/>
              </a:defRPr>
            </a:pPr>
            <a:r>
              <a:rPr sz="1650" b="1">
                <a:solidFill>
                  <a:srgbClr val="1635FF"/>
                </a:solidFill>
                <a:latin typeface="Arial"/>
                <a:ea typeface="Arial"/>
                <a:cs typeface="Arial"/>
              </a:rPr>
              <a:t>JD (n = 395)</a:t>
            </a:r>
          </a:p>
        </p:txBody>
      </p:sp>
      <p:sp>
        <p:nvSpPr>
          <p:cNvPr id="12" name="">
            <a:extLst xmlns:a="http://schemas.openxmlformats.org/drawingml/2006/main">
              <a:ext uri="{FF2B5EF4-FFF2-40B4-BE49-F238E27FC236}">
                <a16:creationId xmlns:a16="http://schemas.microsoft.com/office/drawing/2014/main" id="{0522EA46-E184-4032-AD83-8C7C82512221}"/>
              </a:ext>
            </a:extLst>
          </p:cNvPr>
          <p:cNvSpPr>
            <a:spLocks xmlns:a="http://schemas.openxmlformats.org/drawingml/2006/main" noGrp="1"/>
          </p:cNvSpPr>
          <p:nvPr/>
        </p:nvSpPr>
        <p:spPr>
          <a:xfrm xmlns:a="http://schemas.openxmlformats.org/drawingml/2006/main">
            <a:off x="381000" y="2400300"/>
            <a:ext cx="1200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4192F"/>
                </a:solidFill>
                <a:latin typeface="Arial"/>
                <a:ea typeface="Arial"/>
                <a:cs typeface="Arial"/>
              </a:defRPr>
            </a:pPr>
            <a:r>
              <a:rPr sz="1425" b="0">
                <a:solidFill>
                  <a:srgbClr val="14192F"/>
                </a:solidFill>
                <a:latin typeface="Arial"/>
                <a:ea typeface="Arial"/>
                <a:cs typeface="Arial"/>
              </a:rPr>
              <a:t>Intern</a:t>
            </a:r>
          </a:p>
        </p:txBody>
      </p:sp>
      <p:sp>
        <p:nvSpPr>
          <p:cNvPr id="13" name="">
            <a:extLst xmlns:a="http://schemas.openxmlformats.org/drawingml/2006/main">
              <a:ext uri="{FF2B5EF4-FFF2-40B4-BE49-F238E27FC236}">
                <a16:creationId xmlns:a16="http://schemas.microsoft.com/office/drawing/2014/main" id="{F93583E4-C80C-4FBC-8FFA-B83E2628DC19}"/>
              </a:ext>
            </a:extLst>
          </p:cNvPr>
          <p:cNvSpPr>
            <a:spLocks xmlns:a="http://schemas.openxmlformats.org/drawingml/2006/main" noGrp="1"/>
          </p:cNvSpPr>
          <p:nvPr/>
        </p:nvSpPr>
        <p:spPr>
          <a:xfrm xmlns:a="http://schemas.openxmlformats.org/drawingml/2006/main">
            <a:off x="1619250" y="2447925"/>
            <a:ext cx="216027" cy="16192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CE7C5DE-3FB7-419B-A091-DF17DCFBD380}"/>
              </a:ext>
            </a:extLst>
          </p:cNvPr>
          <p:cNvSpPr>
            <a:spLocks xmlns:a="http://schemas.openxmlformats.org/drawingml/2006/main" noGrp="1"/>
          </p:cNvSpPr>
          <p:nvPr/>
        </p:nvSpPr>
        <p:spPr>
          <a:xfrm xmlns:a="http://schemas.openxmlformats.org/drawingml/2006/main">
            <a:off x="1619250" y="2628900"/>
            <a:ext cx="1200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635FF"/>
                </a:solidFill>
                <a:latin typeface="Arial"/>
                <a:ea typeface="Arial"/>
                <a:cs typeface="Arial"/>
              </a:defRPr>
            </a:pPr>
            <a:r>
              <a:rPr sz="1200" b="0">
                <a:solidFill>
                  <a:srgbClr val="1635FF"/>
                </a:solidFill>
                <a:latin typeface="Arial"/>
                <a:ea typeface="Arial"/>
                <a:cs typeface="Arial"/>
              </a:rPr>
              <a:t>11,7%</a:t>
            </a:r>
          </a:p>
        </p:txBody>
      </p:sp>
      <p:sp>
        <p:nvSpPr>
          <p:cNvPr id="15" name="">
            <a:extLst xmlns:a="http://schemas.openxmlformats.org/drawingml/2006/main">
              <a:ext uri="{FF2B5EF4-FFF2-40B4-BE49-F238E27FC236}">
                <a16:creationId xmlns:a16="http://schemas.microsoft.com/office/drawing/2014/main" id="{3F1F733C-E893-4E6F-957F-051A1BA448F0}"/>
              </a:ext>
            </a:extLst>
          </p:cNvPr>
          <p:cNvSpPr>
            <a:spLocks xmlns:a="http://schemas.openxmlformats.org/drawingml/2006/main" noGrp="1"/>
          </p:cNvSpPr>
          <p:nvPr/>
        </p:nvSpPr>
        <p:spPr>
          <a:xfrm xmlns:a="http://schemas.openxmlformats.org/drawingml/2006/main">
            <a:off x="3048000" y="2447925"/>
            <a:ext cx="131093" cy="161925"/>
          </a:xfrm>
          <a:prstGeom xmlns:a="http://schemas.openxmlformats.org/drawingml/2006/main" prst="rect">
            <a:avLst/>
          </a:prstGeom>
          <a:solidFill xmlns:a="http://schemas.openxmlformats.org/drawingml/2006/main">
            <a:srgbClr val="91A0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36AE169-25CA-44AD-B49F-18772E1210C1}"/>
              </a:ext>
            </a:extLst>
          </p:cNvPr>
          <p:cNvSpPr>
            <a:spLocks xmlns:a="http://schemas.openxmlformats.org/drawingml/2006/main" noGrp="1"/>
          </p:cNvSpPr>
          <p:nvPr/>
        </p:nvSpPr>
        <p:spPr>
          <a:xfrm xmlns:a="http://schemas.openxmlformats.org/drawingml/2006/main">
            <a:off x="3048000" y="2628900"/>
            <a:ext cx="1200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078"/>
                </a:solidFill>
                <a:latin typeface="Arial"/>
                <a:ea typeface="Arial"/>
                <a:cs typeface="Arial"/>
              </a:defRPr>
            </a:pPr>
            <a:r>
              <a:rPr sz="1200" b="0">
                <a:solidFill>
                  <a:srgbClr val="566078"/>
                </a:solidFill>
                <a:latin typeface="Arial"/>
                <a:ea typeface="Arial"/>
                <a:cs typeface="Arial"/>
              </a:rPr>
              <a:t>7,1%</a:t>
            </a:r>
          </a:p>
        </p:txBody>
      </p:sp>
      <p:sp>
        <p:nvSpPr>
          <p:cNvPr id="17" name="">
            <a:extLst xmlns:a="http://schemas.openxmlformats.org/drawingml/2006/main">
              <a:ext uri="{FF2B5EF4-FFF2-40B4-BE49-F238E27FC236}">
                <a16:creationId xmlns:a16="http://schemas.microsoft.com/office/drawing/2014/main" id="{8E63D478-055B-48E5-8CAA-C9FD4C1AA167}"/>
              </a:ext>
            </a:extLst>
          </p:cNvPr>
          <p:cNvSpPr>
            <a:spLocks xmlns:a="http://schemas.openxmlformats.org/drawingml/2006/main" noGrp="1"/>
          </p:cNvSpPr>
          <p:nvPr/>
        </p:nvSpPr>
        <p:spPr>
          <a:xfrm xmlns:a="http://schemas.openxmlformats.org/drawingml/2006/main">
            <a:off x="381000" y="2895600"/>
            <a:ext cx="1200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4192F"/>
                </a:solidFill>
                <a:latin typeface="Arial"/>
                <a:ea typeface="Arial"/>
                <a:cs typeface="Arial"/>
              </a:defRPr>
            </a:pPr>
            <a:r>
              <a:rPr sz="1425" b="0">
                <a:solidFill>
                  <a:srgbClr val="14192F"/>
                </a:solidFill>
                <a:latin typeface="Arial"/>
                <a:ea typeface="Arial"/>
                <a:cs typeface="Arial"/>
              </a:rPr>
              <a:t>Fresher</a:t>
            </a:r>
          </a:p>
        </p:txBody>
      </p:sp>
      <p:sp>
        <p:nvSpPr>
          <p:cNvPr id="18" name="">
            <a:extLst xmlns:a="http://schemas.openxmlformats.org/drawingml/2006/main">
              <a:ext uri="{FF2B5EF4-FFF2-40B4-BE49-F238E27FC236}">
                <a16:creationId xmlns:a16="http://schemas.microsoft.com/office/drawing/2014/main" id="{06B4B87D-5F75-4F9B-BF9C-06701832753D}"/>
              </a:ext>
            </a:extLst>
          </p:cNvPr>
          <p:cNvSpPr>
            <a:spLocks xmlns:a="http://schemas.openxmlformats.org/drawingml/2006/main" noGrp="1"/>
          </p:cNvSpPr>
          <p:nvPr/>
        </p:nvSpPr>
        <p:spPr>
          <a:xfrm xmlns:a="http://schemas.openxmlformats.org/drawingml/2006/main">
            <a:off x="1619250" y="2943225"/>
            <a:ext cx="1139219" cy="16192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553E526-851C-4F2B-9E9E-7502B25BAEE1}"/>
              </a:ext>
            </a:extLst>
          </p:cNvPr>
          <p:cNvSpPr>
            <a:spLocks xmlns:a="http://schemas.openxmlformats.org/drawingml/2006/main" noGrp="1"/>
          </p:cNvSpPr>
          <p:nvPr/>
        </p:nvSpPr>
        <p:spPr>
          <a:xfrm xmlns:a="http://schemas.openxmlformats.org/drawingml/2006/main">
            <a:off x="1619250" y="3124200"/>
            <a:ext cx="1200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635FF"/>
                </a:solidFill>
                <a:latin typeface="Arial"/>
                <a:ea typeface="Arial"/>
                <a:cs typeface="Arial"/>
              </a:defRPr>
            </a:pPr>
            <a:r>
              <a:rPr sz="1200" b="0">
                <a:solidFill>
                  <a:srgbClr val="1635FF"/>
                </a:solidFill>
                <a:latin typeface="Arial"/>
                <a:ea typeface="Arial"/>
                <a:cs typeface="Arial"/>
              </a:rPr>
              <a:t>61,7%</a:t>
            </a:r>
          </a:p>
        </p:txBody>
      </p:sp>
      <p:sp>
        <p:nvSpPr>
          <p:cNvPr id="20" name="">
            <a:extLst xmlns:a="http://schemas.openxmlformats.org/drawingml/2006/main">
              <a:ext uri="{FF2B5EF4-FFF2-40B4-BE49-F238E27FC236}">
                <a16:creationId xmlns:a16="http://schemas.microsoft.com/office/drawing/2014/main" id="{34C0565D-379F-4CCE-99AB-2C903B82293E}"/>
              </a:ext>
            </a:extLst>
          </p:cNvPr>
          <p:cNvSpPr>
            <a:spLocks xmlns:a="http://schemas.openxmlformats.org/drawingml/2006/main" noGrp="1"/>
          </p:cNvSpPr>
          <p:nvPr/>
        </p:nvSpPr>
        <p:spPr>
          <a:xfrm xmlns:a="http://schemas.openxmlformats.org/drawingml/2006/main">
            <a:off x="3048000" y="2943225"/>
            <a:ext cx="603768" cy="161925"/>
          </a:xfrm>
          <a:prstGeom xmlns:a="http://schemas.openxmlformats.org/drawingml/2006/main" prst="rect">
            <a:avLst/>
          </a:prstGeom>
          <a:solidFill xmlns:a="http://schemas.openxmlformats.org/drawingml/2006/main">
            <a:srgbClr val="91A0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3ADBBF4-03FB-4979-8707-7231FE782CB4}"/>
              </a:ext>
            </a:extLst>
          </p:cNvPr>
          <p:cNvSpPr>
            <a:spLocks xmlns:a="http://schemas.openxmlformats.org/drawingml/2006/main" noGrp="1"/>
          </p:cNvSpPr>
          <p:nvPr/>
        </p:nvSpPr>
        <p:spPr>
          <a:xfrm xmlns:a="http://schemas.openxmlformats.org/drawingml/2006/main">
            <a:off x="3048000" y="3124200"/>
            <a:ext cx="1200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078"/>
                </a:solidFill>
                <a:latin typeface="Arial"/>
                <a:ea typeface="Arial"/>
                <a:cs typeface="Arial"/>
              </a:defRPr>
            </a:pPr>
            <a:r>
              <a:rPr sz="1200" b="0">
                <a:solidFill>
                  <a:srgbClr val="566078"/>
                </a:solidFill>
                <a:latin typeface="Arial"/>
                <a:ea typeface="Arial"/>
                <a:cs typeface="Arial"/>
              </a:rPr>
              <a:t>32,7%</a:t>
            </a:r>
          </a:p>
        </p:txBody>
      </p:sp>
      <p:sp>
        <p:nvSpPr>
          <p:cNvPr id="22" name="">
            <a:extLst xmlns:a="http://schemas.openxmlformats.org/drawingml/2006/main">
              <a:ext uri="{FF2B5EF4-FFF2-40B4-BE49-F238E27FC236}">
                <a16:creationId xmlns:a16="http://schemas.microsoft.com/office/drawing/2014/main" id="{8A0ED9E8-A4D4-4E24-B461-73951B6358A8}"/>
              </a:ext>
            </a:extLst>
          </p:cNvPr>
          <p:cNvSpPr>
            <a:spLocks xmlns:a="http://schemas.openxmlformats.org/drawingml/2006/main" noGrp="1"/>
          </p:cNvSpPr>
          <p:nvPr/>
        </p:nvSpPr>
        <p:spPr>
          <a:xfrm xmlns:a="http://schemas.openxmlformats.org/drawingml/2006/main">
            <a:off x="381000" y="3390900"/>
            <a:ext cx="1200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4192F"/>
                </a:solidFill>
                <a:latin typeface="Arial"/>
                <a:ea typeface="Arial"/>
                <a:cs typeface="Arial"/>
              </a:defRPr>
            </a:pPr>
            <a:r>
              <a:rPr sz="1425" b="0">
                <a:solidFill>
                  <a:srgbClr val="14192F"/>
                </a:solidFill>
                <a:latin typeface="Arial"/>
                <a:ea typeface="Arial"/>
                <a:cs typeface="Arial"/>
              </a:rPr>
              <a:t>Junior</a:t>
            </a:r>
          </a:p>
        </p:txBody>
      </p:sp>
      <p:sp>
        <p:nvSpPr>
          <p:cNvPr id="23" name="">
            <a:extLst xmlns:a="http://schemas.openxmlformats.org/drawingml/2006/main">
              <a:ext uri="{FF2B5EF4-FFF2-40B4-BE49-F238E27FC236}">
                <a16:creationId xmlns:a16="http://schemas.microsoft.com/office/drawing/2014/main" id="{5F7CB7F3-2F47-4BE8-AF98-F9479A1025B5}"/>
              </a:ext>
            </a:extLst>
          </p:cNvPr>
          <p:cNvSpPr>
            <a:spLocks xmlns:a="http://schemas.openxmlformats.org/drawingml/2006/main" noGrp="1"/>
          </p:cNvSpPr>
          <p:nvPr/>
        </p:nvSpPr>
        <p:spPr>
          <a:xfrm xmlns:a="http://schemas.openxmlformats.org/drawingml/2006/main">
            <a:off x="1619250" y="3438525"/>
            <a:ext cx="234491" cy="16192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6255F5D-31B0-42A1-AC08-98FA7741CF2E}"/>
              </a:ext>
            </a:extLst>
          </p:cNvPr>
          <p:cNvSpPr>
            <a:spLocks xmlns:a="http://schemas.openxmlformats.org/drawingml/2006/main" noGrp="1"/>
          </p:cNvSpPr>
          <p:nvPr/>
        </p:nvSpPr>
        <p:spPr>
          <a:xfrm xmlns:a="http://schemas.openxmlformats.org/drawingml/2006/main">
            <a:off x="1619250" y="3619500"/>
            <a:ext cx="1200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635FF"/>
                </a:solidFill>
                <a:latin typeface="Arial"/>
                <a:ea typeface="Arial"/>
                <a:cs typeface="Arial"/>
              </a:defRPr>
            </a:pPr>
            <a:r>
              <a:rPr sz="1200" b="0">
                <a:solidFill>
                  <a:srgbClr val="1635FF"/>
                </a:solidFill>
                <a:latin typeface="Arial"/>
                <a:ea typeface="Arial"/>
                <a:cs typeface="Arial"/>
              </a:rPr>
              <a:t>12,7%</a:t>
            </a:r>
          </a:p>
        </p:txBody>
      </p:sp>
      <p:sp>
        <p:nvSpPr>
          <p:cNvPr id="25" name="">
            <a:extLst xmlns:a="http://schemas.openxmlformats.org/drawingml/2006/main">
              <a:ext uri="{FF2B5EF4-FFF2-40B4-BE49-F238E27FC236}">
                <a16:creationId xmlns:a16="http://schemas.microsoft.com/office/drawing/2014/main" id="{83FB58FB-7C64-41FF-BE0C-7F81D787DC21}"/>
              </a:ext>
            </a:extLst>
          </p:cNvPr>
          <p:cNvSpPr>
            <a:spLocks xmlns:a="http://schemas.openxmlformats.org/drawingml/2006/main" noGrp="1"/>
          </p:cNvSpPr>
          <p:nvPr/>
        </p:nvSpPr>
        <p:spPr>
          <a:xfrm xmlns:a="http://schemas.openxmlformats.org/drawingml/2006/main">
            <a:off x="3048000" y="3438525"/>
            <a:ext cx="985969" cy="161925"/>
          </a:xfrm>
          <a:prstGeom xmlns:a="http://schemas.openxmlformats.org/drawingml/2006/main" prst="rect">
            <a:avLst/>
          </a:prstGeom>
          <a:solidFill xmlns:a="http://schemas.openxmlformats.org/drawingml/2006/main">
            <a:srgbClr val="91A0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8AA780B-B77A-4C5B-8F0F-18FE4E256DAC}"/>
              </a:ext>
            </a:extLst>
          </p:cNvPr>
          <p:cNvSpPr>
            <a:spLocks xmlns:a="http://schemas.openxmlformats.org/drawingml/2006/main" noGrp="1"/>
          </p:cNvSpPr>
          <p:nvPr/>
        </p:nvSpPr>
        <p:spPr>
          <a:xfrm xmlns:a="http://schemas.openxmlformats.org/drawingml/2006/main">
            <a:off x="3048000" y="3619500"/>
            <a:ext cx="1200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078"/>
                </a:solidFill>
                <a:latin typeface="Arial"/>
                <a:ea typeface="Arial"/>
                <a:cs typeface="Arial"/>
              </a:defRPr>
            </a:pPr>
            <a:r>
              <a:rPr sz="1200" b="0">
                <a:solidFill>
                  <a:srgbClr val="566078"/>
                </a:solidFill>
                <a:latin typeface="Arial"/>
                <a:ea typeface="Arial"/>
                <a:cs typeface="Arial"/>
              </a:rPr>
              <a:t>53,4%</a:t>
            </a:r>
          </a:p>
        </p:txBody>
      </p:sp>
      <p:sp>
        <p:nvSpPr>
          <p:cNvPr id="27" name="">
            <a:extLst xmlns:a="http://schemas.openxmlformats.org/drawingml/2006/main">
              <a:ext uri="{FF2B5EF4-FFF2-40B4-BE49-F238E27FC236}">
                <a16:creationId xmlns:a16="http://schemas.microsoft.com/office/drawing/2014/main" id="{A73F8A68-430D-4C08-8F3F-67D570286BF6}"/>
              </a:ext>
            </a:extLst>
          </p:cNvPr>
          <p:cNvSpPr>
            <a:spLocks xmlns:a="http://schemas.openxmlformats.org/drawingml/2006/main" noGrp="1"/>
          </p:cNvSpPr>
          <p:nvPr/>
        </p:nvSpPr>
        <p:spPr>
          <a:xfrm xmlns:a="http://schemas.openxmlformats.org/drawingml/2006/main">
            <a:off x="381000" y="3886200"/>
            <a:ext cx="1200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4192F"/>
                </a:solidFill>
                <a:latin typeface="Arial"/>
                <a:ea typeface="Arial"/>
                <a:cs typeface="Arial"/>
              </a:defRPr>
            </a:pPr>
            <a:r>
              <a:rPr sz="1425" b="0">
                <a:solidFill>
                  <a:srgbClr val="14192F"/>
                </a:solidFill>
                <a:latin typeface="Arial"/>
                <a:ea typeface="Arial"/>
                <a:cs typeface="Arial"/>
              </a:rPr>
              <a:t>Mid / Senior</a:t>
            </a:r>
          </a:p>
        </p:txBody>
      </p:sp>
      <p:sp>
        <p:nvSpPr>
          <p:cNvPr id="28" name="">
            <a:extLst xmlns:a="http://schemas.openxmlformats.org/drawingml/2006/main">
              <a:ext uri="{FF2B5EF4-FFF2-40B4-BE49-F238E27FC236}">
                <a16:creationId xmlns:a16="http://schemas.microsoft.com/office/drawing/2014/main" id="{BB281942-D167-4B4F-92E7-906C08E7D1A0}"/>
              </a:ext>
            </a:extLst>
          </p:cNvPr>
          <p:cNvSpPr>
            <a:spLocks xmlns:a="http://schemas.openxmlformats.org/drawingml/2006/main" noGrp="1"/>
          </p:cNvSpPr>
          <p:nvPr/>
        </p:nvSpPr>
        <p:spPr>
          <a:xfrm xmlns:a="http://schemas.openxmlformats.org/drawingml/2006/main">
            <a:off x="1619250" y="3933825"/>
            <a:ext cx="258494" cy="16192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50EB361-6DC5-4507-845C-2F30613FE61D}"/>
              </a:ext>
            </a:extLst>
          </p:cNvPr>
          <p:cNvSpPr>
            <a:spLocks xmlns:a="http://schemas.openxmlformats.org/drawingml/2006/main" noGrp="1"/>
          </p:cNvSpPr>
          <p:nvPr/>
        </p:nvSpPr>
        <p:spPr>
          <a:xfrm xmlns:a="http://schemas.openxmlformats.org/drawingml/2006/main">
            <a:off x="1619250" y="4114800"/>
            <a:ext cx="1200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635FF"/>
                </a:solidFill>
                <a:latin typeface="Arial"/>
                <a:ea typeface="Arial"/>
                <a:cs typeface="Arial"/>
              </a:defRPr>
            </a:pPr>
            <a:r>
              <a:rPr sz="1200" b="0">
                <a:solidFill>
                  <a:srgbClr val="1635FF"/>
                </a:solidFill>
                <a:latin typeface="Arial"/>
                <a:ea typeface="Arial"/>
                <a:cs typeface="Arial"/>
              </a:rPr>
              <a:t>14%</a:t>
            </a:r>
          </a:p>
        </p:txBody>
      </p:sp>
      <p:sp>
        <p:nvSpPr>
          <p:cNvPr id="30" name="">
            <a:extLst xmlns:a="http://schemas.openxmlformats.org/drawingml/2006/main">
              <a:ext uri="{FF2B5EF4-FFF2-40B4-BE49-F238E27FC236}">
                <a16:creationId xmlns:a16="http://schemas.microsoft.com/office/drawing/2014/main" id="{E8A5C6B7-47D1-4221-8FDD-416A151C0F4C}"/>
              </a:ext>
            </a:extLst>
          </p:cNvPr>
          <p:cNvSpPr>
            <a:spLocks xmlns:a="http://schemas.openxmlformats.org/drawingml/2006/main" noGrp="1"/>
          </p:cNvSpPr>
          <p:nvPr/>
        </p:nvSpPr>
        <p:spPr>
          <a:xfrm xmlns:a="http://schemas.openxmlformats.org/drawingml/2006/main">
            <a:off x="3048000" y="3933825"/>
            <a:ext cx="0" cy="161925"/>
          </a:xfrm>
          <a:prstGeom xmlns:a="http://schemas.openxmlformats.org/drawingml/2006/main" prst="rect">
            <a:avLst/>
          </a:prstGeom>
          <a:solidFill xmlns:a="http://schemas.openxmlformats.org/drawingml/2006/main">
            <a:srgbClr val="91A0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82BC29D-773A-40D2-9063-2D1911A839F3}"/>
              </a:ext>
            </a:extLst>
          </p:cNvPr>
          <p:cNvSpPr>
            <a:spLocks xmlns:a="http://schemas.openxmlformats.org/drawingml/2006/main" noGrp="1"/>
          </p:cNvSpPr>
          <p:nvPr/>
        </p:nvSpPr>
        <p:spPr>
          <a:xfrm xmlns:a="http://schemas.openxmlformats.org/drawingml/2006/main">
            <a:off x="3048000" y="4114800"/>
            <a:ext cx="1200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078"/>
                </a:solidFill>
                <a:latin typeface="Arial"/>
                <a:ea typeface="Arial"/>
                <a:cs typeface="Arial"/>
              </a:defRPr>
            </a:pPr>
            <a:r>
              <a:rPr sz="1200" b="0">
                <a:solidFill>
                  <a:srgbClr val="566078"/>
                </a:solidFill>
                <a:latin typeface="Arial"/>
                <a:ea typeface="Arial"/>
                <a:cs typeface="Arial"/>
              </a:rPr>
              <a:t>0%</a:t>
            </a:r>
          </a:p>
        </p:txBody>
      </p:sp>
      <p:sp>
        <p:nvSpPr>
          <p:cNvPr id="32" name="">
            <a:extLst xmlns:a="http://schemas.openxmlformats.org/drawingml/2006/main">
              <a:ext uri="{FF2B5EF4-FFF2-40B4-BE49-F238E27FC236}">
                <a16:creationId xmlns:a16="http://schemas.microsoft.com/office/drawing/2014/main" id="{DE12E4CC-49AF-432F-A4CC-29DC10C3364B}"/>
              </a:ext>
            </a:extLst>
          </p:cNvPr>
          <p:cNvSpPr>
            <a:spLocks xmlns:a="http://schemas.openxmlformats.org/drawingml/2006/main" noGrp="1"/>
          </p:cNvSpPr>
          <p:nvPr/>
        </p:nvSpPr>
        <p:spPr>
          <a:xfrm xmlns:a="http://schemas.openxmlformats.org/drawingml/2006/main">
            <a:off x="381000" y="452437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078"/>
                </a:solidFill>
                <a:latin typeface="Arial"/>
                <a:ea typeface="Arial"/>
                <a:cs typeface="Arial"/>
              </a:defRPr>
            </a:pPr>
            <a:r>
              <a:rPr sz="1350" b="0">
                <a:solidFill>
                  <a:srgbClr val="566078"/>
                </a:solidFill>
                <a:latin typeface="Arial"/>
                <a:ea typeface="Arial"/>
                <a:cs typeface="Arial"/>
              </a:rPr>
              <a:t>JD có 6,8% nhãn cấp độ kết hợp.</a:t>
            </a:r>
          </a:p>
        </p:txBody>
      </p:sp>
      <p:sp>
        <p:nvSpPr>
          <p:cNvPr id="33" name="">
            <a:extLst xmlns:a="http://schemas.openxmlformats.org/drawingml/2006/main">
              <a:ext uri="{FF2B5EF4-FFF2-40B4-BE49-F238E27FC236}">
                <a16:creationId xmlns:a16="http://schemas.microsoft.com/office/drawing/2014/main" id="{09EF6DF5-FA4A-4C6E-997F-CA45795BAFB9}"/>
              </a:ext>
            </a:extLst>
          </p:cNvPr>
          <p:cNvSpPr>
            <a:spLocks xmlns:a="http://schemas.openxmlformats.org/drawingml/2006/main" noGrp="1"/>
          </p:cNvSpPr>
          <p:nvPr/>
        </p:nvSpPr>
        <p:spPr>
          <a:xfrm xmlns:a="http://schemas.openxmlformats.org/drawingml/2006/main">
            <a:off x="381000" y="5019675"/>
            <a:ext cx="514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192F"/>
                </a:solidFill>
                <a:latin typeface="Arial"/>
                <a:ea typeface="Arial"/>
                <a:cs typeface="Arial"/>
              </a:defRPr>
            </a:pPr>
            <a:r>
              <a:rPr sz="1800" b="1">
                <a:solidFill>
                  <a:srgbClr val="14192F"/>
                </a:solidFill>
                <a:latin typeface="Arial"/>
                <a:ea typeface="Arial"/>
                <a:cs typeface="Arial"/>
              </a:rPr>
              <a:t>Lọc vị trí trước, ưu tiên cấp độ.</a:t>
            </a:r>
          </a:p>
          <a:p xmlns:a="http://schemas.openxmlformats.org/drawingml/2006/main">
            <a:pPr>
              <a:defRPr sz="1800" b="1">
                <a:solidFill>
                  <a:srgbClr val="14192F"/>
                </a:solidFill>
                <a:latin typeface="Arial"/>
                <a:ea typeface="Arial"/>
                <a:cs typeface="Arial"/>
              </a:defRPr>
            </a:pPr>
            <a:r>
              <a:rPr sz="1800" b="1">
                <a:solidFill>
                  <a:srgbClr val="14192F"/>
                </a:solidFill>
                <a:latin typeface="Arial"/>
                <a:ea typeface="Arial"/>
                <a:cs typeface="Arial"/>
              </a:rPr>
              <a:t>42 CV Mid/Senior chưa có framework tương ứng.</a:t>
            </a:r>
          </a:p>
        </p:txBody>
      </p:sp>
      <p:sp>
        <p:nvSpPr>
          <p:cNvPr id="34" name="">
            <a:extLst xmlns:a="http://schemas.openxmlformats.org/drawingml/2006/main">
              <a:ext uri="{FF2B5EF4-FFF2-40B4-BE49-F238E27FC236}">
                <a16:creationId xmlns:a16="http://schemas.microsoft.com/office/drawing/2014/main" id="{F35A3EF0-694B-4D19-B7DB-D52B786F6634}"/>
              </a:ext>
            </a:extLst>
          </p:cNvPr>
          <p:cNvSpPr>
            <a:spLocks xmlns:a="http://schemas.openxmlformats.org/drawingml/2006/main" noGrp="1"/>
          </p:cNvSpPr>
          <p:nvPr/>
        </p:nvSpPr>
        <p:spPr>
          <a:xfrm xmlns:a="http://schemas.openxmlformats.org/drawingml/2006/main">
            <a:off x="5686425" y="1504950"/>
            <a:ext cx="19050" cy="4524375"/>
          </a:xfrm>
          <a:prstGeom xmlns:a="http://schemas.openxmlformats.org/drawingml/2006/main" prst="rect">
            <a:avLst/>
          </a:prstGeom>
          <a:solidFill xmlns:a="http://schemas.openxmlformats.org/drawingml/2006/main">
            <a:srgbClr val="EDF0F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BD712BB-5FA0-47F5-B689-05BF8A3AADD6}"/>
              </a:ext>
            </a:extLst>
          </p:cNvPr>
          <p:cNvSpPr>
            <a:spLocks xmlns:a="http://schemas.openxmlformats.org/drawingml/2006/main" noGrp="1"/>
          </p:cNvSpPr>
          <p:nvPr/>
        </p:nvSpPr>
        <p:spPr>
          <a:xfrm xmlns:a="http://schemas.openxmlformats.org/drawingml/2006/main">
            <a:off x="6048375" y="14573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192F"/>
                </a:solidFill>
                <a:latin typeface="Arial"/>
                <a:ea typeface="Arial"/>
                <a:cs typeface="Arial"/>
              </a:defRPr>
            </a:pPr>
            <a:r>
              <a:rPr sz="2025" b="1">
                <a:solidFill>
                  <a:srgbClr val="14192F"/>
                </a:solidFill>
                <a:latin typeface="Arial"/>
                <a:ea typeface="Arial"/>
                <a:cs typeface="Arial"/>
              </a:rPr>
              <a:t>Tên kỹ năng: chỉ 29 tên trùng nhau</a:t>
            </a:r>
          </a:p>
        </p:txBody>
      </p:sp>
      <p:sp>
        <p:nvSpPr>
          <p:cNvPr id="36" name="">
            <a:extLst xmlns:a="http://schemas.openxmlformats.org/drawingml/2006/main">
              <a:ext uri="{FF2B5EF4-FFF2-40B4-BE49-F238E27FC236}">
                <a16:creationId xmlns:a16="http://schemas.microsoft.com/office/drawing/2014/main" id="{933C8847-63EB-4B83-BA59-BE0296A90082}"/>
              </a:ext>
            </a:extLst>
          </p:cNvPr>
          <p:cNvSpPr>
            <a:spLocks xmlns:a="http://schemas.openxmlformats.org/drawingml/2006/main" noGrp="1"/>
          </p:cNvSpPr>
          <p:nvPr/>
        </p:nvSpPr>
        <p:spPr>
          <a:xfrm xmlns:a="http://schemas.openxmlformats.org/drawingml/2006/main">
            <a:off x="6048375" y="2095500"/>
            <a:ext cx="3234906" cy="61912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9F7F6D6-88B1-406E-A067-0AE0C34F28A6}"/>
              </a:ext>
            </a:extLst>
          </p:cNvPr>
          <p:cNvSpPr>
            <a:spLocks xmlns:a="http://schemas.openxmlformats.org/drawingml/2006/main" noGrp="1"/>
          </p:cNvSpPr>
          <p:nvPr/>
        </p:nvSpPr>
        <p:spPr>
          <a:xfrm xmlns:a="http://schemas.openxmlformats.org/drawingml/2006/main">
            <a:off x="6143625" y="2228850"/>
            <a:ext cx="304440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90</a:t>
            </a:r>
          </a:p>
        </p:txBody>
      </p:sp>
      <p:sp>
        <p:nvSpPr>
          <p:cNvPr id="38" name="">
            <a:extLst xmlns:a="http://schemas.openxmlformats.org/drawingml/2006/main">
              <a:ext uri="{FF2B5EF4-FFF2-40B4-BE49-F238E27FC236}">
                <a16:creationId xmlns:a16="http://schemas.microsoft.com/office/drawing/2014/main" id="{AFBC27E6-DAA3-466F-9767-DB60AAA4C67C}"/>
              </a:ext>
            </a:extLst>
          </p:cNvPr>
          <p:cNvSpPr>
            <a:spLocks xmlns:a="http://schemas.openxmlformats.org/drawingml/2006/main" noGrp="1"/>
          </p:cNvSpPr>
          <p:nvPr/>
        </p:nvSpPr>
        <p:spPr>
          <a:xfrm xmlns:a="http://schemas.openxmlformats.org/drawingml/2006/main">
            <a:off x="6048375" y="2857500"/>
            <a:ext cx="323490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92F"/>
                </a:solidFill>
                <a:latin typeface="Arial"/>
                <a:ea typeface="Arial"/>
                <a:cs typeface="Arial"/>
              </a:defRPr>
            </a:pPr>
            <a:r>
              <a:rPr sz="1500" b="0">
                <a:solidFill>
                  <a:srgbClr val="14192F"/>
                </a:solidFill>
                <a:latin typeface="Arial"/>
                <a:ea typeface="Arial"/>
                <a:cs typeface="Arial"/>
              </a:rPr>
              <a:t>Chỉ CV</a:t>
            </a:r>
          </a:p>
        </p:txBody>
      </p:sp>
      <p:sp>
        <p:nvSpPr>
          <p:cNvPr id="39" name="">
            <a:extLst xmlns:a="http://schemas.openxmlformats.org/drawingml/2006/main">
              <a:ext uri="{FF2B5EF4-FFF2-40B4-BE49-F238E27FC236}">
                <a16:creationId xmlns:a16="http://schemas.microsoft.com/office/drawing/2014/main" id="{57A1CF5B-A3D9-422E-B823-EFA26C9F4883}"/>
              </a:ext>
            </a:extLst>
          </p:cNvPr>
          <p:cNvSpPr>
            <a:spLocks xmlns:a="http://schemas.openxmlformats.org/drawingml/2006/main" noGrp="1"/>
          </p:cNvSpPr>
          <p:nvPr/>
        </p:nvSpPr>
        <p:spPr>
          <a:xfrm xmlns:a="http://schemas.openxmlformats.org/drawingml/2006/main">
            <a:off x="9283281" y="2095500"/>
            <a:ext cx="1042358" cy="619125"/>
          </a:xfrm>
          <a:prstGeom xmlns:a="http://schemas.openxmlformats.org/drawingml/2006/main" prst="rect">
            <a:avLst/>
          </a:prstGeom>
          <a:solidFill xmlns:a="http://schemas.openxmlformats.org/drawingml/2006/main">
            <a:srgbClr val="91A0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A29B5386-8BFA-4D03-A363-125C5FAA6DCB}"/>
              </a:ext>
            </a:extLst>
          </p:cNvPr>
          <p:cNvSpPr>
            <a:spLocks xmlns:a="http://schemas.openxmlformats.org/drawingml/2006/main" noGrp="1"/>
          </p:cNvSpPr>
          <p:nvPr/>
        </p:nvSpPr>
        <p:spPr>
          <a:xfrm xmlns:a="http://schemas.openxmlformats.org/drawingml/2006/main">
            <a:off x="9378531" y="2228850"/>
            <a:ext cx="85185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192F"/>
                </a:solidFill>
                <a:latin typeface="Arial"/>
                <a:ea typeface="Arial"/>
                <a:cs typeface="Arial"/>
              </a:defRPr>
            </a:pPr>
            <a:r>
              <a:rPr sz="2025" b="1">
                <a:solidFill>
                  <a:srgbClr val="14192F"/>
                </a:solidFill>
                <a:latin typeface="Arial"/>
                <a:ea typeface="Arial"/>
                <a:cs typeface="Arial"/>
              </a:rPr>
              <a:t>29</a:t>
            </a:r>
          </a:p>
        </p:txBody>
      </p:sp>
      <p:sp>
        <p:nvSpPr>
          <p:cNvPr id="41" name="">
            <a:extLst xmlns:a="http://schemas.openxmlformats.org/drawingml/2006/main">
              <a:ext uri="{FF2B5EF4-FFF2-40B4-BE49-F238E27FC236}">
                <a16:creationId xmlns:a16="http://schemas.microsoft.com/office/drawing/2014/main" id="{FEAADFC7-8439-4AC3-85AA-A32087CEEAC9}"/>
              </a:ext>
            </a:extLst>
          </p:cNvPr>
          <p:cNvSpPr>
            <a:spLocks xmlns:a="http://schemas.openxmlformats.org/drawingml/2006/main" noGrp="1"/>
          </p:cNvSpPr>
          <p:nvPr/>
        </p:nvSpPr>
        <p:spPr>
          <a:xfrm xmlns:a="http://schemas.openxmlformats.org/drawingml/2006/main">
            <a:off x="9283281" y="2857500"/>
            <a:ext cx="104235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92F"/>
                </a:solidFill>
                <a:latin typeface="Arial"/>
                <a:ea typeface="Arial"/>
                <a:cs typeface="Arial"/>
              </a:defRPr>
            </a:pPr>
            <a:r>
              <a:rPr sz="1500" b="0">
                <a:solidFill>
                  <a:srgbClr val="14192F"/>
                </a:solidFill>
                <a:latin typeface="Arial"/>
                <a:ea typeface="Arial"/>
                <a:cs typeface="Arial"/>
              </a:rPr>
              <a:t>Chung</a:t>
            </a:r>
          </a:p>
        </p:txBody>
      </p:sp>
      <p:sp>
        <p:nvSpPr>
          <p:cNvPr id="42" name="">
            <a:extLst xmlns:a="http://schemas.openxmlformats.org/drawingml/2006/main">
              <a:ext uri="{FF2B5EF4-FFF2-40B4-BE49-F238E27FC236}">
                <a16:creationId xmlns:a16="http://schemas.microsoft.com/office/drawing/2014/main" id="{0E5FEDF4-DB90-48AB-B14F-CC7EF2402766}"/>
              </a:ext>
            </a:extLst>
          </p:cNvPr>
          <p:cNvSpPr>
            <a:spLocks xmlns:a="http://schemas.openxmlformats.org/drawingml/2006/main" noGrp="1"/>
          </p:cNvSpPr>
          <p:nvPr/>
        </p:nvSpPr>
        <p:spPr>
          <a:xfrm xmlns:a="http://schemas.openxmlformats.org/drawingml/2006/main">
            <a:off x="10325639" y="2095500"/>
            <a:ext cx="1437736" cy="619125"/>
          </a:xfrm>
          <a:prstGeom xmlns:a="http://schemas.openxmlformats.org/drawingml/2006/main" prst="rect">
            <a:avLst/>
          </a:prstGeom>
          <a:solidFill xmlns:a="http://schemas.openxmlformats.org/drawingml/2006/main">
            <a:srgbClr val="D8DE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E742988-E0B3-4B8E-B474-3EC101EF84DC}"/>
              </a:ext>
            </a:extLst>
          </p:cNvPr>
          <p:cNvSpPr>
            <a:spLocks xmlns:a="http://schemas.openxmlformats.org/drawingml/2006/main" noGrp="1"/>
          </p:cNvSpPr>
          <p:nvPr/>
        </p:nvSpPr>
        <p:spPr>
          <a:xfrm xmlns:a="http://schemas.openxmlformats.org/drawingml/2006/main">
            <a:off x="10420889" y="2228850"/>
            <a:ext cx="124723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192F"/>
                </a:solidFill>
                <a:latin typeface="Arial"/>
                <a:ea typeface="Arial"/>
                <a:cs typeface="Arial"/>
              </a:defRPr>
            </a:pPr>
            <a:r>
              <a:rPr sz="2025" b="1">
                <a:solidFill>
                  <a:srgbClr val="14192F"/>
                </a:solidFill>
                <a:latin typeface="Arial"/>
                <a:ea typeface="Arial"/>
                <a:cs typeface="Arial"/>
              </a:rPr>
              <a:t>40</a:t>
            </a:r>
          </a:p>
        </p:txBody>
      </p:sp>
      <p:sp>
        <p:nvSpPr>
          <p:cNvPr id="44" name="">
            <a:extLst xmlns:a="http://schemas.openxmlformats.org/drawingml/2006/main">
              <a:ext uri="{FF2B5EF4-FFF2-40B4-BE49-F238E27FC236}">
                <a16:creationId xmlns:a16="http://schemas.microsoft.com/office/drawing/2014/main" id="{BDAD080B-0C92-4B28-A334-DED152ABA724}"/>
              </a:ext>
            </a:extLst>
          </p:cNvPr>
          <p:cNvSpPr>
            <a:spLocks xmlns:a="http://schemas.openxmlformats.org/drawingml/2006/main" noGrp="1"/>
          </p:cNvSpPr>
          <p:nvPr/>
        </p:nvSpPr>
        <p:spPr>
          <a:xfrm xmlns:a="http://schemas.openxmlformats.org/drawingml/2006/main">
            <a:off x="10325639" y="2857500"/>
            <a:ext cx="143773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92F"/>
                </a:solidFill>
                <a:latin typeface="Arial"/>
                <a:ea typeface="Arial"/>
                <a:cs typeface="Arial"/>
              </a:defRPr>
            </a:pPr>
            <a:r>
              <a:rPr sz="1500" b="0">
                <a:solidFill>
                  <a:srgbClr val="14192F"/>
                </a:solidFill>
                <a:latin typeface="Arial"/>
                <a:ea typeface="Arial"/>
                <a:cs typeface="Arial"/>
              </a:rPr>
              <a:t>Chỉ JD</a:t>
            </a:r>
          </a:p>
        </p:txBody>
      </p:sp>
      <p:sp>
        <p:nvSpPr>
          <p:cNvPr id="45" name="">
            <a:extLst xmlns:a="http://schemas.openxmlformats.org/drawingml/2006/main">
              <a:ext uri="{FF2B5EF4-FFF2-40B4-BE49-F238E27FC236}">
                <a16:creationId xmlns:a16="http://schemas.microsoft.com/office/drawing/2014/main" id="{362E0C83-DABB-4F9A-AFBB-5AB5BF43BED0}"/>
              </a:ext>
            </a:extLst>
          </p:cNvPr>
          <p:cNvSpPr>
            <a:spLocks xmlns:a="http://schemas.openxmlformats.org/drawingml/2006/main" noGrp="1"/>
          </p:cNvSpPr>
          <p:nvPr/>
        </p:nvSpPr>
        <p:spPr>
          <a:xfrm xmlns:a="http://schemas.openxmlformats.org/drawingml/2006/main">
            <a:off x="6048375" y="3324225"/>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078"/>
                </a:solidFill>
                <a:latin typeface="Arial"/>
                <a:ea typeface="Arial"/>
                <a:cs typeface="Arial"/>
              </a:defRPr>
            </a:pPr>
            <a:r>
              <a:rPr sz="1725" b="0">
                <a:solidFill>
                  <a:srgbClr val="566078"/>
                </a:solidFill>
                <a:latin typeface="Arial"/>
                <a:ea typeface="Arial"/>
                <a:cs typeface="Arial"/>
              </a:rPr>
              <a:t>119 tên trong CV • 69 tên trong JD</a:t>
            </a:r>
          </a:p>
        </p:txBody>
      </p:sp>
      <p:sp>
        <p:nvSpPr>
          <p:cNvPr id="46" name="">
            <a:extLst xmlns:a="http://schemas.openxmlformats.org/drawingml/2006/main">
              <a:ext uri="{FF2B5EF4-FFF2-40B4-BE49-F238E27FC236}">
                <a16:creationId xmlns:a16="http://schemas.microsoft.com/office/drawing/2014/main" id="{3525189F-8749-4E43-B7E6-A4C4AECFC7E4}"/>
              </a:ext>
            </a:extLst>
          </p:cNvPr>
          <p:cNvSpPr>
            <a:spLocks xmlns:a="http://schemas.openxmlformats.org/drawingml/2006/main" noGrp="1"/>
          </p:cNvSpPr>
          <p:nvPr/>
        </p:nvSpPr>
        <p:spPr>
          <a:xfrm xmlns:a="http://schemas.openxmlformats.org/drawingml/2006/main">
            <a:off x="6048375" y="381952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92F"/>
                </a:solidFill>
                <a:latin typeface="Arial"/>
                <a:ea typeface="Arial"/>
                <a:cs typeface="Arial"/>
              </a:defRPr>
            </a:pPr>
            <a:r>
              <a:rPr sz="2100" b="1">
                <a:solidFill>
                  <a:srgbClr val="14192F"/>
                </a:solidFill>
                <a:latin typeface="Arial"/>
                <a:ea typeface="Arial"/>
                <a:cs typeface="Arial"/>
              </a:rPr>
              <a:t>React ↔ ReactJS</a:t>
            </a:r>
          </a:p>
          <a:p xmlns:a="http://schemas.openxmlformats.org/drawingml/2006/main">
            <a:pPr>
              <a:defRPr sz="2100" b="1">
                <a:solidFill>
                  <a:srgbClr val="14192F"/>
                </a:solidFill>
                <a:latin typeface="Arial"/>
                <a:ea typeface="Arial"/>
                <a:cs typeface="Arial"/>
              </a:defRPr>
            </a:pPr>
            <a:r>
              <a:rPr sz="2100" b="1">
                <a:solidFill>
                  <a:srgbClr val="14192F"/>
                </a:solidFill>
                <a:latin typeface="Arial"/>
                <a:ea typeface="Arial"/>
                <a:cs typeface="Arial"/>
              </a:rPr>
              <a:t>Git ↔ Git/GitFlow</a:t>
            </a:r>
          </a:p>
        </p:txBody>
      </p:sp>
      <p:sp>
        <p:nvSpPr>
          <p:cNvPr id="47" name="">
            <a:extLst xmlns:a="http://schemas.openxmlformats.org/drawingml/2006/main">
              <a:ext uri="{FF2B5EF4-FFF2-40B4-BE49-F238E27FC236}">
                <a16:creationId xmlns:a16="http://schemas.microsoft.com/office/drawing/2014/main" id="{65B72492-8A84-44D5-8CFC-BC68A14EEEFD}"/>
              </a:ext>
            </a:extLst>
          </p:cNvPr>
          <p:cNvSpPr>
            <a:spLocks xmlns:a="http://schemas.openxmlformats.org/drawingml/2006/main" noGrp="1"/>
          </p:cNvSpPr>
          <p:nvPr/>
        </p:nvSpPr>
        <p:spPr>
          <a:xfrm xmlns:a="http://schemas.openxmlformats.org/drawingml/2006/main">
            <a:off x="6048375"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35FF"/>
                </a:solidFill>
                <a:latin typeface="Arial"/>
                <a:ea typeface="Arial"/>
                <a:cs typeface="Arial"/>
              </a:defRPr>
            </a:pPr>
            <a:r>
              <a:rPr sz="1875" b="1">
                <a:solidFill>
                  <a:srgbClr val="1635FF"/>
                </a:solidFill>
                <a:latin typeface="Arial"/>
                <a:ea typeface="Arial"/>
                <a:cs typeface="Arial"/>
              </a:rPr>
              <a:t>Chuẩn hóa tên trước khi so kỹ năng CV–JD.</a:t>
            </a:r>
          </a:p>
        </p:txBody>
      </p:sp>
      <p:sp>
        <p:nvSpPr>
          <p:cNvPr id="48" name="">
            <a:extLst xmlns:a="http://schemas.openxmlformats.org/drawingml/2006/main">
              <a:ext uri="{FF2B5EF4-FFF2-40B4-BE49-F238E27FC236}">
                <a16:creationId xmlns:a16="http://schemas.microsoft.com/office/drawing/2014/main" id="{B1997317-26E0-43F8-8ACA-D541CEDFC9E3}"/>
              </a:ext>
            </a:extLst>
          </p:cNvPr>
          <p:cNvSpPr>
            <a:spLocks xmlns:a="http://schemas.openxmlformats.org/drawingml/2006/main" noGrp="1"/>
          </p:cNvSpPr>
          <p:nvPr/>
        </p:nvSpPr>
        <p:spPr>
          <a:xfrm xmlns:a="http://schemas.openxmlformats.org/drawingml/2006/main">
            <a:off x="381000" y="5876925"/>
            <a:ext cx="11430000" cy="361950"/>
          </a:xfrm>
          <a:prstGeom xmlns:a="http://schemas.openxmlformats.org/drawingml/2006/main" prst="rect">
            <a:avLst/>
          </a:prstGeom>
          <a:solidFill xmlns:a="http://schemas.openxmlformats.org/drawingml/2006/main">
            <a:srgbClr val="EDF0FF"/>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4B25860-D2EA-42BD-AF3F-8A58223FB2CD}"/>
              </a:ext>
            </a:extLst>
          </p:cNvPr>
          <p:cNvSpPr>
            <a:spLocks xmlns:a="http://schemas.openxmlformats.org/drawingml/2006/main" noGrp="1"/>
          </p:cNvSpPr>
          <p:nvPr/>
        </p:nvSpPr>
        <p:spPr>
          <a:xfrm xmlns:a="http://schemas.openxmlformats.org/drawingml/2006/main">
            <a:off x="495300" y="5934075"/>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4192F"/>
                </a:solidFill>
                <a:latin typeface="Arial"/>
                <a:ea typeface="Arial"/>
                <a:cs typeface="Arial"/>
              </a:defRPr>
            </a:pPr>
            <a:r>
              <a:rPr sz="1650" b="0">
                <a:solidFill>
                  <a:srgbClr val="14192F"/>
                </a:solidFill>
                <a:latin typeface="Arial"/>
                <a:ea typeface="Arial"/>
                <a:cs typeface="Arial"/>
              </a:rPr>
              <a:t>SQLite + JSON • Khóa câu hỏi: (position_id, question_id) • Chỉ mục BM25 + TF-IDF/SVD</a:t>
            </a:r>
          </a:p>
        </p:txBody>
      </p:sp>
      <p:sp>
        <p:nvSpPr>
          <p:cNvPr id="50" name="">
            <a:extLst xmlns:a="http://schemas.openxmlformats.org/drawingml/2006/main">
              <a:ext uri="{FF2B5EF4-FFF2-40B4-BE49-F238E27FC236}">
                <a16:creationId xmlns:a16="http://schemas.microsoft.com/office/drawing/2014/main" id="{86476977-7268-478C-AFB9-53A56AE4A1DC}"/>
              </a:ext>
            </a:extLst>
          </p:cNvPr>
          <p:cNvSpPr>
            <a:spLocks xmlns:a="http://schemas.openxmlformats.org/drawingml/2006/main" noGrp="1"/>
          </p:cNvSpPr>
          <p:nvPr/>
        </p:nvSpPr>
        <p:spPr>
          <a:xfrm xmlns:a="http://schemas.openxmlformats.org/drawingml/2006/main">
            <a:off x="381000" y="64389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6078"/>
                </a:solidFill>
                <a:latin typeface="Arial"/>
                <a:ea typeface="Arial"/>
                <a:cs typeface="Arial"/>
              </a:defRPr>
            </a:pPr>
            <a:r>
              <a:rPr sz="1050" b="0">
                <a:solidFill>
                  <a:srgbClr val="566078"/>
                </a:solidFill>
                <a:latin typeface="Arial"/>
                <a:ea typeface="Arial"/>
                <a:cs typeface="Arial"/>
              </a:rPr>
              <a:t>Nguồn: data/*.json. Kỹ năng so theo tên viết thường; thanh phân bố dùng cùng thang 0–65%.</a:t>
            </a:r>
          </a:p>
        </p:txBody>
      </p:sp>
    </p:spTree>
    <p:extLst>
      <p:ext uri="{BB962C8B-B14F-4D97-AF65-F5344CB8AC3E}">
        <p14:creationId xmlns:p14="http://schemas.microsoft.com/office/powerpoint/2010/main" val="13549384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9A974CE-70E4-4E3B-A143-976D4D6D4757}"/>
              </a:ext>
            </a:extLst>
          </p:cNvPr>
          <p:cNvSpPr>
            <a:spLocks xmlns:a="http://schemas.openxmlformats.org/drawingml/2006/main" noGrp="1"/>
          </p:cNvSpPr>
          <p:nvPr/>
        </p:nvSpPr>
        <p:spPr>
          <a:xfrm xmlns:a="http://schemas.openxmlformats.org/drawingml/2006/main">
            <a:off x="4953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Tổng quan</a:t>
            </a:r>
          </a:p>
        </p:txBody>
      </p:sp>
      <p:sp>
        <p:nvSpPr>
          <p:cNvPr id="2" name="">
            <a:extLst xmlns:a="http://schemas.openxmlformats.org/drawingml/2006/main">
              <a:ext uri="{FF2B5EF4-FFF2-40B4-BE49-F238E27FC236}">
                <a16:creationId xmlns:a16="http://schemas.microsoft.com/office/drawing/2014/main" id="{0D9E546B-14F1-4F08-9F60-8338F514E18D}"/>
              </a:ext>
            </a:extLst>
          </p:cNvPr>
          <p:cNvSpPr>
            <a:spLocks xmlns:a="http://schemas.openxmlformats.org/drawingml/2006/main" noGrp="1"/>
          </p:cNvSpPr>
          <p:nvPr/>
        </p:nvSpPr>
        <p:spPr>
          <a:xfrm xmlns:a="http://schemas.openxmlformats.org/drawingml/2006/main">
            <a:off x="19431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Thu thập</a:t>
            </a:r>
          </a:p>
        </p:txBody>
      </p:sp>
      <p:sp>
        <p:nvSpPr>
          <p:cNvPr id="3" name="">
            <a:extLst xmlns:a="http://schemas.openxmlformats.org/drawingml/2006/main">
              <a:ext uri="{FF2B5EF4-FFF2-40B4-BE49-F238E27FC236}">
                <a16:creationId xmlns:a16="http://schemas.microsoft.com/office/drawing/2014/main" id="{0AC447D8-93D7-4D80-B12A-A5944EA1A010}"/>
              </a:ext>
            </a:extLst>
          </p:cNvPr>
          <p:cNvSpPr>
            <a:spLocks xmlns:a="http://schemas.openxmlformats.org/drawingml/2006/main" noGrp="1"/>
          </p:cNvSpPr>
          <p:nvPr/>
        </p:nvSpPr>
        <p:spPr>
          <a:xfrm xmlns:a="http://schemas.openxmlformats.org/drawingml/2006/main">
            <a:off x="33909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EDA</a:t>
            </a:r>
          </a:p>
        </p:txBody>
      </p:sp>
      <p:sp>
        <p:nvSpPr>
          <p:cNvPr id="4" name="">
            <a:extLst xmlns:a="http://schemas.openxmlformats.org/drawingml/2006/main">
              <a:ext uri="{FF2B5EF4-FFF2-40B4-BE49-F238E27FC236}">
                <a16:creationId xmlns:a16="http://schemas.microsoft.com/office/drawing/2014/main" id="{4D34DA6A-5199-4963-8465-8A90E6D8A6EE}"/>
              </a:ext>
            </a:extLst>
          </p:cNvPr>
          <p:cNvSpPr>
            <a:spLocks xmlns:a="http://schemas.openxmlformats.org/drawingml/2006/main" noGrp="1"/>
          </p:cNvSpPr>
          <p:nvPr/>
        </p:nvSpPr>
        <p:spPr>
          <a:xfrm xmlns:a="http://schemas.openxmlformats.org/drawingml/2006/main">
            <a:off x="4724400" y="190500"/>
            <a:ext cx="1333500" cy="323850"/>
          </a:xfrm>
          <a:prstGeom xmlns:a="http://schemas.openxmlformats.org/drawingml/2006/main" prst="roundRect">
            <a:avLst>
              <a:gd name="adj" fmla="val 23529"/>
            </a:avLst>
          </a:prstGeom>
          <a:solidFill xmlns:a="http://schemas.openxmlformats.org/drawingml/2006/main">
            <a:srgbClr val="1635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15D504-9A67-44C1-9237-E910449A3664}"/>
              </a:ext>
            </a:extLst>
          </p:cNvPr>
          <p:cNvSpPr>
            <a:spLocks xmlns:a="http://schemas.openxmlformats.org/drawingml/2006/main" noGrp="1"/>
          </p:cNvSpPr>
          <p:nvPr/>
        </p:nvSpPr>
        <p:spPr>
          <a:xfrm xmlns:a="http://schemas.openxmlformats.org/drawingml/2006/main">
            <a:off x="48387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Đánh giá</a:t>
            </a:r>
          </a:p>
        </p:txBody>
      </p:sp>
      <p:sp>
        <p:nvSpPr>
          <p:cNvPr id="6" name="">
            <a:extLst xmlns:a="http://schemas.openxmlformats.org/drawingml/2006/main">
              <a:ext uri="{FF2B5EF4-FFF2-40B4-BE49-F238E27FC236}">
                <a16:creationId xmlns:a16="http://schemas.microsoft.com/office/drawing/2014/main" id="{52894CBA-9A86-486E-AB63-97972DFBF93D}"/>
              </a:ext>
            </a:extLst>
          </p:cNvPr>
          <p:cNvSpPr>
            <a:spLocks xmlns:a="http://schemas.openxmlformats.org/drawingml/2006/main" noGrp="1"/>
          </p:cNvSpPr>
          <p:nvPr/>
        </p:nvSpPr>
        <p:spPr>
          <a:xfrm xmlns:a="http://schemas.openxmlformats.org/drawingml/2006/main">
            <a:off x="0" y="647700"/>
            <a:ext cx="12192000" cy="59055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FD128D-189E-4B34-A9AB-3A724A7E4E21}"/>
              </a:ext>
            </a:extLst>
          </p:cNvPr>
          <p:cNvSpPr>
            <a:spLocks xmlns:a="http://schemas.openxmlformats.org/drawingml/2006/main" noGrp="1"/>
          </p:cNvSpPr>
          <p:nvPr/>
        </p:nvSpPr>
        <p:spPr>
          <a:xfrm xmlns:a="http://schemas.openxmlformats.org/drawingml/2006/main">
            <a:off x="381000" y="74295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Skill-gap đạt độ phủ 55% trên mẫu benchmark</a:t>
            </a:r>
          </a:p>
        </p:txBody>
      </p:sp>
      <p:sp>
        <p:nvSpPr>
          <p:cNvPr id="8" name="">
            <a:extLst xmlns:a="http://schemas.openxmlformats.org/drawingml/2006/main">
              <a:ext uri="{FF2B5EF4-FFF2-40B4-BE49-F238E27FC236}">
                <a16:creationId xmlns:a16="http://schemas.microsoft.com/office/drawing/2014/main" id="{0518B71C-536C-4558-A64D-9CB7ADB1F971}"/>
              </a:ext>
            </a:extLst>
          </p:cNvPr>
          <p:cNvSpPr>
            <a:spLocks xmlns:a="http://schemas.openxmlformats.org/drawingml/2006/main" noGrp="1"/>
          </p:cNvSpPr>
          <p:nvPr/>
        </p:nvSpPr>
        <p:spPr>
          <a:xfrm xmlns:a="http://schemas.openxmlformats.org/drawingml/2006/main">
            <a:off x="11268075" y="64293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5FF"/>
                </a:solidFill>
                <a:latin typeface="Arial"/>
                <a:ea typeface="Arial"/>
                <a:cs typeface="Arial"/>
              </a:defRPr>
            </a:pPr>
            <a:r>
              <a:rPr sz="1275" b="1">
                <a:solidFill>
                  <a:srgbClr val="1635FF"/>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C3AB7FC0-E87B-4B11-B084-21F918FC3F2A}"/>
              </a:ext>
            </a:extLst>
          </p:cNvPr>
          <p:cNvSpPr>
            <a:spLocks xmlns:a="http://schemas.openxmlformats.org/drawingml/2006/main" noGrp="1"/>
          </p:cNvSpPr>
          <p:nvPr/>
        </p:nvSpPr>
        <p:spPr>
          <a:xfrm xmlns:a="http://schemas.openxmlformats.org/drawingml/2006/main">
            <a:off x="381000" y="148590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192F"/>
                </a:solidFill>
                <a:latin typeface="Arial"/>
                <a:ea typeface="Arial"/>
                <a:cs typeface="Arial"/>
              </a:defRPr>
            </a:pPr>
            <a:r>
              <a:rPr sz="1950" b="0">
                <a:solidFill>
                  <a:srgbClr val="14192F"/>
                </a:solidFill>
                <a:latin typeface="Arial"/>
                <a:ea typeface="Arial"/>
                <a:cs typeface="Arial"/>
              </a:rPr>
              <a:t>8 CV React/Fresher × 4 chiến lược = 32 lượt • 3 JD khác nhau</a:t>
            </a:r>
          </a:p>
        </p:txBody>
      </p:sp>
      <p:graphicFrame>
        <p:nvGraphicFramePr>
          <p:cNvPr id="23" name=""/>
          <p:cNvGraphicFramePr/>
          <p:nvPr/>
        </p:nvGraphicFramePr>
        <p:xfrm>
          <a:off xmlns:a="http://schemas.openxmlformats.org/drawingml/2006/main" x="381000" y="2133600"/>
          <a:ext xmlns:a="http://schemas.openxmlformats.org/drawingml/2006/main" cx="11430000" cy="2800350"/>
        </p:xfrm>
        <a:graphic xmlns:a="http://schemas.openxmlformats.org/drawingml/2006/main">
          <a:graphicData uri="http://schemas.openxmlformats.org/drawingml/2006/table">
            <a:tbl>
              <a:tblPr/>
              <a:tblGrid>
                <a:gridCol w="3276600"/>
                <a:gridCol w="1962150"/>
                <a:gridCol w="2076450"/>
                <a:gridCol w="1762125"/>
                <a:gridCol w="2352675"/>
              </a:tblGrid>
              <a:tr h="560070">
                <a:tc>
                  <a:txBody>
                    <a:bodyPr/>
                    <a:lstStyle/>
                    <a:p>
                      <a:r>
                        <a:rPr sz="1725" b="1">
                          <a:solidFill>
                            <a:srgbClr val="FFFFFF"/>
                          </a:solidFill>
                          <a:latin typeface="Arial"/>
                          <a:ea typeface="Arial"/>
                          <a:cs typeface="Arial"/>
                        </a:rPr>
                        <a:t>Chiến lược</a:t>
                      </a:r>
                    </a:p>
                  </a:txBody>
                  <a:tcPr marL="91440" marR="91440" marT="45720" marB="45720">
                    <a:solidFill>
                      <a:srgbClr val="1635FF"/>
                    </a:solidFill>
                  </a:tcPr>
                </a:tc>
                <a:tc>
                  <a:txBody>
                    <a:bodyPr/>
                    <a:lstStyle/>
                    <a:p>
                      <a:r>
                        <a:rPr sz="1725" b="1">
                          <a:solidFill>
                            <a:srgbClr val="FFFFFF"/>
                          </a:solidFill>
                          <a:latin typeface="Arial"/>
                          <a:ea typeface="Arial"/>
                          <a:cs typeface="Arial"/>
                        </a:rPr>
                        <a:t>Recall</a:t>
                      </a:r>
                    </a:p>
                  </a:txBody>
                  <a:tcPr marL="91440" marR="91440" marT="45720" marB="45720">
                    <a:solidFill>
                      <a:srgbClr val="1635FF"/>
                    </a:solidFill>
                  </a:tcPr>
                </a:tc>
                <a:tc>
                  <a:txBody>
                    <a:bodyPr/>
                    <a:lstStyle/>
                    <a:p>
                      <a:r>
                        <a:rPr sz="1725" b="1">
                          <a:solidFill>
                            <a:srgbClr val="FFFFFF"/>
                          </a:solidFill>
                          <a:latin typeface="Arial"/>
                          <a:ea typeface="Arial"/>
                          <a:cs typeface="Arial"/>
                        </a:rPr>
                        <a:t>Precision</a:t>
                      </a:r>
                    </a:p>
                  </a:txBody>
                  <a:tcPr marL="91440" marR="91440" marT="45720" marB="45720">
                    <a:solidFill>
                      <a:srgbClr val="1635FF"/>
                    </a:solidFill>
                  </a:tcPr>
                </a:tc>
                <a:tc>
                  <a:txBody>
                    <a:bodyPr/>
                    <a:lstStyle/>
                    <a:p>
                      <a:r>
                        <a:rPr sz="1725" b="1">
                          <a:solidFill>
                            <a:srgbClr val="FFFFFF"/>
                          </a:solidFill>
                          <a:latin typeface="Arial"/>
                          <a:ea typeface="Arial"/>
                          <a:cs typeface="Arial"/>
                        </a:rPr>
                        <a:t>Rubric</a:t>
                      </a:r>
                    </a:p>
                  </a:txBody>
                  <a:tcPr marL="91440" marR="91440" marT="45720" marB="45720">
                    <a:solidFill>
                      <a:srgbClr val="1635FF"/>
                    </a:solidFill>
                  </a:tcPr>
                </a:tc>
                <a:tc>
                  <a:txBody>
                    <a:bodyPr/>
                    <a:lstStyle/>
                    <a:p>
                      <a:r>
                        <a:rPr sz="1725" b="1">
                          <a:solidFill>
                            <a:srgbClr val="FFFFFF"/>
                          </a:solidFill>
                          <a:latin typeface="Arial"/>
                          <a:ea typeface="Arial"/>
                          <a:cs typeface="Arial"/>
                        </a:rPr>
                        <a:t>Faithfulness*</a:t>
                      </a:r>
                    </a:p>
                  </a:txBody>
                  <a:tcPr marL="91440" marR="91440" marT="45720" marB="45720">
                    <a:solidFill>
                      <a:srgbClr val="1635FF"/>
                    </a:solidFill>
                  </a:tcPr>
                </a:tc>
              </a:tr>
              <a:tr h="560070">
                <a:tc>
                  <a:txBody>
                    <a:bodyPr/>
                    <a:lstStyle/>
                    <a:p>
                      <a:r>
                        <a:rPr sz="1875" b="0">
                          <a:solidFill>
                            <a:srgbClr val="14192F"/>
                          </a:solidFill>
                          <a:latin typeface="Arial"/>
                          <a:ea typeface="Arial"/>
                          <a:cs typeface="Arial"/>
                        </a:rPr>
                        <a:t>S1  BM25</a:t>
                      </a:r>
                    </a:p>
                  </a:txBody>
                  <a:tcPr marL="91440" marR="91440" marT="45720" marB="45720">
                    <a:solidFill>
                      <a:srgbClr val="EDF0FF"/>
                    </a:solidFill>
                  </a:tcPr>
                </a:tc>
                <a:tc>
                  <a:txBody>
                    <a:bodyPr/>
                    <a:lstStyle/>
                    <a:p>
                      <a:r>
                        <a:rPr sz="1875" b="0">
                          <a:solidFill>
                            <a:srgbClr val="14192F"/>
                          </a:solidFill>
                          <a:latin typeface="Arial"/>
                          <a:ea typeface="Arial"/>
                          <a:cs typeface="Arial"/>
                        </a:rPr>
                        <a:t>25,0%</a:t>
                      </a:r>
                    </a:p>
                  </a:txBody>
                  <a:tcPr marL="91440" marR="91440" marT="45720" marB="45720">
                    <a:solidFill>
                      <a:srgbClr val="EDF0FF"/>
                    </a:solidFill>
                  </a:tcPr>
                </a:tc>
                <a:tc>
                  <a:txBody>
                    <a:bodyPr/>
                    <a:lstStyle/>
                    <a:p>
                      <a:r>
                        <a:rPr sz="1875" b="0">
                          <a:solidFill>
                            <a:srgbClr val="14192F"/>
                          </a:solidFill>
                          <a:latin typeface="Arial"/>
                          <a:ea typeface="Arial"/>
                          <a:cs typeface="Arial"/>
                        </a:rPr>
                        <a:t>61,7%</a:t>
                      </a:r>
                    </a:p>
                  </a:txBody>
                  <a:tcPr marL="91440" marR="91440" marT="45720" marB="45720">
                    <a:solidFill>
                      <a:srgbClr val="EDF0FF"/>
                    </a:solidFill>
                  </a:tcPr>
                </a:tc>
                <a:tc>
                  <a:txBody>
                    <a:bodyPr/>
                    <a:lstStyle/>
                    <a:p>
                      <a:r>
                        <a:rPr sz="1875" b="0">
                          <a:solidFill>
                            <a:srgbClr val="14192F"/>
                          </a:solidFill>
                          <a:latin typeface="Arial"/>
                          <a:ea typeface="Arial"/>
                          <a:cs typeface="Arial"/>
                        </a:rPr>
                        <a:t>40,0%</a:t>
                      </a:r>
                    </a:p>
                  </a:txBody>
                  <a:tcPr marL="91440" marR="91440" marT="45720" marB="45720">
                    <a:solidFill>
                      <a:srgbClr val="EDF0FF"/>
                    </a:solidFill>
                  </a:tcPr>
                </a:tc>
                <a:tc>
                  <a:txBody>
                    <a:bodyPr/>
                    <a:lstStyle/>
                    <a:p>
                      <a:r>
                        <a:rPr sz="1875" b="0">
                          <a:solidFill>
                            <a:srgbClr val="14192F"/>
                          </a:solidFill>
                          <a:latin typeface="Arial"/>
                          <a:ea typeface="Arial"/>
                          <a:cs typeface="Arial"/>
                        </a:rPr>
                        <a:t>70,0%</a:t>
                      </a:r>
                    </a:p>
                  </a:txBody>
                  <a:tcPr marL="91440" marR="91440" marT="45720" marB="45720">
                    <a:solidFill>
                      <a:srgbClr val="EDF0FF"/>
                    </a:solidFill>
                  </a:tcPr>
                </a:tc>
              </a:tr>
              <a:tr h="560070">
                <a:tc>
                  <a:txBody>
                    <a:bodyPr/>
                    <a:lstStyle/>
                    <a:p>
                      <a:r>
                        <a:rPr sz="1875" b="0">
                          <a:solidFill>
                            <a:srgbClr val="14192F"/>
                          </a:solidFill>
                          <a:latin typeface="Arial"/>
                          <a:ea typeface="Arial"/>
                          <a:cs typeface="Arial"/>
                        </a:rPr>
                        <a:t>S2  Metadata</a:t>
                      </a:r>
                    </a:p>
                  </a:txBody>
                  <a:tcPr marL="91440" marR="91440" marT="45720" marB="45720">
                    <a:solidFill>
                      <a:srgbClr val="F8F9FD"/>
                    </a:solidFill>
                  </a:tcPr>
                </a:tc>
                <a:tc>
                  <a:txBody>
                    <a:bodyPr/>
                    <a:lstStyle/>
                    <a:p>
                      <a:r>
                        <a:rPr sz="1875" b="0">
                          <a:solidFill>
                            <a:srgbClr val="14192F"/>
                          </a:solidFill>
                          <a:latin typeface="Arial"/>
                          <a:ea typeface="Arial"/>
                          <a:cs typeface="Arial"/>
                        </a:rPr>
                        <a:t>30,0%</a:t>
                      </a:r>
                    </a:p>
                  </a:txBody>
                  <a:tcPr marL="91440" marR="91440" marT="45720" marB="45720">
                    <a:solidFill>
                      <a:srgbClr val="F8F9FD"/>
                    </a:solidFill>
                  </a:tcPr>
                </a:tc>
                <a:tc>
                  <a:txBody>
                    <a:bodyPr/>
                    <a:lstStyle/>
                    <a:p>
                      <a:r>
                        <a:rPr sz="1875" b="0">
                          <a:solidFill>
                            <a:srgbClr val="14192F"/>
                          </a:solidFill>
                          <a:latin typeface="Arial"/>
                          <a:ea typeface="Arial"/>
                          <a:cs typeface="Arial"/>
                        </a:rPr>
                        <a:t>75,0%</a:t>
                      </a:r>
                    </a:p>
                  </a:txBody>
                  <a:tcPr marL="91440" marR="91440" marT="45720" marB="45720">
                    <a:solidFill>
                      <a:srgbClr val="F8F9FD"/>
                    </a:solidFill>
                  </a:tcPr>
                </a:tc>
                <a:tc>
                  <a:txBody>
                    <a:bodyPr/>
                    <a:lstStyle/>
                    <a:p>
                      <a:r>
                        <a:rPr sz="1875" b="0">
                          <a:solidFill>
                            <a:srgbClr val="14192F"/>
                          </a:solidFill>
                          <a:latin typeface="Arial"/>
                          <a:ea typeface="Arial"/>
                          <a:cs typeface="Arial"/>
                        </a:rPr>
                        <a:t>100%</a:t>
                      </a:r>
                    </a:p>
                  </a:txBody>
                  <a:tcPr marL="91440" marR="91440" marT="45720" marB="45720">
                    <a:solidFill>
                      <a:srgbClr val="F8F9FD"/>
                    </a:solidFill>
                  </a:tcPr>
                </a:tc>
                <a:tc>
                  <a:txBody>
                    <a:bodyPr/>
                    <a:lstStyle/>
                    <a:p>
                      <a:r>
                        <a:rPr sz="1875" b="0">
                          <a:solidFill>
                            <a:srgbClr val="14192F"/>
                          </a:solidFill>
                          <a:latin typeface="Arial"/>
                          <a:ea typeface="Arial"/>
                          <a:cs typeface="Arial"/>
                        </a:rPr>
                        <a:t>75,6%</a:t>
                      </a:r>
                    </a:p>
                  </a:txBody>
                  <a:tcPr marL="91440" marR="91440" marT="45720" marB="45720">
                    <a:solidFill>
                      <a:srgbClr val="F8F9FD"/>
                    </a:solidFill>
                  </a:tcPr>
                </a:tc>
              </a:tr>
              <a:tr h="560070">
                <a:tc>
                  <a:txBody>
                    <a:bodyPr/>
                    <a:lstStyle/>
                    <a:p>
                      <a:r>
                        <a:rPr sz="1875" b="1">
                          <a:solidFill>
                            <a:srgbClr val="14192F"/>
                          </a:solidFill>
                          <a:latin typeface="Arial"/>
                          <a:ea typeface="Arial"/>
                          <a:cs typeface="Arial"/>
                        </a:rPr>
                        <a:t>S3  Skill-gap</a:t>
                      </a:r>
                    </a:p>
                  </a:txBody>
                  <a:tcPr marL="91440" marR="91440" marT="45720" marB="45720">
                    <a:solidFill>
                      <a:srgbClr val="FFF293"/>
                    </a:solidFill>
                  </a:tcPr>
                </a:tc>
                <a:tc>
                  <a:txBody>
                    <a:bodyPr/>
                    <a:lstStyle/>
                    <a:p>
                      <a:r>
                        <a:rPr sz="1875" b="1">
                          <a:solidFill>
                            <a:srgbClr val="14192F"/>
                          </a:solidFill>
                          <a:latin typeface="Arial"/>
                          <a:ea typeface="Arial"/>
                          <a:cs typeface="Arial"/>
                        </a:rPr>
                        <a:t>55,0%</a:t>
                      </a:r>
                    </a:p>
                  </a:txBody>
                  <a:tcPr marL="91440" marR="91440" marT="45720" marB="45720">
                    <a:solidFill>
                      <a:srgbClr val="FFF293"/>
                    </a:solidFill>
                  </a:tcPr>
                </a:tc>
                <a:tc>
                  <a:txBody>
                    <a:bodyPr/>
                    <a:lstStyle/>
                    <a:p>
                      <a:r>
                        <a:rPr sz="1875" b="1">
                          <a:solidFill>
                            <a:srgbClr val="14192F"/>
                          </a:solidFill>
                          <a:latin typeface="Arial"/>
                          <a:ea typeface="Arial"/>
                          <a:cs typeface="Arial"/>
                        </a:rPr>
                        <a:t>95,0%</a:t>
                      </a:r>
                    </a:p>
                  </a:txBody>
                  <a:tcPr marL="91440" marR="91440" marT="45720" marB="45720">
                    <a:solidFill>
                      <a:srgbClr val="FFF293"/>
                    </a:solidFill>
                  </a:tcPr>
                </a:tc>
                <a:tc>
                  <a:txBody>
                    <a:bodyPr/>
                    <a:lstStyle/>
                    <a:p>
                      <a:r>
                        <a:rPr sz="1875" b="1">
                          <a:solidFill>
                            <a:srgbClr val="14192F"/>
                          </a:solidFill>
                          <a:latin typeface="Arial"/>
                          <a:ea typeface="Arial"/>
                          <a:cs typeface="Arial"/>
                        </a:rPr>
                        <a:t>100%</a:t>
                      </a:r>
                    </a:p>
                  </a:txBody>
                  <a:tcPr marL="91440" marR="91440" marT="45720" marB="45720">
                    <a:solidFill>
                      <a:srgbClr val="FFF293"/>
                    </a:solidFill>
                  </a:tcPr>
                </a:tc>
                <a:tc>
                  <a:txBody>
                    <a:bodyPr/>
                    <a:lstStyle/>
                    <a:p>
                      <a:r>
                        <a:rPr sz="1875" b="1">
                          <a:solidFill>
                            <a:srgbClr val="14192F"/>
                          </a:solidFill>
                          <a:latin typeface="Arial"/>
                          <a:ea typeface="Arial"/>
                          <a:cs typeface="Arial"/>
                        </a:rPr>
                        <a:t>87,4%</a:t>
                      </a:r>
                    </a:p>
                  </a:txBody>
                  <a:tcPr marL="91440" marR="91440" marT="45720" marB="45720">
                    <a:solidFill>
                      <a:srgbClr val="FFF293"/>
                    </a:solidFill>
                  </a:tcPr>
                </a:tc>
              </a:tr>
              <a:tr h="560070">
                <a:tc>
                  <a:txBody>
                    <a:bodyPr/>
                    <a:lstStyle/>
                    <a:p>
                      <a:r>
                        <a:rPr sz="1875" b="0">
                          <a:solidFill>
                            <a:srgbClr val="14192F"/>
                          </a:solidFill>
                          <a:latin typeface="Arial"/>
                          <a:ea typeface="Arial"/>
                          <a:cs typeface="Arial"/>
                        </a:rPr>
                        <a:t>S4  Hybrid RRF</a:t>
                      </a:r>
                    </a:p>
                  </a:txBody>
                  <a:tcPr marL="91440" marR="91440" marT="45720" marB="45720">
                    <a:solidFill>
                      <a:srgbClr val="F8F9FD"/>
                    </a:solidFill>
                  </a:tcPr>
                </a:tc>
                <a:tc>
                  <a:txBody>
                    <a:bodyPr/>
                    <a:lstStyle/>
                    <a:p>
                      <a:r>
                        <a:rPr sz="1875" b="0">
                          <a:solidFill>
                            <a:srgbClr val="14192F"/>
                          </a:solidFill>
                          <a:latin typeface="Arial"/>
                          <a:ea typeface="Arial"/>
                          <a:cs typeface="Arial"/>
                        </a:rPr>
                        <a:t>32,5%</a:t>
                      </a:r>
                    </a:p>
                  </a:txBody>
                  <a:tcPr marL="91440" marR="91440" marT="45720" marB="45720">
                    <a:solidFill>
                      <a:srgbClr val="F8F9FD"/>
                    </a:solidFill>
                  </a:tcPr>
                </a:tc>
                <a:tc>
                  <a:txBody>
                    <a:bodyPr/>
                    <a:lstStyle/>
                    <a:p>
                      <a:r>
                        <a:rPr sz="1875" b="0">
                          <a:solidFill>
                            <a:srgbClr val="14192F"/>
                          </a:solidFill>
                          <a:latin typeface="Arial"/>
                          <a:ea typeface="Arial"/>
                          <a:cs typeface="Arial"/>
                        </a:rPr>
                        <a:t>95,0%</a:t>
                      </a:r>
                    </a:p>
                  </a:txBody>
                  <a:tcPr marL="91440" marR="91440" marT="45720" marB="45720">
                    <a:solidFill>
                      <a:srgbClr val="F8F9FD"/>
                    </a:solidFill>
                  </a:tcPr>
                </a:tc>
                <a:tc>
                  <a:txBody>
                    <a:bodyPr/>
                    <a:lstStyle/>
                    <a:p>
                      <a:r>
                        <a:rPr sz="1875" b="0">
                          <a:solidFill>
                            <a:srgbClr val="14192F"/>
                          </a:solidFill>
                          <a:latin typeface="Arial"/>
                          <a:ea typeface="Arial"/>
                          <a:cs typeface="Arial"/>
                        </a:rPr>
                        <a:t>100%</a:t>
                      </a:r>
                    </a:p>
                  </a:txBody>
                  <a:tcPr marL="91440" marR="91440" marT="45720" marB="45720">
                    <a:solidFill>
                      <a:srgbClr val="F8F9FD"/>
                    </a:solidFill>
                  </a:tcPr>
                </a:tc>
                <a:tc>
                  <a:txBody>
                    <a:bodyPr/>
                    <a:lstStyle/>
                    <a:p>
                      <a:r>
                        <a:rPr sz="1875" b="0">
                          <a:solidFill>
                            <a:srgbClr val="14192F"/>
                          </a:solidFill>
                          <a:latin typeface="Arial"/>
                          <a:ea typeface="Arial"/>
                          <a:cs typeface="Arial"/>
                        </a:rPr>
                        <a:t>86,0%</a:t>
                      </a:r>
                    </a:p>
                  </a:txBody>
                  <a:tcPr marL="91440" marR="91440" marT="45720" marB="45720">
                    <a:solidFill>
                      <a:srgbClr val="F8F9FD"/>
                    </a:solidFill>
                  </a:tcPr>
                </a:tc>
              </a:tr>
            </a:tbl>
          </a:graphicData>
        </a:graphic>
      </p:graphicFrame>
      <p:sp>
        <p:nvSpPr>
          <p:cNvPr id="11" name="">
            <a:extLst xmlns:a="http://schemas.openxmlformats.org/drawingml/2006/main">
              <a:ext uri="{FF2B5EF4-FFF2-40B4-BE49-F238E27FC236}">
                <a16:creationId xmlns:a16="http://schemas.microsoft.com/office/drawing/2014/main" id="{6E735857-A2A3-4843-8DCE-1A331F75A939}"/>
              </a:ext>
            </a:extLst>
          </p:cNvPr>
          <p:cNvSpPr>
            <a:spLocks xmlns:a="http://schemas.openxmlformats.org/drawingml/2006/main" noGrp="1"/>
          </p:cNvSpPr>
          <p:nvPr/>
        </p:nvSpPr>
        <p:spPr>
          <a:xfrm xmlns:a="http://schemas.openxmlformats.org/drawingml/2006/main">
            <a:off x="381000" y="5257800"/>
            <a:ext cx="327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635FF"/>
                </a:solidFill>
                <a:latin typeface="Arial"/>
                <a:ea typeface="Arial"/>
                <a:cs typeface="Arial"/>
              </a:defRPr>
            </a:pPr>
            <a:r>
              <a:rPr sz="2775" b="1">
                <a:solidFill>
                  <a:srgbClr val="1635FF"/>
                </a:solidFill>
                <a:latin typeface="Arial"/>
                <a:ea typeface="Arial"/>
                <a:cs typeface="Arial"/>
              </a:rPr>
              <a:t>+22,5 điểm %</a:t>
            </a:r>
          </a:p>
        </p:txBody>
      </p:sp>
      <p:sp>
        <p:nvSpPr>
          <p:cNvPr id="12" name="">
            <a:extLst xmlns:a="http://schemas.openxmlformats.org/drawingml/2006/main">
              <a:ext uri="{FF2B5EF4-FFF2-40B4-BE49-F238E27FC236}">
                <a16:creationId xmlns:a16="http://schemas.microsoft.com/office/drawing/2014/main" id="{CCF79FA5-293A-4BD3-9AB5-627096DD4EC2}"/>
              </a:ext>
            </a:extLst>
          </p:cNvPr>
          <p:cNvSpPr>
            <a:spLocks xmlns:a="http://schemas.openxmlformats.org/drawingml/2006/main" noGrp="1"/>
          </p:cNvSpPr>
          <p:nvPr/>
        </p:nvSpPr>
        <p:spPr>
          <a:xfrm xmlns:a="http://schemas.openxmlformats.org/drawingml/2006/main">
            <a:off x="3876675" y="5219700"/>
            <a:ext cx="781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92F"/>
                </a:solidFill>
                <a:latin typeface="Arial"/>
                <a:ea typeface="Arial"/>
                <a:cs typeface="Arial"/>
              </a:defRPr>
            </a:pPr>
            <a:r>
              <a:rPr sz="2100" b="1">
                <a:solidFill>
                  <a:srgbClr val="14192F"/>
                </a:solidFill>
                <a:latin typeface="Arial"/>
                <a:ea typeface="Arial"/>
                <a:cs typeface="Arial"/>
              </a:rPr>
              <a:t>Recall của S3 so với S4</a:t>
            </a:r>
          </a:p>
          <a:p xmlns:a="http://schemas.openxmlformats.org/drawingml/2006/main">
            <a:pPr>
              <a:defRPr sz="2100" b="1">
                <a:solidFill>
                  <a:srgbClr val="14192F"/>
                </a:solidFill>
                <a:latin typeface="Arial"/>
                <a:ea typeface="Arial"/>
                <a:cs typeface="Arial"/>
              </a:defRPr>
            </a:pPr>
            <a:r>
              <a:rPr sz="2100" b="1">
                <a:solidFill>
                  <a:srgbClr val="14192F"/>
                </a:solidFill>
                <a:latin typeface="Arial"/>
                <a:ea typeface="Arial"/>
                <a:cs typeface="Arial"/>
              </a:rPr>
              <a:t>Precision và Rubric bằng nhau</a:t>
            </a:r>
          </a:p>
        </p:txBody>
      </p:sp>
      <p:sp>
        <p:nvSpPr>
          <p:cNvPr id="13" name="">
            <a:extLst xmlns:a="http://schemas.openxmlformats.org/drawingml/2006/main">
              <a:ext uri="{FF2B5EF4-FFF2-40B4-BE49-F238E27FC236}">
                <a16:creationId xmlns:a16="http://schemas.microsoft.com/office/drawing/2014/main" id="{841D6FBA-B25D-4A02-847F-0B84E9AFBFE3}"/>
              </a:ext>
            </a:extLst>
          </p:cNvPr>
          <p:cNvSpPr>
            <a:spLocks xmlns:a="http://schemas.openxmlformats.org/drawingml/2006/main" noGrp="1"/>
          </p:cNvSpPr>
          <p:nvPr/>
        </p:nvSpPr>
        <p:spPr>
          <a:xfrm xmlns:a="http://schemas.openxmlformats.org/drawingml/2006/main">
            <a:off x="381000" y="64389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6078"/>
                </a:solidFill>
                <a:latin typeface="Arial"/>
                <a:ea typeface="Arial"/>
                <a:cs typeface="Arial"/>
              </a:defRPr>
            </a:pPr>
            <a:r>
              <a:rPr sz="1050" b="0">
                <a:solidFill>
                  <a:srgbClr val="566078"/>
                </a:solidFill>
                <a:latin typeface="Arial"/>
                <a:ea typeface="Arial"/>
                <a:cs typeface="Arial"/>
              </a:rPr>
              <a:t>Nguồn: batch_evaluation_results.csv • *Faithfulness gồm điểm gán sẵn và điểm LLM judge.</a:t>
            </a:r>
          </a:p>
        </p:txBody>
      </p:sp>
    </p:spTree>
    <p:extLst>
      <p:ext uri="{BB962C8B-B14F-4D97-AF65-F5344CB8AC3E}">
        <p14:creationId xmlns:p14="http://schemas.microsoft.com/office/powerpoint/2010/main" val="14545300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2026-09-30T17:24:33.3470000Z</dcterms:created>
  <dcterms:modified xsi:type="dcterms:W3CDTF">2026-09-30T17:24:33.3470000Z</dcterms:modified>
</coreProperties>
</file>