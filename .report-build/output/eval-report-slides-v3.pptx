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ebba6a62a24801" /><Relationship Type="http://schemas.openxmlformats.org/officeDocument/2006/relationships/extended-properties" Target="/docProps/app.xml" Id="Rb6b6ed5bf7344dd8" /><Relationship Type="http://schemas.openxmlformats.org/officeDocument/2006/relationships/officeDocument" Target="/ppt/presentation.xml" Id="Rbc46a6330da4457f" /></Relationships>
</file>

<file path=ppt/presentation.xml><?xml version="1.0" encoding="utf-8"?>
<p:presentation xmlns:p="http://schemas.openxmlformats.org/presentationml/2006/main">
  <p:sldMasterIdLst>
    <p:sldMasterId xmlns:r="http://schemas.openxmlformats.org/officeDocument/2006/relationships" id="2147483648" r:id="R0e2267c92a48494e"/>
  </p:sldMasterIdLst>
  <p:notesMasterIdLst>
    <p:notesMasterId xmlns:r="http://schemas.openxmlformats.org/officeDocument/2006/relationships" r:id="R6b93ed109ffa4c9d"/>
  </p:notesMasterIdLst>
  <p:sldIdLst>
    <p:sldId xmlns:r="http://schemas.openxmlformats.org/officeDocument/2006/relationships" id="256" r:id="Rd33299004dba47c0"/>
    <p:sldId xmlns:r="http://schemas.openxmlformats.org/officeDocument/2006/relationships" id="257" r:id="R10970b1c0c35441e"/>
    <p:sldId xmlns:r="http://schemas.openxmlformats.org/officeDocument/2006/relationships" id="258" r:id="Rb0e587737e4f407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b55c7ae7a14534" /><Relationship Type="http://schemas.openxmlformats.org/officeDocument/2006/relationships/slideMaster" Target="/ppt/slideMasters/slideMaster1.xml" Id="R0e2267c92a48494e" /><Relationship Type="http://schemas.openxmlformats.org/officeDocument/2006/relationships/notesMaster" Target="/ppt/notesMasters/notesMaster1.xml" Id="R6b93ed109ffa4c9d" /><Relationship Type="http://schemas.openxmlformats.org/officeDocument/2006/relationships/presProps" Target="/ppt/presProps.xml" Id="R2e2ac3ab99bd4ed7" /><Relationship Type="http://schemas.openxmlformats.org/officeDocument/2006/relationships/tableStyles" Target="/ppt/tableStyles.xml" Id="R57af1a4085d44f61" /><Relationship Type="http://schemas.openxmlformats.org/officeDocument/2006/relationships/slide" Target="/ppt/slides/slide1.xml" Id="Rd33299004dba47c0" /><Relationship Type="http://schemas.openxmlformats.org/officeDocument/2006/relationships/slide" Target="/ppt/slides/slide2.xml" Id="R10970b1c0c35441e" /><Relationship Type="http://schemas.openxmlformats.org/officeDocument/2006/relationships/slide" Target="/ppt/slides/slide3.xml" Id="Rb0e587737e4f40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521bc903184d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e3f8d5d7cb4db0" /><Relationship Type="http://schemas.openxmlformats.org/officeDocument/2006/relationships/notesMaster" Target="/ppt/notesMasters/notesMaster1.xml" Id="R1788502f027342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3270091e954b5c" /><Relationship Type="http://schemas.openxmlformats.org/officeDocument/2006/relationships/notesMaster" Target="/ppt/notesMasters/notesMaster1.xml" Id="R0a976aeae91e46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67dab1714b4dac" /><Relationship Type="http://schemas.openxmlformats.org/officeDocument/2006/relationships/notesMaster" Target="/ppt/notesMasters/notesMaster1.xml" Id="R9ae4afd825684d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trong repository C:/Users/Admin/NNH/Projects/VScode/evaludate: data/*.json và pipeline src/. Số liệu do audit repository xác nhận: 300 CV, 395 JD, 25 frameworks, 350 technical questions. Input là profile có cấu trúc đã chuẩn hóa, không khẳng định đã triển khai parser PDF. Output là context XML chứa bộ câu hỏi, rubric và interview stages để AI interviewer downstream sử dụng. 350 chỉ đếm câu hỏi kỹ thuật.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audit dữ liệu repository evaludate/data/*.json. CV có119 tên kỹ năng khác nhau, JD69, giao29; Jaccard29/(119+69-29)=18.23899%. Đây là so khớp exact lowercase và là overlap từ vựng tổng thể, không phải khoảng thiếu kỹ năng của một ứng viên. 185/300CV Fresher=61.7%;211/395JD Junior=53.4%;42/300CV mid/senior=14% nằm ngoài framework. 350technical questions có answer và rubric3mức. question_id cần đi với position_id. Persistence hiện tại SQLite records+JSON, index BM25 cùng TF-IDF/SVD vector files; không phải pretrained neural embedding. EDA là căn cứ thiết kế, chưa chứng minh tối ưu toàn cục.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C:/Users/Admin/NNH/Projects/VScode/evaludate/batch_evaluation_results.csv và src/evaluation/metrics.py. Benchmark pilot8CV React/Fresher×4strategies=32evaluations,3uniqueJD. Custom metrics: coverage S1=.25,S2=.30,S3=.55,S4=.325; alignment .617,.75,.95,.95; rubric .40,1,1,1. S3 coverage exceeds S4 by22.5percentage points. Coverage uses substring presence for first5JD skills; alignment60%role+40%level; rubric is structural. Excludes faithfulness and composite because mixed hardcoded and LLM-derived values. Results are neither standard Ragas evaluation nor end-to-end interview quality. Generalization to all roles/levels is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1def36d79f43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0dde9c35c44a6f" /><Relationship Type="http://schemas.openxmlformats.org/officeDocument/2006/relationships/slideLayout" Target="/ppt/slideLayouts/slideLayout1.xml" Id="Rb07553efab0243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7553efab0243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2deb4aa1e254ef4" /><Relationship Type="http://schemas.openxmlformats.org/officeDocument/2006/relationships/notesSlide" Target="/ppt/notesSlides/notesSlide1.xml" Id="R764da6bb329241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ff0153c6a4748e6" /><Relationship Type="http://schemas.openxmlformats.org/officeDocument/2006/relationships/notesSlide" Target="/ppt/notesSlides/notesSlide2.xml" Id="R1af222ae750544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9a25084d5fd4673" /><Relationship Type="http://schemas.openxmlformats.org/officeDocument/2006/relationships/notesSlide" Target="/ppt/notesSlides/notesSlide3.xml" Id="Recd574946d7f4b7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B49EAE71-22F9-4FD3-B7CC-E862CC88B5B7}"/>
              </a:ext>
            </a:extLst>
          </p:cNvPr>
          <p:cNvSpPr>
            <a:spLocks xmlns:a="http://schemas.openxmlformats.org/drawingml/2006/main" noGrp="1"/>
          </p:cNvSpPr>
          <p:nvPr/>
        </p:nvSpPr>
        <p:spPr>
          <a:xfrm xmlns:a="http://schemas.openxmlformats.org/drawingml/2006/main">
            <a:off x="381000" y="190500"/>
            <a:ext cx="1333500" cy="323850"/>
          </a:xfrm>
          <a:prstGeom xmlns:a="http://schemas.openxmlformats.org/drawingml/2006/main" prst="roundRect">
            <a:avLst>
              <a:gd name="adj" fmla="val 23529"/>
            </a:avLst>
          </a:prstGeom>
          <a:solidFill xmlns:a="http://schemas.openxmlformats.org/drawingml/2006/main">
            <a:srgbClr val="1635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99F396-9FC8-4010-86B3-9FDCDEE83CF4}"/>
              </a:ext>
            </a:extLst>
          </p:cNvPr>
          <p:cNvSpPr>
            <a:spLocks xmlns:a="http://schemas.openxmlformats.org/drawingml/2006/main" noGrp="1"/>
          </p:cNvSpPr>
          <p:nvPr/>
        </p:nvSpPr>
        <p:spPr>
          <a:xfrm xmlns:a="http://schemas.openxmlformats.org/drawingml/2006/main">
            <a:off x="4953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Arial"/>
                <a:ea typeface="Arial"/>
                <a:cs typeface="Arial"/>
              </a:defRPr>
            </a:pPr>
            <a:r>
              <a:rPr sz="1425" b="1">
                <a:solidFill>
                  <a:srgbClr val="FFFFFF"/>
                </a:solidFill>
                <a:latin typeface="Arial"/>
                <a:ea typeface="Arial"/>
                <a:cs typeface="Arial"/>
              </a:rPr>
              <a:t>Tổng quan</a:t>
            </a:r>
          </a:p>
        </p:txBody>
      </p:sp>
      <p:sp>
        <p:nvSpPr>
          <p:cNvPr id="3" name="">
            <a:extLst xmlns:a="http://schemas.openxmlformats.org/drawingml/2006/main">
              <a:ext uri="{FF2B5EF4-FFF2-40B4-BE49-F238E27FC236}">
                <a16:creationId xmlns:a16="http://schemas.microsoft.com/office/drawing/2014/main" id="{EA4677C5-4554-4068-8F2A-9F3CD41D5AFD}"/>
              </a:ext>
            </a:extLst>
          </p:cNvPr>
          <p:cNvSpPr>
            <a:spLocks xmlns:a="http://schemas.openxmlformats.org/drawingml/2006/main" noGrp="1"/>
          </p:cNvSpPr>
          <p:nvPr/>
        </p:nvSpPr>
        <p:spPr>
          <a:xfrm xmlns:a="http://schemas.openxmlformats.org/drawingml/2006/main">
            <a:off x="19431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Thu thập</a:t>
            </a:r>
          </a:p>
        </p:txBody>
      </p:sp>
      <p:sp>
        <p:nvSpPr>
          <p:cNvPr id="4" name="">
            <a:extLst xmlns:a="http://schemas.openxmlformats.org/drawingml/2006/main">
              <a:ext uri="{FF2B5EF4-FFF2-40B4-BE49-F238E27FC236}">
                <a16:creationId xmlns:a16="http://schemas.microsoft.com/office/drawing/2014/main" id="{EC0A108D-701C-44CB-A6DE-FEEA06FFB89F}"/>
              </a:ext>
            </a:extLst>
          </p:cNvPr>
          <p:cNvSpPr>
            <a:spLocks xmlns:a="http://schemas.openxmlformats.org/drawingml/2006/main" noGrp="1"/>
          </p:cNvSpPr>
          <p:nvPr/>
        </p:nvSpPr>
        <p:spPr>
          <a:xfrm xmlns:a="http://schemas.openxmlformats.org/drawingml/2006/main">
            <a:off x="33909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EDA</a:t>
            </a:r>
          </a:p>
        </p:txBody>
      </p:sp>
      <p:sp>
        <p:nvSpPr>
          <p:cNvPr id="5" name="">
            <a:extLst xmlns:a="http://schemas.openxmlformats.org/drawingml/2006/main">
              <a:ext uri="{FF2B5EF4-FFF2-40B4-BE49-F238E27FC236}">
                <a16:creationId xmlns:a16="http://schemas.microsoft.com/office/drawing/2014/main" id="{B5F83340-92DE-42A9-8662-8BED151361D3}"/>
              </a:ext>
            </a:extLst>
          </p:cNvPr>
          <p:cNvSpPr>
            <a:spLocks xmlns:a="http://schemas.openxmlformats.org/drawingml/2006/main" noGrp="1"/>
          </p:cNvSpPr>
          <p:nvPr/>
        </p:nvSpPr>
        <p:spPr>
          <a:xfrm xmlns:a="http://schemas.openxmlformats.org/drawingml/2006/main">
            <a:off x="48387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Đánh giá</a:t>
            </a:r>
          </a:p>
        </p:txBody>
      </p:sp>
      <p:sp>
        <p:nvSpPr>
          <p:cNvPr id="6" name="">
            <a:extLst xmlns:a="http://schemas.openxmlformats.org/drawingml/2006/main">
              <a:ext uri="{FF2B5EF4-FFF2-40B4-BE49-F238E27FC236}">
                <a16:creationId xmlns:a16="http://schemas.microsoft.com/office/drawing/2014/main" id="{BF018A4A-37F4-4404-9BDD-7516AE4C9E6D}"/>
              </a:ext>
            </a:extLst>
          </p:cNvPr>
          <p:cNvSpPr>
            <a:spLocks xmlns:a="http://schemas.openxmlformats.org/drawingml/2006/main" noGrp="1"/>
          </p:cNvSpPr>
          <p:nvPr/>
        </p:nvSpPr>
        <p:spPr>
          <a:xfrm xmlns:a="http://schemas.openxmlformats.org/drawingml/2006/main">
            <a:off x="0" y="647700"/>
            <a:ext cx="12192000" cy="590550"/>
          </a:xfrm>
          <a:prstGeom xmlns:a="http://schemas.openxmlformats.org/drawingml/2006/main" prst="rect">
            <a:avLst/>
          </a:prstGeom>
          <a:solidFill xmlns:a="http://schemas.openxmlformats.org/drawingml/2006/main">
            <a:srgbClr val="1635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7B98D5F-F391-4D63-9B06-7729EEAA1E8C}"/>
              </a:ext>
            </a:extLst>
          </p:cNvPr>
          <p:cNvSpPr>
            <a:spLocks xmlns:a="http://schemas.openxmlformats.org/drawingml/2006/main" noGrp="1"/>
          </p:cNvSpPr>
          <p:nvPr/>
        </p:nvSpPr>
        <p:spPr>
          <a:xfrm xmlns:a="http://schemas.openxmlformats.org/drawingml/2006/main">
            <a:off x="381000" y="742950"/>
            <a:ext cx="1143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Ngữ cảnh cho AI phỏng vấn kỹ thuật</a:t>
            </a:r>
          </a:p>
        </p:txBody>
      </p:sp>
      <p:sp>
        <p:nvSpPr>
          <p:cNvPr id="8" name="">
            <a:extLst xmlns:a="http://schemas.openxmlformats.org/drawingml/2006/main">
              <a:ext uri="{FF2B5EF4-FFF2-40B4-BE49-F238E27FC236}">
                <a16:creationId xmlns:a16="http://schemas.microsoft.com/office/drawing/2014/main" id="{FBB83A8C-040F-4F4E-AB82-CB377E17D419}"/>
              </a:ext>
            </a:extLst>
          </p:cNvPr>
          <p:cNvSpPr>
            <a:spLocks xmlns:a="http://schemas.openxmlformats.org/drawingml/2006/main" noGrp="1"/>
          </p:cNvSpPr>
          <p:nvPr/>
        </p:nvSpPr>
        <p:spPr>
          <a:xfrm xmlns:a="http://schemas.openxmlformats.org/drawingml/2006/main">
            <a:off x="11268075" y="64293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35FF"/>
                </a:solidFill>
                <a:latin typeface="Arial"/>
                <a:ea typeface="Arial"/>
                <a:cs typeface="Arial"/>
              </a:defRPr>
            </a:pPr>
            <a:r>
              <a:rPr sz="1275" b="1">
                <a:solidFill>
                  <a:srgbClr val="1635FF"/>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D865391C-52CA-4435-82DA-6F98F0DA87BA}"/>
              </a:ext>
            </a:extLst>
          </p:cNvPr>
          <p:cNvSpPr>
            <a:spLocks xmlns:a="http://schemas.openxmlformats.org/drawingml/2006/main" noGrp="1"/>
          </p:cNvSpPr>
          <p:nvPr/>
        </p:nvSpPr>
        <p:spPr>
          <a:xfrm xmlns:a="http://schemas.openxmlformats.org/drawingml/2006/main">
            <a:off x="381000" y="1438275"/>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35FF"/>
                </a:solidFill>
                <a:latin typeface="Arial"/>
                <a:ea typeface="Arial"/>
                <a:cs typeface="Arial"/>
              </a:defRPr>
            </a:pPr>
            <a:r>
              <a:rPr sz="1875" b="1">
                <a:solidFill>
                  <a:srgbClr val="1635FF"/>
                </a:solidFill>
                <a:latin typeface="Arial"/>
                <a:ea typeface="Arial"/>
                <a:cs typeface="Arial"/>
              </a:rPr>
              <a:t>Bài toán</a:t>
            </a:r>
          </a:p>
        </p:txBody>
      </p:sp>
      <p:sp>
        <p:nvSpPr>
          <p:cNvPr id="10" name="">
            <a:extLst xmlns:a="http://schemas.openxmlformats.org/drawingml/2006/main">
              <a:ext uri="{FF2B5EF4-FFF2-40B4-BE49-F238E27FC236}">
                <a16:creationId xmlns:a16="http://schemas.microsoft.com/office/drawing/2014/main" id="{042DFAB9-6462-4D7F-BB31-445FF7155DFB}"/>
              </a:ext>
            </a:extLst>
          </p:cNvPr>
          <p:cNvSpPr>
            <a:spLocks xmlns:a="http://schemas.openxmlformats.org/drawingml/2006/main" noGrp="1"/>
          </p:cNvSpPr>
          <p:nvPr/>
        </p:nvSpPr>
        <p:spPr>
          <a:xfrm xmlns:a="http://schemas.openxmlformats.org/drawingml/2006/main">
            <a:off x="1943100" y="1428750"/>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192F"/>
                </a:solidFill>
                <a:latin typeface="Arial"/>
                <a:ea typeface="Arial"/>
                <a:cs typeface="Arial"/>
              </a:defRPr>
            </a:pPr>
            <a:r>
              <a:rPr sz="2025" b="0">
                <a:solidFill>
                  <a:srgbClr val="14192F"/>
                </a:solidFill>
                <a:latin typeface="Arial"/>
                <a:ea typeface="Arial"/>
                <a:cs typeface="Arial"/>
              </a:rPr>
              <a:t>Câu hỏi chung chung, lệch JD/cấp độ, thiếu tiêu chí chấm</a:t>
            </a:r>
          </a:p>
        </p:txBody>
      </p:sp>
      <p:sp>
        <p:nvSpPr>
          <p:cNvPr id="11" name="">
            <a:extLst xmlns:a="http://schemas.openxmlformats.org/drawingml/2006/main">
              <a:ext uri="{FF2B5EF4-FFF2-40B4-BE49-F238E27FC236}">
                <a16:creationId xmlns:a16="http://schemas.microsoft.com/office/drawing/2014/main" id="{55515DDC-C56B-419C-A3BC-0115B00A5BD9}"/>
              </a:ext>
            </a:extLst>
          </p:cNvPr>
          <p:cNvSpPr>
            <a:spLocks xmlns:a="http://schemas.openxmlformats.org/drawingml/2006/main" noGrp="1"/>
          </p:cNvSpPr>
          <p:nvPr/>
        </p:nvSpPr>
        <p:spPr>
          <a:xfrm xmlns:a="http://schemas.openxmlformats.org/drawingml/2006/main">
            <a:off x="381000" y="2162175"/>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35FF"/>
                </a:solidFill>
                <a:latin typeface="Arial"/>
                <a:ea typeface="Arial"/>
                <a:cs typeface="Arial"/>
              </a:defRPr>
            </a:pPr>
            <a:r>
              <a:rPr sz="1500" b="1">
                <a:solidFill>
                  <a:srgbClr val="1635FF"/>
                </a:solidFill>
                <a:latin typeface="Arial"/>
                <a:ea typeface="Arial"/>
                <a:cs typeface="Arial"/>
              </a:rPr>
              <a:t>ĐẦU VÀO</a:t>
            </a:r>
          </a:p>
        </p:txBody>
      </p:sp>
      <p:sp>
        <p:nvSpPr>
          <p:cNvPr id="12" name="">
            <a:extLst xmlns:a="http://schemas.openxmlformats.org/drawingml/2006/main">
              <a:ext uri="{FF2B5EF4-FFF2-40B4-BE49-F238E27FC236}">
                <a16:creationId xmlns:a16="http://schemas.microsoft.com/office/drawing/2014/main" id="{8ED0AF87-C8BD-4A61-8E6D-278E02113206}"/>
              </a:ext>
            </a:extLst>
          </p:cNvPr>
          <p:cNvSpPr>
            <a:spLocks xmlns:a="http://schemas.openxmlformats.org/drawingml/2006/main" noGrp="1"/>
          </p:cNvSpPr>
          <p:nvPr/>
        </p:nvSpPr>
        <p:spPr>
          <a:xfrm xmlns:a="http://schemas.openxmlformats.org/drawingml/2006/main">
            <a:off x="381000" y="2533650"/>
            <a:ext cx="3333750" cy="28575"/>
          </a:xfrm>
          <a:prstGeom xmlns:a="http://schemas.openxmlformats.org/drawingml/2006/main" prst="rect">
            <a:avLst/>
          </a:prstGeom>
          <a:solidFill xmlns:a="http://schemas.openxmlformats.org/drawingml/2006/main">
            <a:srgbClr val="1635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4D61442-E030-40DE-A67C-1578EE7D52D1}"/>
              </a:ext>
            </a:extLst>
          </p:cNvPr>
          <p:cNvSpPr>
            <a:spLocks xmlns:a="http://schemas.openxmlformats.org/drawingml/2006/main" noGrp="1"/>
          </p:cNvSpPr>
          <p:nvPr/>
        </p:nvSpPr>
        <p:spPr>
          <a:xfrm xmlns:a="http://schemas.openxmlformats.org/drawingml/2006/main">
            <a:off x="381000" y="27051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192F"/>
                </a:solidFill>
                <a:latin typeface="Arial"/>
                <a:ea typeface="Arial"/>
                <a:cs typeface="Arial"/>
              </a:defRPr>
            </a:pPr>
            <a:r>
              <a:rPr sz="2100" b="1">
                <a:solidFill>
                  <a:srgbClr val="14192F"/>
                </a:solidFill>
                <a:latin typeface="Arial"/>
                <a:ea typeface="Arial"/>
                <a:cs typeface="Arial"/>
              </a:rPr>
              <a:t>Hồ sơ ứng viên đã chuẩn hóa</a:t>
            </a:r>
          </a:p>
        </p:txBody>
      </p:sp>
      <p:sp>
        <p:nvSpPr>
          <p:cNvPr id="14" name="">
            <a:extLst xmlns:a="http://schemas.openxmlformats.org/drawingml/2006/main">
              <a:ext uri="{FF2B5EF4-FFF2-40B4-BE49-F238E27FC236}">
                <a16:creationId xmlns:a16="http://schemas.microsoft.com/office/drawing/2014/main" id="{07107D01-A580-45FD-A477-02012B870FD5}"/>
              </a:ext>
            </a:extLst>
          </p:cNvPr>
          <p:cNvSpPr>
            <a:spLocks xmlns:a="http://schemas.openxmlformats.org/drawingml/2006/main" noGrp="1"/>
          </p:cNvSpPr>
          <p:nvPr/>
        </p:nvSpPr>
        <p:spPr>
          <a:xfrm xmlns:a="http://schemas.openxmlformats.org/drawingml/2006/main">
            <a:off x="381000" y="3486150"/>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192F"/>
                </a:solidFill>
                <a:latin typeface="Arial"/>
                <a:ea typeface="Arial"/>
                <a:cs typeface="Arial"/>
              </a:defRPr>
            </a:pPr>
            <a:r>
              <a:rPr sz="1875" b="0">
                <a:solidFill>
                  <a:srgbClr val="14192F"/>
                </a:solidFill>
                <a:latin typeface="Arial"/>
                <a:ea typeface="Arial"/>
                <a:cs typeface="Arial"/>
              </a:rPr>
              <a:t>Kỹ năng, dự án, kinh nghiệm</a:t>
            </a:r>
          </a:p>
          <a:p xmlns:a="http://schemas.openxmlformats.org/drawingml/2006/main">
            <a:pPr>
              <a:defRPr sz="1875" b="0">
                <a:solidFill>
                  <a:srgbClr val="14192F"/>
                </a:solidFill>
                <a:latin typeface="Arial"/>
                <a:ea typeface="Arial"/>
                <a:cs typeface="Arial"/>
              </a:defRPr>
            </a:pPr>
            <a:r>
              <a:rPr sz="1875" b="0">
                <a:solidFill>
                  <a:srgbClr val="14192F"/>
                </a:solidFill>
                <a:latin typeface="Arial"/>
                <a:ea typeface="Arial"/>
                <a:cs typeface="Arial"/>
              </a:rPr>
              <a:t>JD, vị trí và cấp độ mục tiêu</a:t>
            </a:r>
          </a:p>
        </p:txBody>
      </p:sp>
      <p:sp>
        <p:nvSpPr>
          <p:cNvPr id="15" name="">
            <a:extLst xmlns:a="http://schemas.openxmlformats.org/drawingml/2006/main">
              <a:ext uri="{FF2B5EF4-FFF2-40B4-BE49-F238E27FC236}">
                <a16:creationId xmlns:a16="http://schemas.microsoft.com/office/drawing/2014/main" id="{CC6F0519-24D4-4F70-9AFA-0ABD85235EA0}"/>
              </a:ext>
            </a:extLst>
          </p:cNvPr>
          <p:cNvSpPr>
            <a:spLocks xmlns:a="http://schemas.openxmlformats.org/drawingml/2006/main" noGrp="1"/>
          </p:cNvSpPr>
          <p:nvPr/>
        </p:nvSpPr>
        <p:spPr>
          <a:xfrm xmlns:a="http://schemas.openxmlformats.org/drawingml/2006/main">
            <a:off x="4438650" y="2162175"/>
            <a:ext cx="327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35FF"/>
                </a:solidFill>
                <a:latin typeface="Arial"/>
                <a:ea typeface="Arial"/>
                <a:cs typeface="Arial"/>
              </a:defRPr>
            </a:pPr>
            <a:r>
              <a:rPr sz="1500" b="1">
                <a:solidFill>
                  <a:srgbClr val="1635FF"/>
                </a:solidFill>
                <a:latin typeface="Arial"/>
                <a:ea typeface="Arial"/>
                <a:cs typeface="Arial"/>
              </a:rPr>
              <a:t>XỬ LÝ</a:t>
            </a:r>
          </a:p>
        </p:txBody>
      </p:sp>
      <p:sp>
        <p:nvSpPr>
          <p:cNvPr id="16" name="">
            <a:extLst xmlns:a="http://schemas.openxmlformats.org/drawingml/2006/main">
              <a:ext uri="{FF2B5EF4-FFF2-40B4-BE49-F238E27FC236}">
                <a16:creationId xmlns:a16="http://schemas.microsoft.com/office/drawing/2014/main" id="{06F59AA0-FCBA-437B-AFEB-52CF65F92680}"/>
              </a:ext>
            </a:extLst>
          </p:cNvPr>
          <p:cNvSpPr>
            <a:spLocks xmlns:a="http://schemas.openxmlformats.org/drawingml/2006/main" noGrp="1"/>
          </p:cNvSpPr>
          <p:nvPr/>
        </p:nvSpPr>
        <p:spPr>
          <a:xfrm xmlns:a="http://schemas.openxmlformats.org/drawingml/2006/main">
            <a:off x="4438650" y="2533650"/>
            <a:ext cx="3276600" cy="28575"/>
          </a:xfrm>
          <a:prstGeom xmlns:a="http://schemas.openxmlformats.org/drawingml/2006/main" prst="rect">
            <a:avLst/>
          </a:prstGeom>
          <a:solidFill xmlns:a="http://schemas.openxmlformats.org/drawingml/2006/main">
            <a:srgbClr val="1635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66FB4FF-F2CA-44D1-9331-13A7B463FB57}"/>
              </a:ext>
            </a:extLst>
          </p:cNvPr>
          <p:cNvSpPr>
            <a:spLocks xmlns:a="http://schemas.openxmlformats.org/drawingml/2006/main" noGrp="1"/>
          </p:cNvSpPr>
          <p:nvPr/>
        </p:nvSpPr>
        <p:spPr>
          <a:xfrm xmlns:a="http://schemas.openxmlformats.org/drawingml/2006/main">
            <a:off x="4438650" y="2705100"/>
            <a:ext cx="327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192F"/>
                </a:solidFill>
                <a:latin typeface="Arial"/>
                <a:ea typeface="Arial"/>
                <a:cs typeface="Arial"/>
              </a:defRPr>
            </a:pPr>
            <a:r>
              <a:rPr sz="2100" b="1">
                <a:solidFill>
                  <a:srgbClr val="14192F"/>
                </a:solidFill>
                <a:latin typeface="Arial"/>
                <a:ea typeface="Arial"/>
                <a:cs typeface="Arial"/>
              </a:rPr>
              <a:t>Chọn đúng kiến thức cần hỏi</a:t>
            </a:r>
          </a:p>
        </p:txBody>
      </p:sp>
      <p:sp>
        <p:nvSpPr>
          <p:cNvPr id="18" name="">
            <a:extLst xmlns:a="http://schemas.openxmlformats.org/drawingml/2006/main">
              <a:ext uri="{FF2B5EF4-FFF2-40B4-BE49-F238E27FC236}">
                <a16:creationId xmlns:a16="http://schemas.microsoft.com/office/drawing/2014/main" id="{2C1BA320-CEB7-4812-8EE5-268321B544D9}"/>
              </a:ext>
            </a:extLst>
          </p:cNvPr>
          <p:cNvSpPr>
            <a:spLocks xmlns:a="http://schemas.openxmlformats.org/drawingml/2006/main" noGrp="1"/>
          </p:cNvSpPr>
          <p:nvPr/>
        </p:nvSpPr>
        <p:spPr>
          <a:xfrm xmlns:a="http://schemas.openxmlformats.org/drawingml/2006/main">
            <a:off x="4438650" y="3486150"/>
            <a:ext cx="32766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192F"/>
                </a:solidFill>
                <a:latin typeface="Arial"/>
                <a:ea typeface="Arial"/>
                <a:cs typeface="Arial"/>
              </a:defRPr>
            </a:pPr>
            <a:r>
              <a:rPr sz="1875" b="0">
                <a:solidFill>
                  <a:srgbClr val="14192F"/>
                </a:solidFill>
                <a:latin typeface="Arial"/>
                <a:ea typeface="Arial"/>
                <a:cs typeface="Arial"/>
              </a:rPr>
              <a:t>Chuẩn hóa kỹ năng</a:t>
            </a:r>
          </a:p>
          <a:p xmlns:a="http://schemas.openxmlformats.org/drawingml/2006/main">
            <a:pPr>
              <a:defRPr sz="1875" b="0">
                <a:solidFill>
                  <a:srgbClr val="14192F"/>
                </a:solidFill>
                <a:latin typeface="Arial"/>
                <a:ea typeface="Arial"/>
                <a:cs typeface="Arial"/>
              </a:defRPr>
            </a:pPr>
            <a:r>
              <a:rPr sz="1875" b="0">
                <a:solidFill>
                  <a:srgbClr val="14192F"/>
                </a:solidFill>
                <a:latin typeface="Arial"/>
                <a:ea typeface="Arial"/>
                <a:cs typeface="Arial"/>
              </a:rPr>
              <a:t>Khớp vị trí và skill gap</a:t>
            </a:r>
          </a:p>
          <a:p xmlns:a="http://schemas.openxmlformats.org/drawingml/2006/main">
            <a:pPr>
              <a:defRPr sz="1875" b="0">
                <a:solidFill>
                  <a:srgbClr val="14192F"/>
                </a:solidFill>
                <a:latin typeface="Arial"/>
                <a:ea typeface="Arial"/>
                <a:cs typeface="Arial"/>
              </a:defRPr>
            </a:pPr>
            <a:r>
              <a:rPr sz="1875" b="0">
                <a:solidFill>
                  <a:srgbClr val="14192F"/>
                </a:solidFill>
                <a:latin typeface="Arial"/>
                <a:ea typeface="Arial"/>
                <a:cs typeface="Arial"/>
              </a:rPr>
              <a:t>Chọn câu hỏi và rubric</a:t>
            </a:r>
          </a:p>
        </p:txBody>
      </p:sp>
      <p:sp>
        <p:nvSpPr>
          <p:cNvPr id="19" name="">
            <a:extLst xmlns:a="http://schemas.openxmlformats.org/drawingml/2006/main">
              <a:ext uri="{FF2B5EF4-FFF2-40B4-BE49-F238E27FC236}">
                <a16:creationId xmlns:a16="http://schemas.microsoft.com/office/drawing/2014/main" id="{3D5C88BE-7AD2-4126-ABC7-88E8AD1517B0}"/>
              </a:ext>
            </a:extLst>
          </p:cNvPr>
          <p:cNvSpPr>
            <a:spLocks xmlns:a="http://schemas.openxmlformats.org/drawingml/2006/main" noGrp="1"/>
          </p:cNvSpPr>
          <p:nvPr/>
        </p:nvSpPr>
        <p:spPr>
          <a:xfrm xmlns:a="http://schemas.openxmlformats.org/drawingml/2006/main">
            <a:off x="8439150" y="2162175"/>
            <a:ext cx="337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35FF"/>
                </a:solidFill>
                <a:latin typeface="Arial"/>
                <a:ea typeface="Arial"/>
                <a:cs typeface="Arial"/>
              </a:defRPr>
            </a:pPr>
            <a:r>
              <a:rPr sz="1500" b="1">
                <a:solidFill>
                  <a:srgbClr val="1635FF"/>
                </a:solidFill>
                <a:latin typeface="Arial"/>
                <a:ea typeface="Arial"/>
                <a:cs typeface="Arial"/>
              </a:rPr>
              <a:t>ĐẦU RA</a:t>
            </a:r>
          </a:p>
        </p:txBody>
      </p:sp>
      <p:sp>
        <p:nvSpPr>
          <p:cNvPr id="20" name="">
            <a:extLst xmlns:a="http://schemas.openxmlformats.org/drawingml/2006/main">
              <a:ext uri="{FF2B5EF4-FFF2-40B4-BE49-F238E27FC236}">
                <a16:creationId xmlns:a16="http://schemas.microsoft.com/office/drawing/2014/main" id="{9BDAA871-F169-4117-8CA5-F2536E887EB4}"/>
              </a:ext>
            </a:extLst>
          </p:cNvPr>
          <p:cNvSpPr>
            <a:spLocks xmlns:a="http://schemas.openxmlformats.org/drawingml/2006/main" noGrp="1"/>
          </p:cNvSpPr>
          <p:nvPr/>
        </p:nvSpPr>
        <p:spPr>
          <a:xfrm xmlns:a="http://schemas.openxmlformats.org/drawingml/2006/main">
            <a:off x="8439150" y="2533650"/>
            <a:ext cx="3371850" cy="28575"/>
          </a:xfrm>
          <a:prstGeom xmlns:a="http://schemas.openxmlformats.org/drawingml/2006/main" prst="rect">
            <a:avLst/>
          </a:prstGeom>
          <a:solidFill xmlns:a="http://schemas.openxmlformats.org/drawingml/2006/main">
            <a:srgbClr val="1635F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10D1306-2716-4E68-A8A0-1F9313155F18}"/>
              </a:ext>
            </a:extLst>
          </p:cNvPr>
          <p:cNvSpPr>
            <a:spLocks xmlns:a="http://schemas.openxmlformats.org/drawingml/2006/main" noGrp="1"/>
          </p:cNvSpPr>
          <p:nvPr/>
        </p:nvSpPr>
        <p:spPr>
          <a:xfrm xmlns:a="http://schemas.openxmlformats.org/drawingml/2006/main">
            <a:off x="8439150" y="2705100"/>
            <a:ext cx="3371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192F"/>
                </a:solidFill>
                <a:latin typeface="Arial"/>
                <a:ea typeface="Arial"/>
                <a:cs typeface="Arial"/>
              </a:defRPr>
            </a:pPr>
            <a:r>
              <a:rPr sz="2100" b="1">
                <a:solidFill>
                  <a:srgbClr val="14192F"/>
                </a:solidFill>
                <a:latin typeface="Arial"/>
                <a:ea typeface="Arial"/>
                <a:cs typeface="Arial"/>
              </a:rPr>
              <a:t>Context XML cho AI phỏng vấn</a:t>
            </a:r>
          </a:p>
        </p:txBody>
      </p:sp>
      <p:sp>
        <p:nvSpPr>
          <p:cNvPr id="22" name="">
            <a:extLst xmlns:a="http://schemas.openxmlformats.org/drawingml/2006/main">
              <a:ext uri="{FF2B5EF4-FFF2-40B4-BE49-F238E27FC236}">
                <a16:creationId xmlns:a16="http://schemas.microsoft.com/office/drawing/2014/main" id="{DFC69649-7AA3-43C6-BB5D-929727121749}"/>
              </a:ext>
            </a:extLst>
          </p:cNvPr>
          <p:cNvSpPr>
            <a:spLocks xmlns:a="http://schemas.openxmlformats.org/drawingml/2006/main" noGrp="1"/>
          </p:cNvSpPr>
          <p:nvPr/>
        </p:nvSpPr>
        <p:spPr>
          <a:xfrm xmlns:a="http://schemas.openxmlformats.org/drawingml/2006/main">
            <a:off x="8439150" y="3486150"/>
            <a:ext cx="33718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192F"/>
                </a:solidFill>
                <a:latin typeface="Arial"/>
                <a:ea typeface="Arial"/>
                <a:cs typeface="Arial"/>
              </a:defRPr>
            </a:pPr>
            <a:r>
              <a:rPr sz="1875" b="0">
                <a:solidFill>
                  <a:srgbClr val="14192F"/>
                </a:solidFill>
                <a:latin typeface="Arial"/>
                <a:ea typeface="Arial"/>
                <a:cs typeface="Arial"/>
              </a:rPr>
              <a:t>3 câu kỹ thuật + 1 câu STAR</a:t>
            </a:r>
          </a:p>
          <a:p xmlns:a="http://schemas.openxmlformats.org/drawingml/2006/main">
            <a:pPr>
              <a:defRPr sz="1875" b="0">
                <a:solidFill>
                  <a:srgbClr val="14192F"/>
                </a:solidFill>
                <a:latin typeface="Arial"/>
                <a:ea typeface="Arial"/>
                <a:cs typeface="Arial"/>
              </a:defRPr>
            </a:pPr>
            <a:r>
              <a:rPr sz="1875" b="0">
                <a:solidFill>
                  <a:srgbClr val="14192F"/>
                </a:solidFill>
                <a:latin typeface="Arial"/>
                <a:ea typeface="Arial"/>
                <a:cs typeface="Arial"/>
              </a:rPr>
              <a:t>Đáp án, rubric, các chặng hỏi</a:t>
            </a:r>
          </a:p>
          <a:p xmlns:a="http://schemas.openxmlformats.org/drawingml/2006/main">
            <a:pPr>
              <a:defRPr sz="1875" b="0">
                <a:solidFill>
                  <a:srgbClr val="14192F"/>
                </a:solidFill>
                <a:latin typeface="Arial"/>
                <a:ea typeface="Arial"/>
                <a:cs typeface="Arial"/>
              </a:defRPr>
            </a:pPr>
            <a:r>
              <a:rPr sz="1875" b="0">
                <a:solidFill>
                  <a:srgbClr val="14192F"/>
                </a:solidFill>
                <a:latin typeface="Arial"/>
                <a:ea typeface="Arial"/>
                <a:cs typeface="Arial"/>
              </a:rPr>
              <a:t>Mốc chấm điểm 1–5</a:t>
            </a:r>
          </a:p>
        </p:txBody>
      </p:sp>
      <p:sp>
        <p:nvSpPr>
          <p:cNvPr id="23" name="">
            <a:extLst xmlns:a="http://schemas.openxmlformats.org/drawingml/2006/main">
              <a:ext uri="{FF2B5EF4-FFF2-40B4-BE49-F238E27FC236}">
                <a16:creationId xmlns:a16="http://schemas.microsoft.com/office/drawing/2014/main" id="{C6A0648F-BCD0-44FB-AF19-D49884F714B8}"/>
              </a:ext>
            </a:extLst>
          </p:cNvPr>
          <p:cNvSpPr>
            <a:spLocks xmlns:a="http://schemas.openxmlformats.org/drawingml/2006/main" noGrp="1"/>
          </p:cNvSpPr>
          <p:nvPr/>
        </p:nvSpPr>
        <p:spPr>
          <a:xfrm xmlns:a="http://schemas.openxmlformats.org/drawingml/2006/main">
            <a:off x="3895725" y="3114675"/>
            <a:ext cx="342900" cy="238125"/>
          </a:xfrm>
          <a:prstGeom xmlns:a="http://schemas.openxmlformats.org/drawingml/2006/main" prst="rightArrow">
            <a:avLst/>
          </a:prstGeom>
          <a:solidFill xmlns:a="http://schemas.openxmlformats.org/drawingml/2006/main">
            <a:srgbClr val="1635F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59280B8-BC4E-46C0-A9C5-BD3F8E4352DB}"/>
              </a:ext>
            </a:extLst>
          </p:cNvPr>
          <p:cNvSpPr>
            <a:spLocks xmlns:a="http://schemas.openxmlformats.org/drawingml/2006/main" noGrp="1"/>
          </p:cNvSpPr>
          <p:nvPr/>
        </p:nvSpPr>
        <p:spPr>
          <a:xfrm xmlns:a="http://schemas.openxmlformats.org/drawingml/2006/main">
            <a:off x="7905750" y="3114675"/>
            <a:ext cx="342900" cy="238125"/>
          </a:xfrm>
          <a:prstGeom xmlns:a="http://schemas.openxmlformats.org/drawingml/2006/main" prst="rightArrow">
            <a:avLst/>
          </a:prstGeom>
          <a:solidFill xmlns:a="http://schemas.openxmlformats.org/drawingml/2006/main">
            <a:srgbClr val="1635F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DD8C5DC-3CF7-4D0F-9CEB-B6A9E91125C9}"/>
              </a:ext>
            </a:extLst>
          </p:cNvPr>
          <p:cNvSpPr>
            <a:spLocks xmlns:a="http://schemas.openxmlformats.org/drawingml/2006/main" noGrp="1"/>
          </p:cNvSpPr>
          <p:nvPr/>
        </p:nvSpPr>
        <p:spPr>
          <a:xfrm xmlns:a="http://schemas.openxmlformats.org/drawingml/2006/main">
            <a:off x="381000" y="5029200"/>
            <a:ext cx="11430000" cy="933450"/>
          </a:xfrm>
          <a:prstGeom xmlns:a="http://schemas.openxmlformats.org/drawingml/2006/main" prst="rect">
            <a:avLst/>
          </a:prstGeom>
          <a:solidFill xmlns:a="http://schemas.openxmlformats.org/drawingml/2006/main">
            <a:srgbClr val="EDF0F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AFED1F1-73DB-417A-90B1-883234715E66}"/>
              </a:ext>
            </a:extLst>
          </p:cNvPr>
          <p:cNvSpPr>
            <a:spLocks xmlns:a="http://schemas.openxmlformats.org/drawingml/2006/main" noGrp="1"/>
          </p:cNvSpPr>
          <p:nvPr/>
        </p:nvSpPr>
        <p:spPr>
          <a:xfrm xmlns:a="http://schemas.openxmlformats.org/drawingml/2006/main">
            <a:off x="590550" y="5133975"/>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5FF"/>
                </a:solidFill>
                <a:latin typeface="Arial"/>
                <a:ea typeface="Arial"/>
                <a:cs typeface="Arial"/>
              </a:defRPr>
            </a:pPr>
            <a:r>
              <a:rPr sz="2700" b="1">
                <a:solidFill>
                  <a:srgbClr val="1635FF"/>
                </a:solidFill>
                <a:latin typeface="Arial"/>
                <a:ea typeface="Arial"/>
                <a:cs typeface="Arial"/>
              </a:rPr>
              <a:t>300</a:t>
            </a:r>
          </a:p>
        </p:txBody>
      </p:sp>
      <p:sp>
        <p:nvSpPr>
          <p:cNvPr id="27" name="">
            <a:extLst xmlns:a="http://schemas.openxmlformats.org/drawingml/2006/main">
              <a:ext uri="{FF2B5EF4-FFF2-40B4-BE49-F238E27FC236}">
                <a16:creationId xmlns:a16="http://schemas.microsoft.com/office/drawing/2014/main" id="{681A0264-9FDB-4CD8-B312-A0E85FC248C9}"/>
              </a:ext>
            </a:extLst>
          </p:cNvPr>
          <p:cNvSpPr>
            <a:spLocks xmlns:a="http://schemas.openxmlformats.org/drawingml/2006/main" noGrp="1"/>
          </p:cNvSpPr>
          <p:nvPr/>
        </p:nvSpPr>
        <p:spPr>
          <a:xfrm xmlns:a="http://schemas.openxmlformats.org/drawingml/2006/main">
            <a:off x="590550" y="55626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192F"/>
                </a:solidFill>
                <a:latin typeface="Arial"/>
                <a:ea typeface="Arial"/>
                <a:cs typeface="Arial"/>
              </a:defRPr>
            </a:pPr>
            <a:r>
              <a:rPr sz="1725" b="0">
                <a:solidFill>
                  <a:srgbClr val="14192F"/>
                </a:solidFill>
                <a:latin typeface="Arial"/>
                <a:ea typeface="Arial"/>
                <a:cs typeface="Arial"/>
              </a:rPr>
              <a:t>CV</a:t>
            </a:r>
          </a:p>
        </p:txBody>
      </p:sp>
      <p:sp>
        <p:nvSpPr>
          <p:cNvPr id="28" name="">
            <a:extLst xmlns:a="http://schemas.openxmlformats.org/drawingml/2006/main">
              <a:ext uri="{FF2B5EF4-FFF2-40B4-BE49-F238E27FC236}">
                <a16:creationId xmlns:a16="http://schemas.microsoft.com/office/drawing/2014/main" id="{CF4B4CFC-B335-46FE-A7A9-96AD25E661CC}"/>
              </a:ext>
            </a:extLst>
          </p:cNvPr>
          <p:cNvSpPr>
            <a:spLocks xmlns:a="http://schemas.openxmlformats.org/drawingml/2006/main" noGrp="1"/>
          </p:cNvSpPr>
          <p:nvPr/>
        </p:nvSpPr>
        <p:spPr>
          <a:xfrm xmlns:a="http://schemas.openxmlformats.org/drawingml/2006/main">
            <a:off x="3419475" y="5133975"/>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5FF"/>
                </a:solidFill>
                <a:latin typeface="Arial"/>
                <a:ea typeface="Arial"/>
                <a:cs typeface="Arial"/>
              </a:defRPr>
            </a:pPr>
            <a:r>
              <a:rPr sz="2700" b="1">
                <a:solidFill>
                  <a:srgbClr val="1635FF"/>
                </a:solidFill>
                <a:latin typeface="Arial"/>
                <a:ea typeface="Arial"/>
                <a:cs typeface="Arial"/>
              </a:rPr>
              <a:t>395</a:t>
            </a:r>
          </a:p>
        </p:txBody>
      </p:sp>
      <p:sp>
        <p:nvSpPr>
          <p:cNvPr id="29" name="">
            <a:extLst xmlns:a="http://schemas.openxmlformats.org/drawingml/2006/main">
              <a:ext uri="{FF2B5EF4-FFF2-40B4-BE49-F238E27FC236}">
                <a16:creationId xmlns:a16="http://schemas.microsoft.com/office/drawing/2014/main" id="{499D8AA0-0AC0-4375-A9CD-13DC8C26AC9A}"/>
              </a:ext>
            </a:extLst>
          </p:cNvPr>
          <p:cNvSpPr>
            <a:spLocks xmlns:a="http://schemas.openxmlformats.org/drawingml/2006/main" noGrp="1"/>
          </p:cNvSpPr>
          <p:nvPr/>
        </p:nvSpPr>
        <p:spPr>
          <a:xfrm xmlns:a="http://schemas.openxmlformats.org/drawingml/2006/main">
            <a:off x="3419475" y="55626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192F"/>
                </a:solidFill>
                <a:latin typeface="Arial"/>
                <a:ea typeface="Arial"/>
                <a:cs typeface="Arial"/>
              </a:defRPr>
            </a:pPr>
            <a:r>
              <a:rPr sz="1725" b="0">
                <a:solidFill>
                  <a:srgbClr val="14192F"/>
                </a:solidFill>
                <a:latin typeface="Arial"/>
                <a:ea typeface="Arial"/>
                <a:cs typeface="Arial"/>
              </a:rPr>
              <a:t>JD</a:t>
            </a:r>
          </a:p>
        </p:txBody>
      </p:sp>
      <p:sp>
        <p:nvSpPr>
          <p:cNvPr id="30" name="">
            <a:extLst xmlns:a="http://schemas.openxmlformats.org/drawingml/2006/main">
              <a:ext uri="{FF2B5EF4-FFF2-40B4-BE49-F238E27FC236}">
                <a16:creationId xmlns:a16="http://schemas.microsoft.com/office/drawing/2014/main" id="{D4C68971-85E2-41B6-BA56-0043A94818DD}"/>
              </a:ext>
            </a:extLst>
          </p:cNvPr>
          <p:cNvSpPr>
            <a:spLocks xmlns:a="http://schemas.openxmlformats.org/drawingml/2006/main" noGrp="1"/>
          </p:cNvSpPr>
          <p:nvPr/>
        </p:nvSpPr>
        <p:spPr>
          <a:xfrm xmlns:a="http://schemas.openxmlformats.org/drawingml/2006/main">
            <a:off x="6248400" y="5133975"/>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5FF"/>
                </a:solidFill>
                <a:latin typeface="Arial"/>
                <a:ea typeface="Arial"/>
                <a:cs typeface="Arial"/>
              </a:defRPr>
            </a:pPr>
            <a:r>
              <a:rPr sz="2700" b="1">
                <a:solidFill>
                  <a:srgbClr val="1635FF"/>
                </a:solidFill>
                <a:latin typeface="Arial"/>
                <a:ea typeface="Arial"/>
                <a:cs typeface="Arial"/>
              </a:rPr>
              <a:t>25</a:t>
            </a:r>
          </a:p>
        </p:txBody>
      </p:sp>
      <p:sp>
        <p:nvSpPr>
          <p:cNvPr id="31" name="">
            <a:extLst xmlns:a="http://schemas.openxmlformats.org/drawingml/2006/main">
              <a:ext uri="{FF2B5EF4-FFF2-40B4-BE49-F238E27FC236}">
                <a16:creationId xmlns:a16="http://schemas.microsoft.com/office/drawing/2014/main" id="{9E094779-6173-4870-8836-1394DB827D81}"/>
              </a:ext>
            </a:extLst>
          </p:cNvPr>
          <p:cNvSpPr>
            <a:spLocks xmlns:a="http://schemas.openxmlformats.org/drawingml/2006/main" noGrp="1"/>
          </p:cNvSpPr>
          <p:nvPr/>
        </p:nvSpPr>
        <p:spPr>
          <a:xfrm xmlns:a="http://schemas.openxmlformats.org/drawingml/2006/main">
            <a:off x="6248400" y="55626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192F"/>
                </a:solidFill>
                <a:latin typeface="Arial"/>
                <a:ea typeface="Arial"/>
                <a:cs typeface="Arial"/>
              </a:defRPr>
            </a:pPr>
            <a:r>
              <a:rPr sz="1725" b="0">
                <a:solidFill>
                  <a:srgbClr val="14192F"/>
                </a:solidFill>
                <a:latin typeface="Arial"/>
                <a:ea typeface="Arial"/>
                <a:cs typeface="Arial"/>
              </a:rPr>
              <a:t>framework</a:t>
            </a:r>
          </a:p>
        </p:txBody>
      </p:sp>
      <p:sp>
        <p:nvSpPr>
          <p:cNvPr id="32" name="">
            <a:extLst xmlns:a="http://schemas.openxmlformats.org/drawingml/2006/main">
              <a:ext uri="{FF2B5EF4-FFF2-40B4-BE49-F238E27FC236}">
                <a16:creationId xmlns:a16="http://schemas.microsoft.com/office/drawing/2014/main" id="{056FC06A-CADA-4E08-B333-5A1133219321}"/>
              </a:ext>
            </a:extLst>
          </p:cNvPr>
          <p:cNvSpPr>
            <a:spLocks xmlns:a="http://schemas.openxmlformats.org/drawingml/2006/main" noGrp="1"/>
          </p:cNvSpPr>
          <p:nvPr/>
        </p:nvSpPr>
        <p:spPr>
          <a:xfrm xmlns:a="http://schemas.openxmlformats.org/drawingml/2006/main">
            <a:off x="9077325" y="5133975"/>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5FF"/>
                </a:solidFill>
                <a:latin typeface="Arial"/>
                <a:ea typeface="Arial"/>
                <a:cs typeface="Arial"/>
              </a:defRPr>
            </a:pPr>
            <a:r>
              <a:rPr sz="2700" b="1">
                <a:solidFill>
                  <a:srgbClr val="1635FF"/>
                </a:solidFill>
                <a:latin typeface="Arial"/>
                <a:ea typeface="Arial"/>
                <a:cs typeface="Arial"/>
              </a:rPr>
              <a:t>350</a:t>
            </a:r>
          </a:p>
        </p:txBody>
      </p:sp>
      <p:sp>
        <p:nvSpPr>
          <p:cNvPr id="33" name="">
            <a:extLst xmlns:a="http://schemas.openxmlformats.org/drawingml/2006/main">
              <a:ext uri="{FF2B5EF4-FFF2-40B4-BE49-F238E27FC236}">
                <a16:creationId xmlns:a16="http://schemas.microsoft.com/office/drawing/2014/main" id="{C7F9EF71-032F-424F-801A-07AA323644AD}"/>
              </a:ext>
            </a:extLst>
          </p:cNvPr>
          <p:cNvSpPr>
            <a:spLocks xmlns:a="http://schemas.openxmlformats.org/drawingml/2006/main" noGrp="1"/>
          </p:cNvSpPr>
          <p:nvPr/>
        </p:nvSpPr>
        <p:spPr>
          <a:xfrm xmlns:a="http://schemas.openxmlformats.org/drawingml/2006/main">
            <a:off x="9077325" y="55626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192F"/>
                </a:solidFill>
                <a:latin typeface="Arial"/>
                <a:ea typeface="Arial"/>
                <a:cs typeface="Arial"/>
              </a:defRPr>
            </a:pPr>
            <a:r>
              <a:rPr sz="1725" b="0">
                <a:solidFill>
                  <a:srgbClr val="14192F"/>
                </a:solidFill>
                <a:latin typeface="Arial"/>
                <a:ea typeface="Arial"/>
                <a:cs typeface="Arial"/>
              </a:rPr>
              <a:t>câu hỏi kỹ thuật</a:t>
            </a:r>
          </a:p>
        </p:txBody>
      </p:sp>
      <p:sp>
        <p:nvSpPr>
          <p:cNvPr id="34" name="">
            <a:extLst xmlns:a="http://schemas.openxmlformats.org/drawingml/2006/main">
              <a:ext uri="{FF2B5EF4-FFF2-40B4-BE49-F238E27FC236}">
                <a16:creationId xmlns:a16="http://schemas.microsoft.com/office/drawing/2014/main" id="{E3D5023B-A485-4369-91D2-67EA53AE7B75}"/>
              </a:ext>
            </a:extLst>
          </p:cNvPr>
          <p:cNvSpPr>
            <a:spLocks xmlns:a="http://schemas.openxmlformats.org/drawingml/2006/main" noGrp="1"/>
          </p:cNvSpPr>
          <p:nvPr/>
        </p:nvSpPr>
        <p:spPr>
          <a:xfrm xmlns:a="http://schemas.openxmlformats.org/drawingml/2006/main">
            <a:off x="381000" y="6086475"/>
            <a:ext cx="1133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66078"/>
                </a:solidFill>
                <a:latin typeface="Arial"/>
                <a:ea typeface="Arial"/>
                <a:cs typeface="Arial"/>
              </a:defRPr>
            </a:pPr>
            <a:r>
              <a:rPr sz="1575" b="0">
                <a:solidFill>
                  <a:srgbClr val="566078"/>
                </a:solidFill>
                <a:latin typeface="Arial"/>
                <a:ea typeface="Arial"/>
                <a:cs typeface="Arial"/>
              </a:rPr>
              <a:t>Phạm vi: prototype truy xuất ngữ cảnh. AI thực hiện buổi phỏng vấn ở bước sau.</a:t>
            </a:r>
          </a:p>
        </p:txBody>
      </p:sp>
      <p:sp>
        <p:nvSpPr>
          <p:cNvPr id="35" name="">
            <a:extLst xmlns:a="http://schemas.openxmlformats.org/drawingml/2006/main">
              <a:ext uri="{FF2B5EF4-FFF2-40B4-BE49-F238E27FC236}">
                <a16:creationId xmlns:a16="http://schemas.microsoft.com/office/drawing/2014/main" id="{118F8885-E8F2-4E4E-B7CF-22B7E64AD971}"/>
              </a:ext>
            </a:extLst>
          </p:cNvPr>
          <p:cNvSpPr>
            <a:spLocks xmlns:a="http://schemas.openxmlformats.org/drawingml/2006/main" noGrp="1"/>
          </p:cNvSpPr>
          <p:nvPr/>
        </p:nvSpPr>
        <p:spPr>
          <a:xfrm xmlns:a="http://schemas.openxmlformats.org/drawingml/2006/main">
            <a:off x="381000" y="64389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6078"/>
                </a:solidFill>
                <a:latin typeface="Arial"/>
                <a:ea typeface="Arial"/>
                <a:cs typeface="Arial"/>
              </a:defRPr>
            </a:pPr>
            <a:r>
              <a:rPr sz="1050" b="0">
                <a:solidFill>
                  <a:srgbClr val="566078"/>
                </a:solidFill>
                <a:latin typeface="Arial"/>
                <a:ea typeface="Arial"/>
                <a:cs typeface="Arial"/>
              </a:rPr>
              <a:t>Nguồn: dữ liệu project evaludate và pipeline tạo context</a:t>
            </a:r>
          </a:p>
        </p:txBody>
      </p:sp>
    </p:spTree>
    <p:extLst>
      <p:ext uri="{BB962C8B-B14F-4D97-AF65-F5344CB8AC3E}">
        <p14:creationId xmlns:p14="http://schemas.microsoft.com/office/powerpoint/2010/main" val="16588443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0538C6E-4AD9-4EC3-8F6A-CFC1004E51BC}"/>
              </a:ext>
            </a:extLst>
          </p:cNvPr>
          <p:cNvSpPr>
            <a:spLocks xmlns:a="http://schemas.openxmlformats.org/drawingml/2006/main" noGrp="1"/>
          </p:cNvSpPr>
          <p:nvPr/>
        </p:nvSpPr>
        <p:spPr>
          <a:xfrm xmlns:a="http://schemas.openxmlformats.org/drawingml/2006/main">
            <a:off x="4953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Tổng quan</a:t>
            </a:r>
          </a:p>
        </p:txBody>
      </p:sp>
      <p:sp>
        <p:nvSpPr>
          <p:cNvPr id="2" name="">
            <a:extLst xmlns:a="http://schemas.openxmlformats.org/drawingml/2006/main">
              <a:ext uri="{FF2B5EF4-FFF2-40B4-BE49-F238E27FC236}">
                <a16:creationId xmlns:a16="http://schemas.microsoft.com/office/drawing/2014/main" id="{82186D05-3505-48D4-9052-3ED06BBE3148}"/>
              </a:ext>
            </a:extLst>
          </p:cNvPr>
          <p:cNvSpPr>
            <a:spLocks xmlns:a="http://schemas.openxmlformats.org/drawingml/2006/main" noGrp="1"/>
          </p:cNvSpPr>
          <p:nvPr/>
        </p:nvSpPr>
        <p:spPr>
          <a:xfrm xmlns:a="http://schemas.openxmlformats.org/drawingml/2006/main">
            <a:off x="19431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Thu thập</a:t>
            </a:r>
          </a:p>
        </p:txBody>
      </p:sp>
      <p:sp>
        <p:nvSpPr>
          <p:cNvPr id="3" name="">
            <a:extLst xmlns:a="http://schemas.openxmlformats.org/drawingml/2006/main">
              <a:ext uri="{FF2B5EF4-FFF2-40B4-BE49-F238E27FC236}">
                <a16:creationId xmlns:a16="http://schemas.microsoft.com/office/drawing/2014/main" id="{725144DC-A87E-4862-95AE-92C7DA7F9C25}"/>
              </a:ext>
            </a:extLst>
          </p:cNvPr>
          <p:cNvSpPr>
            <a:spLocks xmlns:a="http://schemas.openxmlformats.org/drawingml/2006/main" noGrp="1"/>
          </p:cNvSpPr>
          <p:nvPr/>
        </p:nvSpPr>
        <p:spPr>
          <a:xfrm xmlns:a="http://schemas.openxmlformats.org/drawingml/2006/main">
            <a:off x="3276600" y="190500"/>
            <a:ext cx="1333500" cy="323850"/>
          </a:xfrm>
          <a:prstGeom xmlns:a="http://schemas.openxmlformats.org/drawingml/2006/main" prst="roundRect">
            <a:avLst>
              <a:gd name="adj" fmla="val 23529"/>
            </a:avLst>
          </a:prstGeom>
          <a:solidFill xmlns:a="http://schemas.openxmlformats.org/drawingml/2006/main">
            <a:srgbClr val="1635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14D86DF-3215-40B0-8168-B68092EED11A}"/>
              </a:ext>
            </a:extLst>
          </p:cNvPr>
          <p:cNvSpPr>
            <a:spLocks xmlns:a="http://schemas.openxmlformats.org/drawingml/2006/main" noGrp="1"/>
          </p:cNvSpPr>
          <p:nvPr/>
        </p:nvSpPr>
        <p:spPr>
          <a:xfrm xmlns:a="http://schemas.openxmlformats.org/drawingml/2006/main">
            <a:off x="33909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Arial"/>
                <a:ea typeface="Arial"/>
                <a:cs typeface="Arial"/>
              </a:defRPr>
            </a:pPr>
            <a:r>
              <a:rPr sz="1425" b="1">
                <a:solidFill>
                  <a:srgbClr val="FFFFFF"/>
                </a:solidFill>
                <a:latin typeface="Arial"/>
                <a:ea typeface="Arial"/>
                <a:cs typeface="Arial"/>
              </a:rPr>
              <a:t>EDA</a:t>
            </a:r>
          </a:p>
        </p:txBody>
      </p:sp>
      <p:sp>
        <p:nvSpPr>
          <p:cNvPr id="5" name="">
            <a:extLst xmlns:a="http://schemas.openxmlformats.org/drawingml/2006/main">
              <a:ext uri="{FF2B5EF4-FFF2-40B4-BE49-F238E27FC236}">
                <a16:creationId xmlns:a16="http://schemas.microsoft.com/office/drawing/2014/main" id="{2BBACF2D-4B74-4A69-8D71-4A66A23C52B0}"/>
              </a:ext>
            </a:extLst>
          </p:cNvPr>
          <p:cNvSpPr>
            <a:spLocks xmlns:a="http://schemas.openxmlformats.org/drawingml/2006/main" noGrp="1"/>
          </p:cNvSpPr>
          <p:nvPr/>
        </p:nvSpPr>
        <p:spPr>
          <a:xfrm xmlns:a="http://schemas.openxmlformats.org/drawingml/2006/main">
            <a:off x="48387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Đánh giá</a:t>
            </a:r>
          </a:p>
        </p:txBody>
      </p:sp>
      <p:sp>
        <p:nvSpPr>
          <p:cNvPr id="6" name="">
            <a:extLst xmlns:a="http://schemas.openxmlformats.org/drawingml/2006/main">
              <a:ext uri="{FF2B5EF4-FFF2-40B4-BE49-F238E27FC236}">
                <a16:creationId xmlns:a16="http://schemas.microsoft.com/office/drawing/2014/main" id="{13862303-9162-4489-A9D7-9C3F82CE5D50}"/>
              </a:ext>
            </a:extLst>
          </p:cNvPr>
          <p:cNvSpPr>
            <a:spLocks xmlns:a="http://schemas.openxmlformats.org/drawingml/2006/main" noGrp="1"/>
          </p:cNvSpPr>
          <p:nvPr/>
        </p:nvSpPr>
        <p:spPr>
          <a:xfrm xmlns:a="http://schemas.openxmlformats.org/drawingml/2006/main">
            <a:off x="0" y="647700"/>
            <a:ext cx="12192000" cy="590550"/>
          </a:xfrm>
          <a:prstGeom xmlns:a="http://schemas.openxmlformats.org/drawingml/2006/main" prst="rect">
            <a:avLst/>
          </a:prstGeom>
          <a:solidFill xmlns:a="http://schemas.openxmlformats.org/drawingml/2006/main">
            <a:srgbClr val="1635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3EED2BC-C366-4263-8285-B80C65B8936F}"/>
              </a:ext>
            </a:extLst>
          </p:cNvPr>
          <p:cNvSpPr>
            <a:spLocks xmlns:a="http://schemas.openxmlformats.org/drawingml/2006/main" noGrp="1"/>
          </p:cNvSpPr>
          <p:nvPr/>
        </p:nvSpPr>
        <p:spPr>
          <a:xfrm xmlns:a="http://schemas.openxmlformats.org/drawingml/2006/main">
            <a:off x="381000" y="742950"/>
            <a:ext cx="1143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EDA định hướng lưu trữ và truy xuất</a:t>
            </a:r>
          </a:p>
        </p:txBody>
      </p:sp>
      <p:sp>
        <p:nvSpPr>
          <p:cNvPr id="8" name="">
            <a:extLst xmlns:a="http://schemas.openxmlformats.org/drawingml/2006/main">
              <a:ext uri="{FF2B5EF4-FFF2-40B4-BE49-F238E27FC236}">
                <a16:creationId xmlns:a16="http://schemas.microsoft.com/office/drawing/2014/main" id="{728C731E-59C9-4A8E-BEF8-44FFC0BBD353}"/>
              </a:ext>
            </a:extLst>
          </p:cNvPr>
          <p:cNvSpPr>
            <a:spLocks xmlns:a="http://schemas.openxmlformats.org/drawingml/2006/main" noGrp="1"/>
          </p:cNvSpPr>
          <p:nvPr/>
        </p:nvSpPr>
        <p:spPr>
          <a:xfrm xmlns:a="http://schemas.openxmlformats.org/drawingml/2006/main">
            <a:off x="11268075" y="64293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35FF"/>
                </a:solidFill>
                <a:latin typeface="Arial"/>
                <a:ea typeface="Arial"/>
                <a:cs typeface="Arial"/>
              </a:defRPr>
            </a:pPr>
            <a:r>
              <a:rPr sz="1275" b="1">
                <a:solidFill>
                  <a:srgbClr val="1635FF"/>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2C0F077C-7DFE-4B4D-B63E-22A69BBDB10D}"/>
              </a:ext>
            </a:extLst>
          </p:cNvPr>
          <p:cNvSpPr>
            <a:spLocks xmlns:a="http://schemas.openxmlformats.org/drawingml/2006/main" noGrp="1"/>
          </p:cNvSpPr>
          <p:nvPr/>
        </p:nvSpPr>
        <p:spPr>
          <a:xfrm xmlns:a="http://schemas.openxmlformats.org/drawingml/2006/main">
            <a:off x="381000" y="1419225"/>
            <a:ext cx="1143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192F"/>
                </a:solidFill>
                <a:latin typeface="Arial"/>
                <a:ea typeface="Arial"/>
                <a:cs typeface="Arial"/>
              </a:defRPr>
            </a:pPr>
            <a:r>
              <a:rPr sz="1950" b="0">
                <a:solidFill>
                  <a:srgbClr val="14192F"/>
                </a:solidFill>
                <a:latin typeface="Arial"/>
                <a:ea typeface="Arial"/>
                <a:cs typeface="Arial"/>
              </a:rPr>
              <a:t>300 CV, 395 JD và 25 framework cho thấy ba điểm cần xử lý</a:t>
            </a:r>
          </a:p>
        </p:txBody>
      </p:sp>
      <p:graphicFrame>
        <p:nvGraphicFramePr>
          <p:cNvPr id="34" name=""/>
          <p:cNvGraphicFramePr/>
          <p:nvPr/>
        </p:nvGraphicFramePr>
        <p:xfrm>
          <a:off xmlns:a="http://schemas.openxmlformats.org/drawingml/2006/main" x="381000" y="2028825"/>
          <a:ext xmlns:a="http://schemas.openxmlformats.org/drawingml/2006/main" cx="11430000" cy="2867025"/>
        </p:xfrm>
        <a:graphic xmlns:a="http://schemas.openxmlformats.org/drawingml/2006/main">
          <a:graphicData uri="http://schemas.openxmlformats.org/drawingml/2006/table">
            <a:tbl>
              <a:tblPr/>
              <a:tblGrid>
                <a:gridCol w="3762375"/>
                <a:gridCol w="3524250"/>
                <a:gridCol w="4143375"/>
              </a:tblGrid>
              <a:tr h="716756">
                <a:tc>
                  <a:txBody>
                    <a:bodyPr/>
                    <a:lstStyle/>
                    <a:p>
                      <a:r>
                        <a:rPr sz="1725" b="1">
                          <a:solidFill>
                            <a:srgbClr val="FFFFFF"/>
                          </a:solidFill>
                          <a:latin typeface="Arial"/>
                          <a:ea typeface="Arial"/>
                          <a:cs typeface="Arial"/>
                        </a:rPr>
                        <a:t>Bằng chứng từ dữ liệu</a:t>
                      </a:r>
                    </a:p>
                  </a:txBody>
                  <a:tcPr marL="91440" marR="91440" marT="45720" marB="45720">
                    <a:solidFill>
                      <a:srgbClr val="1635FF"/>
                    </a:solidFill>
                  </a:tcPr>
                </a:tc>
                <a:tc>
                  <a:txBody>
                    <a:bodyPr/>
                    <a:lstStyle/>
                    <a:p>
                      <a:r>
                        <a:rPr sz="1725" b="1">
                          <a:solidFill>
                            <a:srgbClr val="FFFFFF"/>
                          </a:solidFill>
                          <a:latin typeface="Arial"/>
                          <a:ea typeface="Arial"/>
                          <a:cs typeface="Arial"/>
                        </a:rPr>
                        <a:t>Insight</a:t>
                      </a:r>
                    </a:p>
                  </a:txBody>
                  <a:tcPr marL="91440" marR="91440" marT="45720" marB="45720">
                    <a:solidFill>
                      <a:srgbClr val="1635FF"/>
                    </a:solidFill>
                  </a:tcPr>
                </a:tc>
                <a:tc>
                  <a:txBody>
                    <a:bodyPr/>
                    <a:lstStyle/>
                    <a:p>
                      <a:r>
                        <a:rPr sz="1725" b="1">
                          <a:solidFill>
                            <a:srgbClr val="FFFFFF"/>
                          </a:solidFill>
                          <a:latin typeface="Arial"/>
                          <a:ea typeface="Arial"/>
                          <a:cs typeface="Arial"/>
                        </a:rPr>
                        <a:t>Cách lưu và truy xuất</a:t>
                      </a:r>
                    </a:p>
                  </a:txBody>
                  <a:tcPr marL="91440" marR="91440" marT="45720" marB="45720">
                    <a:solidFill>
                      <a:srgbClr val="1635FF"/>
                    </a:solidFill>
                  </a:tcPr>
                </a:tc>
              </a:tr>
              <a:tr h="716756">
                <a:tc>
                  <a:txBody>
                    <a:bodyPr/>
                    <a:lstStyle/>
                    <a:p>
                      <a:r>
                        <a:rPr sz="1875" b="0">
                          <a:solidFill>
                            <a:srgbClr val="14192F"/>
                          </a:solidFill>
                          <a:latin typeface="Arial"/>
                          <a:ea typeface="Arial"/>
                          <a:cs typeface="Arial"/>
                        </a:rPr>
                        <a:t>18,2% trùng từ vựng kỹ năng</a:t>
                      </a:r>
                    </a:p>
                    <a:p>
                      <a:r>
                        <a:rPr sz="1875" b="0">
                          <a:solidFill>
                            <a:srgbClr val="14192F"/>
                          </a:solidFill>
                          <a:latin typeface="Arial"/>
                          <a:ea typeface="Arial"/>
                          <a:cs typeface="Arial"/>
                        </a:rPr>
                        <a:t>CV 119, JD 69, chung 29</a:t>
                      </a:r>
                    </a:p>
                  </a:txBody>
                  <a:tcPr marL="91440" marR="91440" marT="45720" marB="45720">
                    <a:solidFill>
                      <a:srgbClr val="EDF0FF"/>
                    </a:solidFill>
                  </a:tcPr>
                </a:tc>
                <a:tc>
                  <a:txBody>
                    <a:bodyPr/>
                    <a:lstStyle/>
                    <a:p>
                      <a:r>
                        <a:rPr sz="1875" b="0">
                          <a:solidFill>
                            <a:srgbClr val="14192F"/>
                          </a:solidFill>
                          <a:latin typeface="Arial"/>
                          <a:ea typeface="Arial"/>
                          <a:cs typeface="Arial"/>
                        </a:rPr>
                        <a:t>Cần đối soát tên và</a:t>
                      </a:r>
                    </a:p>
                    <a:p>
                      <a:r>
                        <a:rPr sz="1875" b="0">
                          <a:solidFill>
                            <a:srgbClr val="14192F"/>
                          </a:solidFill>
                          <a:latin typeface="Arial"/>
                          <a:ea typeface="Arial"/>
                          <a:cs typeface="Arial"/>
                        </a:rPr>
                        <a:t>nhóm kỹ năng</a:t>
                      </a:r>
                    </a:p>
                  </a:txBody>
                  <a:tcPr marL="91440" marR="91440" marT="45720" marB="45720">
                    <a:solidFill>
                      <a:srgbClr val="EDF0FF"/>
                    </a:solidFill>
                  </a:tcPr>
                </a:tc>
                <a:tc>
                  <a:txBody>
                    <a:bodyPr/>
                    <a:lstStyle/>
                    <a:p>
                      <a:r>
                        <a:rPr sz="1875" b="0">
                          <a:solidFill>
                            <a:srgbClr val="14192F"/>
                          </a:solidFill>
                          <a:latin typeface="Arial"/>
                          <a:ea typeface="Arial"/>
                          <a:cs typeface="Arial"/>
                        </a:rPr>
                        <a:t>Chuẩn hóa alias trước</a:t>
                      </a:r>
                    </a:p>
                    <a:p>
                      <a:r>
                        <a:rPr sz="1875" b="0">
                          <a:solidFill>
                            <a:srgbClr val="14192F"/>
                          </a:solidFill>
                          <a:latin typeface="Arial"/>
                          <a:ea typeface="Arial"/>
                          <a:cs typeface="Arial"/>
                        </a:rPr>
                        <a:t>khi xác định skill gap</a:t>
                      </a:r>
                    </a:p>
                  </a:txBody>
                  <a:tcPr marL="91440" marR="91440" marT="45720" marB="45720">
                    <a:solidFill>
                      <a:srgbClr val="EDF0FF"/>
                    </a:solidFill>
                  </a:tcPr>
                </a:tc>
              </a:tr>
              <a:tr h="716756">
                <a:tc>
                  <a:txBody>
                    <a:bodyPr/>
                    <a:lstStyle/>
                    <a:p>
                      <a:r>
                        <a:rPr sz="1875" b="0">
                          <a:solidFill>
                            <a:srgbClr val="14192F"/>
                          </a:solidFill>
                          <a:latin typeface="Arial"/>
                          <a:ea typeface="Arial"/>
                          <a:cs typeface="Arial"/>
                        </a:rPr>
                        <a:t>350 câu hỏi kỹ thuật</a:t>
                      </a:r>
                    </a:p>
                    <a:p>
                      <a:r>
                        <a:rPr sz="1875" b="0">
                          <a:solidFill>
                            <a:srgbClr val="14192F"/>
                          </a:solidFill>
                          <a:latin typeface="Arial"/>
                          <a:ea typeface="Arial"/>
                          <a:cs typeface="Arial"/>
                        </a:rPr>
                        <a:t>đều có đáp án + rubric 3 mức</a:t>
                      </a:r>
                    </a:p>
                  </a:txBody>
                  <a:tcPr marL="91440" marR="91440" marT="45720" marB="45720">
                    <a:solidFill>
                      <a:srgbClr val="F8F9FD"/>
                    </a:solidFill>
                  </a:tcPr>
                </a:tc>
                <a:tc>
                  <a:txBody>
                    <a:bodyPr/>
                    <a:lstStyle/>
                    <a:p>
                      <a:r>
                        <a:rPr sz="1875" b="0">
                          <a:solidFill>
                            <a:srgbClr val="14192F"/>
                          </a:solidFill>
                          <a:latin typeface="Arial"/>
                          <a:ea typeface="Arial"/>
                          <a:cs typeface="Arial"/>
                        </a:rPr>
                        <a:t>Câu hỏi cần đi cùng</a:t>
                      </a:r>
                    </a:p>
                    <a:p>
                      <a:r>
                        <a:rPr sz="1875" b="0">
                          <a:solidFill>
                            <a:srgbClr val="14192F"/>
                          </a:solidFill>
                          <a:latin typeface="Arial"/>
                          <a:ea typeface="Arial"/>
                          <a:cs typeface="Arial"/>
                        </a:rPr>
                        <a:t>tiêu chí chấm</a:t>
                      </a:r>
                    </a:p>
                  </a:txBody>
                  <a:tcPr marL="91440" marR="91440" marT="45720" marB="45720">
                    <a:solidFill>
                      <a:srgbClr val="F8F9FD"/>
                    </a:solidFill>
                  </a:tcPr>
                </a:tc>
                <a:tc>
                  <a:txBody>
                    <a:bodyPr/>
                    <a:lstStyle/>
                    <a:p>
                      <a:r>
                        <a:rPr sz="1875" b="0">
                          <a:solidFill>
                            <a:srgbClr val="14192F"/>
                          </a:solidFill>
                          <a:latin typeface="Arial"/>
                          <a:ea typeface="Arial"/>
                          <a:cs typeface="Arial"/>
                        </a:rPr>
                        <a:t>Lưu nguyên bộ câu hỏi</a:t>
                      </a:r>
                    </a:p>
                    <a:p>
                      <a:r>
                        <a:rPr sz="1875" b="0">
                          <a:solidFill>
                            <a:srgbClr val="14192F"/>
                          </a:solidFill>
                          <a:latin typeface="Arial"/>
                          <a:ea typeface="Arial"/>
                          <a:cs typeface="Arial"/>
                        </a:rPr>
                        <a:t>Khóa: vị trí + question_id</a:t>
                      </a:r>
                    </a:p>
                  </a:txBody>
                  <a:tcPr marL="91440" marR="91440" marT="45720" marB="45720">
                    <a:solidFill>
                      <a:srgbClr val="F8F9FD"/>
                    </a:solidFill>
                  </a:tcPr>
                </a:tc>
              </a:tr>
              <a:tr h="716756">
                <a:tc>
                  <a:txBody>
                    <a:bodyPr/>
                    <a:lstStyle/>
                    <a:p>
                      <a:r>
                        <a:rPr sz="1875" b="0">
                          <a:solidFill>
                            <a:srgbClr val="14192F"/>
                          </a:solidFill>
                          <a:latin typeface="Arial"/>
                          <a:ea typeface="Arial"/>
                          <a:cs typeface="Arial"/>
                        </a:rPr>
                        <a:t>61,7% CV là Fresher</a:t>
                      </a:r>
                    </a:p>
                    <a:p>
                      <a:r>
                        <a:rPr sz="1875" b="0">
                          <a:solidFill>
                            <a:srgbClr val="14192F"/>
                          </a:solidFill>
                          <a:latin typeface="Arial"/>
                          <a:ea typeface="Arial"/>
                          <a:cs typeface="Arial"/>
                        </a:rPr>
                        <a:t>53,4% JD là Junior</a:t>
                      </a:r>
                    </a:p>
                  </a:txBody>
                  <a:tcPr marL="91440" marR="91440" marT="45720" marB="45720">
                    <a:solidFill>
                      <a:srgbClr val="EDF0FF"/>
                    </a:solidFill>
                  </a:tcPr>
                </a:tc>
                <a:tc>
                  <a:txBody>
                    <a:bodyPr/>
                    <a:lstStyle/>
                    <a:p>
                      <a:r>
                        <a:rPr sz="1875" b="0">
                          <a:solidFill>
                            <a:srgbClr val="14192F"/>
                          </a:solidFill>
                          <a:latin typeface="Arial"/>
                          <a:ea typeface="Arial"/>
                          <a:cs typeface="Arial"/>
                        </a:rPr>
                        <a:t>Phân bố cấp độ lệch nhau</a:t>
                      </a:r>
                    </a:p>
                    <a:p>
                      <a:r>
                        <a:rPr sz="1875" b="0">
                          <a:solidFill>
                            <a:srgbClr val="14192F"/>
                          </a:solidFill>
                          <a:latin typeface="Arial"/>
                          <a:ea typeface="Arial"/>
                          <a:cs typeface="Arial"/>
                        </a:rPr>
                        <a:t>14% CV ngoài framework</a:t>
                      </a:r>
                    </a:p>
                  </a:txBody>
                  <a:tcPr marL="91440" marR="91440" marT="45720" marB="45720">
                    <a:solidFill>
                      <a:srgbClr val="EDF0FF"/>
                    </a:solidFill>
                  </a:tcPr>
                </a:tc>
                <a:tc>
                  <a:txBody>
                    <a:bodyPr/>
                    <a:lstStyle/>
                    <a:p>
                      <a:r>
                        <a:rPr sz="1875" b="0">
                          <a:solidFill>
                            <a:srgbClr val="14192F"/>
                          </a:solidFill>
                          <a:latin typeface="Arial"/>
                          <a:ea typeface="Arial"/>
                          <a:cs typeface="Arial"/>
                        </a:rPr>
                        <a:t>Lọc role, ưu tiên level</a:t>
                      </a:r>
                    </a:p>
                    <a:p>
                      <a:r>
                        <a:rPr sz="1875" b="0">
                          <a:solidFill>
                            <a:srgbClr val="14192F"/>
                          </a:solidFill>
                          <a:latin typeface="Arial"/>
                          <a:ea typeface="Arial"/>
                          <a:cs typeface="Arial"/>
                        </a:rPr>
                        <a:t>Fallback khi thiếu dữ liệu</a:t>
                      </a:r>
                    </a:p>
                  </a:txBody>
                  <a:tcPr marL="91440" marR="91440" marT="45720" marB="45720">
                    <a:solidFill>
                      <a:srgbClr val="EDF0FF"/>
                    </a:solidFill>
                  </a:tcPr>
                </a:tc>
              </a:tr>
            </a:tbl>
          </a:graphicData>
        </a:graphic>
      </p:graphicFrame>
      <p:sp>
        <p:nvSpPr>
          <p:cNvPr id="11" name="">
            <a:extLst xmlns:a="http://schemas.openxmlformats.org/drawingml/2006/main">
              <a:ext uri="{FF2B5EF4-FFF2-40B4-BE49-F238E27FC236}">
                <a16:creationId xmlns:a16="http://schemas.microsoft.com/office/drawing/2014/main" id="{34F133E0-F475-4337-A396-E2FF0D7D5B30}"/>
              </a:ext>
            </a:extLst>
          </p:cNvPr>
          <p:cNvSpPr>
            <a:spLocks xmlns:a="http://schemas.openxmlformats.org/drawingml/2006/main" noGrp="1"/>
          </p:cNvSpPr>
          <p:nvPr/>
        </p:nvSpPr>
        <p:spPr>
          <a:xfrm xmlns:a="http://schemas.openxmlformats.org/drawingml/2006/main">
            <a:off x="381000" y="5153025"/>
            <a:ext cx="2428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35FF"/>
                </a:solidFill>
                <a:latin typeface="Arial"/>
                <a:ea typeface="Arial"/>
                <a:cs typeface="Arial"/>
              </a:defRPr>
            </a:pPr>
            <a:r>
              <a:rPr sz="1800" b="1">
                <a:solidFill>
                  <a:srgbClr val="1635FF"/>
                </a:solidFill>
                <a:latin typeface="Arial"/>
                <a:ea typeface="Arial"/>
                <a:cs typeface="Arial"/>
              </a:rPr>
              <a:t>Lưu trữ hiện tại</a:t>
            </a:r>
          </a:p>
        </p:txBody>
      </p:sp>
      <p:sp>
        <p:nvSpPr>
          <p:cNvPr id="12" name="">
            <a:extLst xmlns:a="http://schemas.openxmlformats.org/drawingml/2006/main">
              <a:ext uri="{FF2B5EF4-FFF2-40B4-BE49-F238E27FC236}">
                <a16:creationId xmlns:a16="http://schemas.microsoft.com/office/drawing/2014/main" id="{9005435D-7131-4231-BD82-70A6B1FE6850}"/>
              </a:ext>
            </a:extLst>
          </p:cNvPr>
          <p:cNvSpPr>
            <a:spLocks xmlns:a="http://schemas.openxmlformats.org/drawingml/2006/main" noGrp="1"/>
          </p:cNvSpPr>
          <p:nvPr/>
        </p:nvSpPr>
        <p:spPr>
          <a:xfrm xmlns:a="http://schemas.openxmlformats.org/drawingml/2006/main">
            <a:off x="2857500" y="5153025"/>
            <a:ext cx="2609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192F"/>
                </a:solidFill>
                <a:latin typeface="Arial"/>
                <a:ea typeface="Arial"/>
                <a:cs typeface="Arial"/>
              </a:defRPr>
            </a:pPr>
            <a:r>
              <a:rPr sz="1875" b="1">
                <a:solidFill>
                  <a:srgbClr val="14192F"/>
                </a:solidFill>
                <a:latin typeface="Arial"/>
                <a:ea typeface="Arial"/>
                <a:cs typeface="Arial"/>
              </a:rPr>
              <a:t>SQLite + JSON</a:t>
            </a:r>
          </a:p>
        </p:txBody>
      </p:sp>
      <p:sp>
        <p:nvSpPr>
          <p:cNvPr id="13" name="">
            <a:extLst xmlns:a="http://schemas.openxmlformats.org/drawingml/2006/main">
              <a:ext uri="{FF2B5EF4-FFF2-40B4-BE49-F238E27FC236}">
                <a16:creationId xmlns:a16="http://schemas.microsoft.com/office/drawing/2014/main" id="{95F058DC-062D-4E5E-8A14-585FA5B6319B}"/>
              </a:ext>
            </a:extLst>
          </p:cNvPr>
          <p:cNvSpPr>
            <a:spLocks xmlns:a="http://schemas.openxmlformats.org/drawingml/2006/main" noGrp="1"/>
          </p:cNvSpPr>
          <p:nvPr/>
        </p:nvSpPr>
        <p:spPr>
          <a:xfrm xmlns:a="http://schemas.openxmlformats.org/drawingml/2006/main">
            <a:off x="5800725" y="5162550"/>
            <a:ext cx="60102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192F"/>
                </a:solidFill>
                <a:latin typeface="Arial"/>
                <a:ea typeface="Arial"/>
                <a:cs typeface="Arial"/>
              </a:defRPr>
            </a:pPr>
            <a:r>
              <a:rPr sz="1725" b="0">
                <a:solidFill>
                  <a:srgbClr val="14192F"/>
                </a:solidFill>
                <a:latin typeface="Arial"/>
                <a:ea typeface="Arial"/>
                <a:cs typeface="Arial"/>
              </a:rPr>
              <a:t>Chỉ mục BM25 và TF-IDF/SVD lưu ra tệp</a:t>
            </a:r>
          </a:p>
        </p:txBody>
      </p:sp>
      <p:sp>
        <p:nvSpPr>
          <p:cNvPr id="14" name="">
            <a:extLst xmlns:a="http://schemas.openxmlformats.org/drawingml/2006/main">
              <a:ext uri="{FF2B5EF4-FFF2-40B4-BE49-F238E27FC236}">
                <a16:creationId xmlns:a16="http://schemas.microsoft.com/office/drawing/2014/main" id="{39657885-4134-402F-AF2E-F7BBA0794DB5}"/>
              </a:ext>
            </a:extLst>
          </p:cNvPr>
          <p:cNvSpPr>
            <a:spLocks xmlns:a="http://schemas.openxmlformats.org/drawingml/2006/main" noGrp="1"/>
          </p:cNvSpPr>
          <p:nvPr/>
        </p:nvSpPr>
        <p:spPr>
          <a:xfrm xmlns:a="http://schemas.openxmlformats.org/drawingml/2006/main">
            <a:off x="381000" y="5676900"/>
            <a:ext cx="157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4192F"/>
                </a:solidFill>
                <a:latin typeface="Arial"/>
                <a:ea typeface="Arial"/>
                <a:cs typeface="Arial"/>
              </a:defRPr>
            </a:pPr>
            <a:r>
              <a:rPr sz="1500" b="0">
                <a:solidFill>
                  <a:srgbClr val="14192F"/>
                </a:solidFill>
                <a:latin typeface="Arial"/>
                <a:ea typeface="Arial"/>
                <a:cs typeface="Arial"/>
              </a:rPr>
              <a:t>CV Fresher</a:t>
            </a:r>
          </a:p>
        </p:txBody>
      </p:sp>
      <p:sp>
        <p:nvSpPr>
          <p:cNvPr id="15" name="">
            <a:extLst xmlns:a="http://schemas.openxmlformats.org/drawingml/2006/main">
              <a:ext uri="{FF2B5EF4-FFF2-40B4-BE49-F238E27FC236}">
                <a16:creationId xmlns:a16="http://schemas.microsoft.com/office/drawing/2014/main" id="{57355352-FC89-4B86-8348-D32C89974932}"/>
              </a:ext>
            </a:extLst>
          </p:cNvPr>
          <p:cNvSpPr>
            <a:spLocks xmlns:a="http://schemas.openxmlformats.org/drawingml/2006/main" noGrp="1"/>
          </p:cNvSpPr>
          <p:nvPr/>
        </p:nvSpPr>
        <p:spPr>
          <a:xfrm xmlns:a="http://schemas.openxmlformats.org/drawingml/2006/main">
            <a:off x="2038350" y="5734050"/>
            <a:ext cx="2381250" cy="152400"/>
          </a:xfrm>
          <a:prstGeom xmlns:a="http://schemas.openxmlformats.org/drawingml/2006/main" prst="rect">
            <a:avLst/>
          </a:prstGeom>
          <a:solidFill xmlns:a="http://schemas.openxmlformats.org/drawingml/2006/main">
            <a:srgbClr val="EDF0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C5F45FE-FAB6-4B13-A82F-D0468F2EF8CA}"/>
              </a:ext>
            </a:extLst>
          </p:cNvPr>
          <p:cNvSpPr>
            <a:spLocks xmlns:a="http://schemas.openxmlformats.org/drawingml/2006/main" noGrp="1"/>
          </p:cNvSpPr>
          <p:nvPr/>
        </p:nvSpPr>
        <p:spPr>
          <a:xfrm xmlns:a="http://schemas.openxmlformats.org/drawingml/2006/main">
            <a:off x="2038350" y="5734050"/>
            <a:ext cx="1469231" cy="152400"/>
          </a:xfrm>
          <a:prstGeom xmlns:a="http://schemas.openxmlformats.org/drawingml/2006/main" prst="rect">
            <a:avLst/>
          </a:prstGeom>
          <a:solidFill xmlns:a="http://schemas.openxmlformats.org/drawingml/2006/main">
            <a:srgbClr val="1635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47CB406-A2BF-47AA-AEC4-36A2A58D3427}"/>
              </a:ext>
            </a:extLst>
          </p:cNvPr>
          <p:cNvSpPr>
            <a:spLocks xmlns:a="http://schemas.openxmlformats.org/drawingml/2006/main" noGrp="1"/>
          </p:cNvSpPr>
          <p:nvPr/>
        </p:nvSpPr>
        <p:spPr>
          <a:xfrm xmlns:a="http://schemas.openxmlformats.org/drawingml/2006/main">
            <a:off x="4572000" y="5676900"/>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35FF"/>
                </a:solidFill>
                <a:latin typeface="Arial"/>
                <a:ea typeface="Arial"/>
                <a:cs typeface="Arial"/>
              </a:defRPr>
            </a:pPr>
            <a:r>
              <a:rPr sz="1500" b="1">
                <a:solidFill>
                  <a:srgbClr val="1635FF"/>
                </a:solidFill>
                <a:latin typeface="Arial"/>
                <a:ea typeface="Arial"/>
                <a:cs typeface="Arial"/>
              </a:rPr>
              <a:t>61,7%</a:t>
            </a:r>
          </a:p>
        </p:txBody>
      </p:sp>
      <p:sp>
        <p:nvSpPr>
          <p:cNvPr id="18" name="">
            <a:extLst xmlns:a="http://schemas.openxmlformats.org/drawingml/2006/main">
              <a:ext uri="{FF2B5EF4-FFF2-40B4-BE49-F238E27FC236}">
                <a16:creationId xmlns:a16="http://schemas.microsoft.com/office/drawing/2014/main" id="{48644BAB-0A17-49D4-A23D-3608B5F89814}"/>
              </a:ext>
            </a:extLst>
          </p:cNvPr>
          <p:cNvSpPr>
            <a:spLocks xmlns:a="http://schemas.openxmlformats.org/drawingml/2006/main" noGrp="1"/>
          </p:cNvSpPr>
          <p:nvPr/>
        </p:nvSpPr>
        <p:spPr>
          <a:xfrm xmlns:a="http://schemas.openxmlformats.org/drawingml/2006/main">
            <a:off x="381000" y="5972175"/>
            <a:ext cx="157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4192F"/>
                </a:solidFill>
                <a:latin typeface="Arial"/>
                <a:ea typeface="Arial"/>
                <a:cs typeface="Arial"/>
              </a:defRPr>
            </a:pPr>
            <a:r>
              <a:rPr sz="1500" b="0">
                <a:solidFill>
                  <a:srgbClr val="14192F"/>
                </a:solidFill>
                <a:latin typeface="Arial"/>
                <a:ea typeface="Arial"/>
                <a:cs typeface="Arial"/>
              </a:rPr>
              <a:t>JD Junior</a:t>
            </a:r>
          </a:p>
        </p:txBody>
      </p:sp>
      <p:sp>
        <p:nvSpPr>
          <p:cNvPr id="19" name="">
            <a:extLst xmlns:a="http://schemas.openxmlformats.org/drawingml/2006/main">
              <a:ext uri="{FF2B5EF4-FFF2-40B4-BE49-F238E27FC236}">
                <a16:creationId xmlns:a16="http://schemas.microsoft.com/office/drawing/2014/main" id="{5DF666FA-81CE-4CB7-97DD-B6829D9840B2}"/>
              </a:ext>
            </a:extLst>
          </p:cNvPr>
          <p:cNvSpPr>
            <a:spLocks xmlns:a="http://schemas.openxmlformats.org/drawingml/2006/main" noGrp="1"/>
          </p:cNvSpPr>
          <p:nvPr/>
        </p:nvSpPr>
        <p:spPr>
          <a:xfrm xmlns:a="http://schemas.openxmlformats.org/drawingml/2006/main">
            <a:off x="2038350" y="6029325"/>
            <a:ext cx="2381250" cy="152400"/>
          </a:xfrm>
          <a:prstGeom xmlns:a="http://schemas.openxmlformats.org/drawingml/2006/main" prst="rect">
            <a:avLst/>
          </a:prstGeom>
          <a:solidFill xmlns:a="http://schemas.openxmlformats.org/drawingml/2006/main">
            <a:srgbClr val="EDF0F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4FC3C23-B99C-4895-8F16-D0112EBA6CDA}"/>
              </a:ext>
            </a:extLst>
          </p:cNvPr>
          <p:cNvSpPr>
            <a:spLocks xmlns:a="http://schemas.openxmlformats.org/drawingml/2006/main" noGrp="1"/>
          </p:cNvSpPr>
          <p:nvPr/>
        </p:nvSpPr>
        <p:spPr>
          <a:xfrm xmlns:a="http://schemas.openxmlformats.org/drawingml/2006/main">
            <a:off x="2038350" y="6029325"/>
            <a:ext cx="1271588" cy="152400"/>
          </a:xfrm>
          <a:prstGeom xmlns:a="http://schemas.openxmlformats.org/drawingml/2006/main" prst="rect">
            <a:avLst/>
          </a:prstGeom>
          <a:solidFill xmlns:a="http://schemas.openxmlformats.org/drawingml/2006/main">
            <a:srgbClr val="1635F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F2145B2-ABC8-44A9-99D0-F36045F873CE}"/>
              </a:ext>
            </a:extLst>
          </p:cNvPr>
          <p:cNvSpPr>
            <a:spLocks xmlns:a="http://schemas.openxmlformats.org/drawingml/2006/main" noGrp="1"/>
          </p:cNvSpPr>
          <p:nvPr/>
        </p:nvSpPr>
        <p:spPr>
          <a:xfrm xmlns:a="http://schemas.openxmlformats.org/drawingml/2006/main">
            <a:off x="4572000" y="59721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35FF"/>
                </a:solidFill>
                <a:latin typeface="Arial"/>
                <a:ea typeface="Arial"/>
                <a:cs typeface="Arial"/>
              </a:defRPr>
            </a:pPr>
            <a:r>
              <a:rPr sz="1500" b="1">
                <a:solidFill>
                  <a:srgbClr val="1635FF"/>
                </a:solidFill>
                <a:latin typeface="Arial"/>
                <a:ea typeface="Arial"/>
                <a:cs typeface="Arial"/>
              </a:rPr>
              <a:t>53,4%</a:t>
            </a:r>
          </a:p>
        </p:txBody>
      </p:sp>
      <p:sp>
        <p:nvSpPr>
          <p:cNvPr id="22" name="">
            <a:extLst xmlns:a="http://schemas.openxmlformats.org/drawingml/2006/main">
              <a:ext uri="{FF2B5EF4-FFF2-40B4-BE49-F238E27FC236}">
                <a16:creationId xmlns:a16="http://schemas.microsoft.com/office/drawing/2014/main" id="{AE23674D-5197-4064-845C-0501AEBF42EE}"/>
              </a:ext>
            </a:extLst>
          </p:cNvPr>
          <p:cNvSpPr>
            <a:spLocks xmlns:a="http://schemas.openxmlformats.org/drawingml/2006/main" noGrp="1"/>
          </p:cNvSpPr>
          <p:nvPr/>
        </p:nvSpPr>
        <p:spPr>
          <a:xfrm xmlns:a="http://schemas.openxmlformats.org/drawingml/2006/main">
            <a:off x="5962650" y="5629275"/>
            <a:ext cx="5848350" cy="628650"/>
          </a:xfrm>
          <a:prstGeom xmlns:a="http://schemas.openxmlformats.org/drawingml/2006/main" prst="rect">
            <a:avLst/>
          </a:prstGeom>
          <a:solidFill xmlns:a="http://schemas.openxmlformats.org/drawingml/2006/main">
            <a:srgbClr val="FFF29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8EB8518-E469-4AA1-98DD-C1FE4F4CCBF9}"/>
              </a:ext>
            </a:extLst>
          </p:cNvPr>
          <p:cNvSpPr>
            <a:spLocks xmlns:a="http://schemas.openxmlformats.org/drawingml/2006/main" noGrp="1"/>
          </p:cNvSpPr>
          <p:nvPr/>
        </p:nvSpPr>
        <p:spPr>
          <a:xfrm xmlns:a="http://schemas.openxmlformats.org/drawingml/2006/main">
            <a:off x="6115050" y="5695950"/>
            <a:ext cx="5572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4192F"/>
                </a:solidFill>
                <a:latin typeface="Arial"/>
                <a:ea typeface="Arial"/>
                <a:cs typeface="Arial"/>
              </a:defRPr>
            </a:pPr>
            <a:r>
              <a:rPr sz="1725" b="1">
                <a:solidFill>
                  <a:srgbClr val="14192F"/>
                </a:solidFill>
                <a:latin typeface="Arial"/>
                <a:ea typeface="Arial"/>
                <a:cs typeface="Arial"/>
              </a:rPr>
              <a:t>EDA định hướng thiết kế. Benchmark kiểm tra hiệu quả truy xuất.</a:t>
            </a:r>
          </a:p>
        </p:txBody>
      </p:sp>
      <p:sp>
        <p:nvSpPr>
          <p:cNvPr id="24" name="">
            <a:extLst xmlns:a="http://schemas.openxmlformats.org/drawingml/2006/main">
              <a:ext uri="{FF2B5EF4-FFF2-40B4-BE49-F238E27FC236}">
                <a16:creationId xmlns:a16="http://schemas.microsoft.com/office/drawing/2014/main" id="{574B06AA-79E2-45B3-B83E-EF1849311078}"/>
              </a:ext>
            </a:extLst>
          </p:cNvPr>
          <p:cNvSpPr>
            <a:spLocks xmlns:a="http://schemas.openxmlformats.org/drawingml/2006/main" noGrp="1"/>
          </p:cNvSpPr>
          <p:nvPr/>
        </p:nvSpPr>
        <p:spPr>
          <a:xfrm xmlns:a="http://schemas.openxmlformats.org/drawingml/2006/main">
            <a:off x="381000" y="64389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6078"/>
                </a:solidFill>
                <a:latin typeface="Arial"/>
                <a:ea typeface="Arial"/>
                <a:cs typeface="Arial"/>
              </a:defRPr>
            </a:pPr>
            <a:r>
              <a:rPr sz="1050" b="0">
                <a:solidFill>
                  <a:srgbClr val="566078"/>
                </a:solidFill>
                <a:latin typeface="Arial"/>
                <a:ea typeface="Arial"/>
                <a:cs typeface="Arial"/>
              </a:rPr>
              <a:t>Nguồn: data/*.json. Jaccard dùng tên kỹ năng viết thường chính xác, không phải skill gap từng CV.</a:t>
            </a:r>
          </a:p>
        </p:txBody>
      </p:sp>
    </p:spTree>
    <p:extLst>
      <p:ext uri="{BB962C8B-B14F-4D97-AF65-F5344CB8AC3E}">
        <p14:creationId xmlns:p14="http://schemas.microsoft.com/office/powerpoint/2010/main" val="7720189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BF3440D-55C7-4E3F-BF32-EC4AB41E5A14}"/>
              </a:ext>
            </a:extLst>
          </p:cNvPr>
          <p:cNvSpPr>
            <a:spLocks xmlns:a="http://schemas.openxmlformats.org/drawingml/2006/main" noGrp="1"/>
          </p:cNvSpPr>
          <p:nvPr/>
        </p:nvSpPr>
        <p:spPr>
          <a:xfrm xmlns:a="http://schemas.openxmlformats.org/drawingml/2006/main">
            <a:off x="4953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Tổng quan</a:t>
            </a:r>
          </a:p>
        </p:txBody>
      </p:sp>
      <p:sp>
        <p:nvSpPr>
          <p:cNvPr id="2" name="">
            <a:extLst xmlns:a="http://schemas.openxmlformats.org/drawingml/2006/main">
              <a:ext uri="{FF2B5EF4-FFF2-40B4-BE49-F238E27FC236}">
                <a16:creationId xmlns:a16="http://schemas.microsoft.com/office/drawing/2014/main" id="{A0C52FFA-B8AB-4AD4-B502-0E4D2FA0A70B}"/>
              </a:ext>
            </a:extLst>
          </p:cNvPr>
          <p:cNvSpPr>
            <a:spLocks xmlns:a="http://schemas.openxmlformats.org/drawingml/2006/main" noGrp="1"/>
          </p:cNvSpPr>
          <p:nvPr/>
        </p:nvSpPr>
        <p:spPr>
          <a:xfrm xmlns:a="http://schemas.openxmlformats.org/drawingml/2006/main">
            <a:off x="19431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Thu thập</a:t>
            </a:r>
          </a:p>
        </p:txBody>
      </p:sp>
      <p:sp>
        <p:nvSpPr>
          <p:cNvPr id="3" name="">
            <a:extLst xmlns:a="http://schemas.openxmlformats.org/drawingml/2006/main">
              <a:ext uri="{FF2B5EF4-FFF2-40B4-BE49-F238E27FC236}">
                <a16:creationId xmlns:a16="http://schemas.microsoft.com/office/drawing/2014/main" id="{1E3175DC-6CEB-4F5F-ABD7-3E6E52C2EE82}"/>
              </a:ext>
            </a:extLst>
          </p:cNvPr>
          <p:cNvSpPr>
            <a:spLocks xmlns:a="http://schemas.openxmlformats.org/drawingml/2006/main" noGrp="1"/>
          </p:cNvSpPr>
          <p:nvPr/>
        </p:nvSpPr>
        <p:spPr>
          <a:xfrm xmlns:a="http://schemas.openxmlformats.org/drawingml/2006/main">
            <a:off x="33909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EDA</a:t>
            </a:r>
          </a:p>
        </p:txBody>
      </p:sp>
      <p:sp>
        <p:nvSpPr>
          <p:cNvPr id="4" name="">
            <a:extLst xmlns:a="http://schemas.openxmlformats.org/drawingml/2006/main">
              <a:ext uri="{FF2B5EF4-FFF2-40B4-BE49-F238E27FC236}">
                <a16:creationId xmlns:a16="http://schemas.microsoft.com/office/drawing/2014/main" id="{7AA0C133-18AF-4ADA-BD09-FBA7897D83AD}"/>
              </a:ext>
            </a:extLst>
          </p:cNvPr>
          <p:cNvSpPr>
            <a:spLocks xmlns:a="http://schemas.openxmlformats.org/drawingml/2006/main" noGrp="1"/>
          </p:cNvSpPr>
          <p:nvPr/>
        </p:nvSpPr>
        <p:spPr>
          <a:xfrm xmlns:a="http://schemas.openxmlformats.org/drawingml/2006/main">
            <a:off x="4724400" y="190500"/>
            <a:ext cx="1333500" cy="323850"/>
          </a:xfrm>
          <a:prstGeom xmlns:a="http://schemas.openxmlformats.org/drawingml/2006/main" prst="roundRect">
            <a:avLst>
              <a:gd name="adj" fmla="val 23529"/>
            </a:avLst>
          </a:prstGeom>
          <a:solidFill xmlns:a="http://schemas.openxmlformats.org/drawingml/2006/main">
            <a:srgbClr val="1635F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84C97AB-3E82-4778-8FFB-26378A88DBF8}"/>
              </a:ext>
            </a:extLst>
          </p:cNvPr>
          <p:cNvSpPr>
            <a:spLocks xmlns:a="http://schemas.openxmlformats.org/drawingml/2006/main" noGrp="1"/>
          </p:cNvSpPr>
          <p:nvPr/>
        </p:nvSpPr>
        <p:spPr>
          <a:xfrm xmlns:a="http://schemas.openxmlformats.org/drawingml/2006/main">
            <a:off x="48387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Arial"/>
                <a:ea typeface="Arial"/>
                <a:cs typeface="Arial"/>
              </a:defRPr>
            </a:pPr>
            <a:r>
              <a:rPr sz="1425" b="1">
                <a:solidFill>
                  <a:srgbClr val="FFFFFF"/>
                </a:solidFill>
                <a:latin typeface="Arial"/>
                <a:ea typeface="Arial"/>
                <a:cs typeface="Arial"/>
              </a:rPr>
              <a:t>Đánh giá</a:t>
            </a:r>
          </a:p>
        </p:txBody>
      </p:sp>
      <p:sp>
        <p:nvSpPr>
          <p:cNvPr id="6" name="">
            <a:extLst xmlns:a="http://schemas.openxmlformats.org/drawingml/2006/main">
              <a:ext uri="{FF2B5EF4-FFF2-40B4-BE49-F238E27FC236}">
                <a16:creationId xmlns:a16="http://schemas.microsoft.com/office/drawing/2014/main" id="{2AF95726-8B4A-48E3-8644-4B6A09EA9B63}"/>
              </a:ext>
            </a:extLst>
          </p:cNvPr>
          <p:cNvSpPr>
            <a:spLocks xmlns:a="http://schemas.openxmlformats.org/drawingml/2006/main" noGrp="1"/>
          </p:cNvSpPr>
          <p:nvPr/>
        </p:nvSpPr>
        <p:spPr>
          <a:xfrm xmlns:a="http://schemas.openxmlformats.org/drawingml/2006/main">
            <a:off x="0" y="647700"/>
            <a:ext cx="12192000" cy="590550"/>
          </a:xfrm>
          <a:prstGeom xmlns:a="http://schemas.openxmlformats.org/drawingml/2006/main" prst="rect">
            <a:avLst/>
          </a:prstGeom>
          <a:solidFill xmlns:a="http://schemas.openxmlformats.org/drawingml/2006/main">
            <a:srgbClr val="1635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42E60CC-F534-4393-A6B3-6C6C790EE997}"/>
              </a:ext>
            </a:extLst>
          </p:cNvPr>
          <p:cNvSpPr>
            <a:spLocks xmlns:a="http://schemas.openxmlformats.org/drawingml/2006/main" noGrp="1"/>
          </p:cNvSpPr>
          <p:nvPr/>
        </p:nvSpPr>
        <p:spPr>
          <a:xfrm xmlns:a="http://schemas.openxmlformats.org/drawingml/2006/main">
            <a:off x="381000" y="742950"/>
            <a:ext cx="1143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Benchmark nội bộ: Skill-gap có độ phủ cao nhất</a:t>
            </a:r>
          </a:p>
        </p:txBody>
      </p:sp>
      <p:sp>
        <p:nvSpPr>
          <p:cNvPr id="8" name="">
            <a:extLst xmlns:a="http://schemas.openxmlformats.org/drawingml/2006/main">
              <a:ext uri="{FF2B5EF4-FFF2-40B4-BE49-F238E27FC236}">
                <a16:creationId xmlns:a16="http://schemas.microsoft.com/office/drawing/2014/main" id="{8C69F2FD-4FFF-40AA-962F-33A34AA90898}"/>
              </a:ext>
            </a:extLst>
          </p:cNvPr>
          <p:cNvSpPr>
            <a:spLocks xmlns:a="http://schemas.openxmlformats.org/drawingml/2006/main" noGrp="1"/>
          </p:cNvSpPr>
          <p:nvPr/>
        </p:nvSpPr>
        <p:spPr>
          <a:xfrm xmlns:a="http://schemas.openxmlformats.org/drawingml/2006/main">
            <a:off x="11268075" y="64293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35FF"/>
                </a:solidFill>
                <a:latin typeface="Arial"/>
                <a:ea typeface="Arial"/>
                <a:cs typeface="Arial"/>
              </a:defRPr>
            </a:pPr>
            <a:r>
              <a:rPr sz="1275" b="1">
                <a:solidFill>
                  <a:srgbClr val="1635FF"/>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5508C79E-B052-40F0-AC92-687C56B8BC5F}"/>
              </a:ext>
            </a:extLst>
          </p:cNvPr>
          <p:cNvSpPr>
            <a:spLocks xmlns:a="http://schemas.openxmlformats.org/drawingml/2006/main" noGrp="1"/>
          </p:cNvSpPr>
          <p:nvPr/>
        </p:nvSpPr>
        <p:spPr>
          <a:xfrm xmlns:a="http://schemas.openxmlformats.org/drawingml/2006/main">
            <a:off x="381000" y="1438275"/>
            <a:ext cx="1143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192F"/>
                </a:solidFill>
                <a:latin typeface="Arial"/>
                <a:ea typeface="Arial"/>
                <a:cs typeface="Arial"/>
              </a:defRPr>
            </a:pPr>
            <a:r>
              <a:rPr sz="1875" b="0">
                <a:solidFill>
                  <a:srgbClr val="14192F"/>
                </a:solidFill>
                <a:latin typeface="Arial"/>
                <a:ea typeface="Arial"/>
                <a:cs typeface="Arial"/>
              </a:rPr>
              <a:t>Pilot: 8 CV React/Fresher × 4 chiến lược = 32 lượt đánh giá, chỉ 3 JD khác nhau</a:t>
            </a:r>
          </a:p>
        </p:txBody>
      </p:sp>
      <p:graphicFrame>
        <p:nvGraphicFramePr>
          <p:cNvPr id="25" name=""/>
          <p:cNvGraphicFramePr/>
          <p:nvPr/>
        </p:nvGraphicFramePr>
        <p:xfrm>
          <a:off xmlns:a="http://schemas.openxmlformats.org/drawingml/2006/main" x="381000" y="2057400"/>
          <a:ext xmlns:a="http://schemas.openxmlformats.org/drawingml/2006/main" cx="11430000" cy="2657475"/>
        </p:xfrm>
        <a:graphic xmlns:a="http://schemas.openxmlformats.org/drawingml/2006/main">
          <a:graphicData uri="http://schemas.openxmlformats.org/drawingml/2006/table">
            <a:tbl>
              <a:tblPr/>
              <a:tblGrid>
                <a:gridCol w="3448050"/>
                <a:gridCol w="2667000"/>
                <a:gridCol w="3124200"/>
                <a:gridCol w="2190750"/>
              </a:tblGrid>
              <a:tr h="531495">
                <a:tc>
                  <a:txBody>
                    <a:bodyPr/>
                    <a:lstStyle/>
                    <a:p>
                      <a:r>
                        <a:rPr sz="1725" b="1">
                          <a:solidFill>
                            <a:srgbClr val="FFFFFF"/>
                          </a:solidFill>
                          <a:latin typeface="Arial"/>
                          <a:ea typeface="Arial"/>
                          <a:cs typeface="Arial"/>
                        </a:rPr>
                        <a:t>Chiến lược</a:t>
                      </a:r>
                    </a:p>
                  </a:txBody>
                  <a:tcPr marL="91440" marR="91440" marT="45720" marB="45720">
                    <a:solidFill>
                      <a:srgbClr val="1635FF"/>
                    </a:solidFill>
                  </a:tcPr>
                </a:tc>
                <a:tc>
                  <a:txBody>
                    <a:bodyPr/>
                    <a:lstStyle/>
                    <a:p>
                      <a:r>
                        <a:rPr sz="1725" b="1">
                          <a:solidFill>
                            <a:srgbClr val="FFFFFF"/>
                          </a:solidFill>
                          <a:latin typeface="Arial"/>
                          <a:ea typeface="Arial"/>
                          <a:cs typeface="Arial"/>
                        </a:rPr>
                        <a:t>Độ phủ kỹ năng</a:t>
                      </a:r>
                    </a:p>
                  </a:txBody>
                  <a:tcPr marL="91440" marR="91440" marT="45720" marB="45720">
                    <a:solidFill>
                      <a:srgbClr val="1635FF"/>
                    </a:solidFill>
                  </a:tcPr>
                </a:tc>
                <a:tc>
                  <a:txBody>
                    <a:bodyPr/>
                    <a:lstStyle/>
                    <a:p>
                      <a:r>
                        <a:rPr sz="1725" b="1">
                          <a:solidFill>
                            <a:srgbClr val="FFFFFF"/>
                          </a:solidFill>
                          <a:latin typeface="Arial"/>
                          <a:ea typeface="Arial"/>
                          <a:cs typeface="Arial"/>
                        </a:rPr>
                        <a:t>Khớp vị trí/cấp độ</a:t>
                      </a:r>
                    </a:p>
                  </a:txBody>
                  <a:tcPr marL="91440" marR="91440" marT="45720" marB="45720">
                    <a:solidFill>
                      <a:srgbClr val="1635FF"/>
                    </a:solidFill>
                  </a:tcPr>
                </a:tc>
                <a:tc>
                  <a:txBody>
                    <a:bodyPr/>
                    <a:lstStyle/>
                    <a:p>
                      <a:r>
                        <a:rPr sz="1725" b="1">
                          <a:solidFill>
                            <a:srgbClr val="FFFFFF"/>
                          </a:solidFill>
                          <a:latin typeface="Arial"/>
                          <a:ea typeface="Arial"/>
                          <a:cs typeface="Arial"/>
                        </a:rPr>
                        <a:t>Đủ rubric</a:t>
                      </a:r>
                    </a:p>
                  </a:txBody>
                  <a:tcPr marL="91440" marR="91440" marT="45720" marB="45720">
                    <a:solidFill>
                      <a:srgbClr val="1635FF"/>
                    </a:solidFill>
                  </a:tcPr>
                </a:tc>
              </a:tr>
              <a:tr h="531495">
                <a:tc>
                  <a:txBody>
                    <a:bodyPr/>
                    <a:lstStyle/>
                    <a:p>
                      <a:r>
                        <a:rPr sz="1875" b="0">
                          <a:solidFill>
                            <a:srgbClr val="14192F"/>
                          </a:solidFill>
                          <a:latin typeface="Arial"/>
                          <a:ea typeface="Arial"/>
                          <a:cs typeface="Arial"/>
                        </a:rPr>
                        <a:t>S1  BM25</a:t>
                      </a:r>
                    </a:p>
                  </a:txBody>
                  <a:tcPr marL="91440" marR="91440" marT="45720" marB="45720">
                    <a:solidFill>
                      <a:srgbClr val="EDF0FF"/>
                    </a:solidFill>
                  </a:tcPr>
                </a:tc>
                <a:tc>
                  <a:txBody>
                    <a:bodyPr/>
                    <a:lstStyle/>
                    <a:p>
                      <a:r>
                        <a:rPr sz="1875" b="0">
                          <a:solidFill>
                            <a:srgbClr val="14192F"/>
                          </a:solidFill>
                          <a:latin typeface="Arial"/>
                          <a:ea typeface="Arial"/>
                          <a:cs typeface="Arial"/>
                        </a:rPr>
                        <a:t>25,0%</a:t>
                      </a:r>
                    </a:p>
                  </a:txBody>
                  <a:tcPr marL="91440" marR="91440" marT="45720" marB="45720">
                    <a:solidFill>
                      <a:srgbClr val="EDF0FF"/>
                    </a:solidFill>
                  </a:tcPr>
                </a:tc>
                <a:tc>
                  <a:txBody>
                    <a:bodyPr/>
                    <a:lstStyle/>
                    <a:p>
                      <a:r>
                        <a:rPr sz="1875" b="0">
                          <a:solidFill>
                            <a:srgbClr val="14192F"/>
                          </a:solidFill>
                          <a:latin typeface="Arial"/>
                          <a:ea typeface="Arial"/>
                          <a:cs typeface="Arial"/>
                        </a:rPr>
                        <a:t>61,7%</a:t>
                      </a:r>
                    </a:p>
                  </a:txBody>
                  <a:tcPr marL="91440" marR="91440" marT="45720" marB="45720">
                    <a:solidFill>
                      <a:srgbClr val="EDF0FF"/>
                    </a:solidFill>
                  </a:tcPr>
                </a:tc>
                <a:tc>
                  <a:txBody>
                    <a:bodyPr/>
                    <a:lstStyle/>
                    <a:p>
                      <a:r>
                        <a:rPr sz="1875" b="0">
                          <a:solidFill>
                            <a:srgbClr val="14192F"/>
                          </a:solidFill>
                          <a:latin typeface="Arial"/>
                          <a:ea typeface="Arial"/>
                          <a:cs typeface="Arial"/>
                        </a:rPr>
                        <a:t>40,0%</a:t>
                      </a:r>
                    </a:p>
                  </a:txBody>
                  <a:tcPr marL="91440" marR="91440" marT="45720" marB="45720">
                    <a:solidFill>
                      <a:srgbClr val="EDF0FF"/>
                    </a:solidFill>
                  </a:tcPr>
                </a:tc>
              </a:tr>
              <a:tr h="531495">
                <a:tc>
                  <a:txBody>
                    <a:bodyPr/>
                    <a:lstStyle/>
                    <a:p>
                      <a:r>
                        <a:rPr sz="1875" b="0">
                          <a:solidFill>
                            <a:srgbClr val="14192F"/>
                          </a:solidFill>
                          <a:latin typeface="Arial"/>
                          <a:ea typeface="Arial"/>
                          <a:cs typeface="Arial"/>
                        </a:rPr>
                        <a:t>S2  Metadata</a:t>
                      </a:r>
                    </a:p>
                  </a:txBody>
                  <a:tcPr marL="91440" marR="91440" marT="45720" marB="45720">
                    <a:solidFill>
                      <a:srgbClr val="F8F9FD"/>
                    </a:solidFill>
                  </a:tcPr>
                </a:tc>
                <a:tc>
                  <a:txBody>
                    <a:bodyPr/>
                    <a:lstStyle/>
                    <a:p>
                      <a:r>
                        <a:rPr sz="1875" b="0">
                          <a:solidFill>
                            <a:srgbClr val="14192F"/>
                          </a:solidFill>
                          <a:latin typeface="Arial"/>
                          <a:ea typeface="Arial"/>
                          <a:cs typeface="Arial"/>
                        </a:rPr>
                        <a:t>30,0%</a:t>
                      </a:r>
                    </a:p>
                  </a:txBody>
                  <a:tcPr marL="91440" marR="91440" marT="45720" marB="45720">
                    <a:solidFill>
                      <a:srgbClr val="F8F9FD"/>
                    </a:solidFill>
                  </a:tcPr>
                </a:tc>
                <a:tc>
                  <a:txBody>
                    <a:bodyPr/>
                    <a:lstStyle/>
                    <a:p>
                      <a:r>
                        <a:rPr sz="1875" b="0">
                          <a:solidFill>
                            <a:srgbClr val="14192F"/>
                          </a:solidFill>
                          <a:latin typeface="Arial"/>
                          <a:ea typeface="Arial"/>
                          <a:cs typeface="Arial"/>
                        </a:rPr>
                        <a:t>75,0%</a:t>
                      </a:r>
                    </a:p>
                  </a:txBody>
                  <a:tcPr marL="91440" marR="91440" marT="45720" marB="45720">
                    <a:solidFill>
                      <a:srgbClr val="F8F9FD"/>
                    </a:solidFill>
                  </a:tcPr>
                </a:tc>
                <a:tc>
                  <a:txBody>
                    <a:bodyPr/>
                    <a:lstStyle/>
                    <a:p>
                      <a:r>
                        <a:rPr sz="1875" b="0">
                          <a:solidFill>
                            <a:srgbClr val="14192F"/>
                          </a:solidFill>
                          <a:latin typeface="Arial"/>
                          <a:ea typeface="Arial"/>
                          <a:cs typeface="Arial"/>
                        </a:rPr>
                        <a:t>100%</a:t>
                      </a:r>
                    </a:p>
                  </a:txBody>
                  <a:tcPr marL="91440" marR="91440" marT="45720" marB="45720">
                    <a:solidFill>
                      <a:srgbClr val="F8F9FD"/>
                    </a:solidFill>
                  </a:tcPr>
                </a:tc>
              </a:tr>
              <a:tr h="531495">
                <a:tc>
                  <a:txBody>
                    <a:bodyPr/>
                    <a:lstStyle/>
                    <a:p>
                      <a:r>
                        <a:rPr sz="1875" b="1">
                          <a:solidFill>
                            <a:srgbClr val="14192F"/>
                          </a:solidFill>
                          <a:latin typeface="Arial"/>
                          <a:ea typeface="Arial"/>
                          <a:cs typeface="Arial"/>
                        </a:rPr>
                        <a:t>S3  Skill-gap</a:t>
                      </a:r>
                    </a:p>
                  </a:txBody>
                  <a:tcPr marL="91440" marR="91440" marT="45720" marB="45720">
                    <a:solidFill>
                      <a:srgbClr val="FFF293"/>
                    </a:solidFill>
                  </a:tcPr>
                </a:tc>
                <a:tc>
                  <a:txBody>
                    <a:bodyPr/>
                    <a:lstStyle/>
                    <a:p>
                      <a:r>
                        <a:rPr sz="1875" b="1">
                          <a:solidFill>
                            <a:srgbClr val="14192F"/>
                          </a:solidFill>
                          <a:latin typeface="Arial"/>
                          <a:ea typeface="Arial"/>
                          <a:cs typeface="Arial"/>
                        </a:rPr>
                        <a:t>55,0%</a:t>
                      </a:r>
                    </a:p>
                  </a:txBody>
                  <a:tcPr marL="91440" marR="91440" marT="45720" marB="45720">
                    <a:solidFill>
                      <a:srgbClr val="FFF293"/>
                    </a:solidFill>
                  </a:tcPr>
                </a:tc>
                <a:tc>
                  <a:txBody>
                    <a:bodyPr/>
                    <a:lstStyle/>
                    <a:p>
                      <a:r>
                        <a:rPr sz="1875" b="1">
                          <a:solidFill>
                            <a:srgbClr val="14192F"/>
                          </a:solidFill>
                          <a:latin typeface="Arial"/>
                          <a:ea typeface="Arial"/>
                          <a:cs typeface="Arial"/>
                        </a:rPr>
                        <a:t>95,0%</a:t>
                      </a:r>
                    </a:p>
                  </a:txBody>
                  <a:tcPr marL="91440" marR="91440" marT="45720" marB="45720">
                    <a:solidFill>
                      <a:srgbClr val="FFF293"/>
                    </a:solidFill>
                  </a:tcPr>
                </a:tc>
                <a:tc>
                  <a:txBody>
                    <a:bodyPr/>
                    <a:lstStyle/>
                    <a:p>
                      <a:r>
                        <a:rPr sz="1875" b="1">
                          <a:solidFill>
                            <a:srgbClr val="14192F"/>
                          </a:solidFill>
                          <a:latin typeface="Arial"/>
                          <a:ea typeface="Arial"/>
                          <a:cs typeface="Arial"/>
                        </a:rPr>
                        <a:t>100%</a:t>
                      </a:r>
                    </a:p>
                  </a:txBody>
                  <a:tcPr marL="91440" marR="91440" marT="45720" marB="45720">
                    <a:solidFill>
                      <a:srgbClr val="FFF293"/>
                    </a:solidFill>
                  </a:tcPr>
                </a:tc>
              </a:tr>
              <a:tr h="531495">
                <a:tc>
                  <a:txBody>
                    <a:bodyPr/>
                    <a:lstStyle/>
                    <a:p>
                      <a:r>
                        <a:rPr sz="1875" b="0">
                          <a:solidFill>
                            <a:srgbClr val="14192F"/>
                          </a:solidFill>
                          <a:latin typeface="Arial"/>
                          <a:ea typeface="Arial"/>
                          <a:cs typeface="Arial"/>
                        </a:rPr>
                        <a:t>S4  Hybrid RRF</a:t>
                      </a:r>
                    </a:p>
                  </a:txBody>
                  <a:tcPr marL="91440" marR="91440" marT="45720" marB="45720">
                    <a:solidFill>
                      <a:srgbClr val="F8F9FD"/>
                    </a:solidFill>
                  </a:tcPr>
                </a:tc>
                <a:tc>
                  <a:txBody>
                    <a:bodyPr/>
                    <a:lstStyle/>
                    <a:p>
                      <a:r>
                        <a:rPr sz="1875" b="0">
                          <a:solidFill>
                            <a:srgbClr val="14192F"/>
                          </a:solidFill>
                          <a:latin typeface="Arial"/>
                          <a:ea typeface="Arial"/>
                          <a:cs typeface="Arial"/>
                        </a:rPr>
                        <a:t>32,5%</a:t>
                      </a:r>
                    </a:p>
                  </a:txBody>
                  <a:tcPr marL="91440" marR="91440" marT="45720" marB="45720">
                    <a:solidFill>
                      <a:srgbClr val="F8F9FD"/>
                    </a:solidFill>
                  </a:tcPr>
                </a:tc>
                <a:tc>
                  <a:txBody>
                    <a:bodyPr/>
                    <a:lstStyle/>
                    <a:p>
                      <a:r>
                        <a:rPr sz="1875" b="0">
                          <a:solidFill>
                            <a:srgbClr val="14192F"/>
                          </a:solidFill>
                          <a:latin typeface="Arial"/>
                          <a:ea typeface="Arial"/>
                          <a:cs typeface="Arial"/>
                        </a:rPr>
                        <a:t>95,0%</a:t>
                      </a:r>
                    </a:p>
                  </a:txBody>
                  <a:tcPr marL="91440" marR="91440" marT="45720" marB="45720">
                    <a:solidFill>
                      <a:srgbClr val="F8F9FD"/>
                    </a:solidFill>
                  </a:tcPr>
                </a:tc>
                <a:tc>
                  <a:txBody>
                    <a:bodyPr/>
                    <a:lstStyle/>
                    <a:p>
                      <a:r>
                        <a:rPr sz="1875" b="0">
                          <a:solidFill>
                            <a:srgbClr val="14192F"/>
                          </a:solidFill>
                          <a:latin typeface="Arial"/>
                          <a:ea typeface="Arial"/>
                          <a:cs typeface="Arial"/>
                        </a:rPr>
                        <a:t>100%</a:t>
                      </a:r>
                    </a:p>
                  </a:txBody>
                  <a:tcPr marL="91440" marR="91440" marT="45720" marB="45720">
                    <a:solidFill>
                      <a:srgbClr val="F8F9FD"/>
                    </a:solidFill>
                  </a:tcPr>
                </a:tc>
              </a:tr>
            </a:tbl>
          </a:graphicData>
        </a:graphic>
      </p:graphicFrame>
      <p:sp>
        <p:nvSpPr>
          <p:cNvPr id="11" name="">
            <a:extLst xmlns:a="http://schemas.openxmlformats.org/drawingml/2006/main">
              <a:ext uri="{FF2B5EF4-FFF2-40B4-BE49-F238E27FC236}">
                <a16:creationId xmlns:a16="http://schemas.microsoft.com/office/drawing/2014/main" id="{B698CA32-7E98-4FFC-BC20-C55E89BFCDFE}"/>
              </a:ext>
            </a:extLst>
          </p:cNvPr>
          <p:cNvSpPr>
            <a:spLocks xmlns:a="http://schemas.openxmlformats.org/drawingml/2006/main" noGrp="1"/>
          </p:cNvSpPr>
          <p:nvPr/>
        </p:nvSpPr>
        <p:spPr>
          <a:xfrm xmlns:a="http://schemas.openxmlformats.org/drawingml/2006/main">
            <a:off x="381000" y="4933950"/>
            <a:ext cx="376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35FF"/>
                </a:solidFill>
                <a:latin typeface="Arial"/>
                <a:ea typeface="Arial"/>
                <a:cs typeface="Arial"/>
              </a:defRPr>
            </a:pPr>
            <a:r>
              <a:rPr sz="2400" b="1">
                <a:solidFill>
                  <a:srgbClr val="1635FF"/>
                </a:solidFill>
                <a:latin typeface="Arial"/>
                <a:ea typeface="Arial"/>
                <a:cs typeface="Arial"/>
              </a:rPr>
              <a:t>+22,5 điểm phần trăm</a:t>
            </a:r>
          </a:p>
        </p:txBody>
      </p:sp>
      <p:sp>
        <p:nvSpPr>
          <p:cNvPr id="12" name="">
            <a:extLst xmlns:a="http://schemas.openxmlformats.org/drawingml/2006/main">
              <a:ext uri="{FF2B5EF4-FFF2-40B4-BE49-F238E27FC236}">
                <a16:creationId xmlns:a16="http://schemas.microsoft.com/office/drawing/2014/main" id="{65337473-308B-4835-8E8A-B7A07D4E18AF}"/>
              </a:ext>
            </a:extLst>
          </p:cNvPr>
          <p:cNvSpPr>
            <a:spLocks xmlns:a="http://schemas.openxmlformats.org/drawingml/2006/main" noGrp="1"/>
          </p:cNvSpPr>
          <p:nvPr/>
        </p:nvSpPr>
        <p:spPr>
          <a:xfrm xmlns:a="http://schemas.openxmlformats.org/drawingml/2006/main">
            <a:off x="4267200" y="4905375"/>
            <a:ext cx="742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192F"/>
                </a:solidFill>
                <a:latin typeface="Arial"/>
                <a:ea typeface="Arial"/>
                <a:cs typeface="Arial"/>
              </a:defRPr>
            </a:pPr>
            <a:r>
              <a:rPr sz="1950" b="1">
                <a:solidFill>
                  <a:srgbClr val="14192F"/>
                </a:solidFill>
                <a:latin typeface="Arial"/>
                <a:ea typeface="Arial"/>
                <a:cs typeface="Arial"/>
              </a:rPr>
              <a:t>độ phủ của S3 so với S4.</a:t>
            </a:r>
          </a:p>
          <a:p xmlns:a="http://schemas.openxmlformats.org/drawingml/2006/main">
            <a:pPr>
              <a:defRPr sz="1950" b="1">
                <a:solidFill>
                  <a:srgbClr val="14192F"/>
                </a:solidFill>
                <a:latin typeface="Arial"/>
                <a:ea typeface="Arial"/>
                <a:cs typeface="Arial"/>
              </a:defRPr>
            </a:pPr>
            <a:r>
              <a:rPr sz="1950" b="1">
                <a:solidFill>
                  <a:srgbClr val="14192F"/>
                </a:solidFill>
                <a:latin typeface="Arial"/>
                <a:ea typeface="Arial"/>
                <a:cs typeface="Arial"/>
              </a:rPr>
              <a:t>Hybrid chưa tốt hơn trên mẫu thử này.</a:t>
            </a:r>
          </a:p>
        </p:txBody>
      </p:sp>
      <p:sp>
        <p:nvSpPr>
          <p:cNvPr id="13" name="">
            <a:extLst xmlns:a="http://schemas.openxmlformats.org/drawingml/2006/main">
              <a:ext uri="{FF2B5EF4-FFF2-40B4-BE49-F238E27FC236}">
                <a16:creationId xmlns:a16="http://schemas.microsoft.com/office/drawing/2014/main" id="{3D86EC50-F16A-44BB-BA79-747F8AD84299}"/>
              </a:ext>
            </a:extLst>
          </p:cNvPr>
          <p:cNvSpPr>
            <a:spLocks xmlns:a="http://schemas.openxmlformats.org/drawingml/2006/main" noGrp="1"/>
          </p:cNvSpPr>
          <p:nvPr/>
        </p:nvSpPr>
        <p:spPr>
          <a:xfrm xmlns:a="http://schemas.openxmlformats.org/drawingml/2006/main">
            <a:off x="381000" y="5619750"/>
            <a:ext cx="11430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66078"/>
                </a:solidFill>
                <a:latin typeface="Arial"/>
                <a:ea typeface="Arial"/>
                <a:cs typeface="Arial"/>
              </a:defRPr>
            </a:pPr>
            <a:r>
              <a:rPr sz="1500" b="0">
                <a:solidFill>
                  <a:srgbClr val="566078"/>
                </a:solidFill>
                <a:latin typeface="Arial"/>
                <a:ea typeface="Arial"/>
                <a:cs typeface="Arial"/>
              </a:rPr>
              <a:t>Độ phủ: so chuỗi với 5 kỹ năng JD đầu. Khớp: 60% vị trí + 40% cấp độ.</a:t>
            </a:r>
          </a:p>
          <a:p xmlns:a="http://schemas.openxmlformats.org/drawingml/2006/main">
            <a:pPr>
              <a:defRPr sz="1500" b="0">
                <a:solidFill>
                  <a:srgbClr val="566078"/>
                </a:solidFill>
                <a:latin typeface="Arial"/>
                <a:ea typeface="Arial"/>
                <a:cs typeface="Arial"/>
              </a:defRPr>
            </a:pPr>
            <a:r>
              <a:rPr sz="1500" b="0">
                <a:solidFill>
                  <a:srgbClr val="566078"/>
                </a:solidFill>
                <a:latin typeface="Arial"/>
                <a:ea typeface="Arial"/>
                <a:cs typeface="Arial"/>
              </a:rPr>
              <a:t>Đủ rubric: kiểm tra cấu trúc nội dung.</a:t>
            </a:r>
          </a:p>
        </p:txBody>
      </p:sp>
      <p:sp>
        <p:nvSpPr>
          <p:cNvPr id="14" name="">
            <a:extLst xmlns:a="http://schemas.openxmlformats.org/drawingml/2006/main">
              <a:ext uri="{FF2B5EF4-FFF2-40B4-BE49-F238E27FC236}">
                <a16:creationId xmlns:a16="http://schemas.microsoft.com/office/drawing/2014/main" id="{037FDAED-9E05-4D90-9D43-D6D914116E0F}"/>
              </a:ext>
            </a:extLst>
          </p:cNvPr>
          <p:cNvSpPr>
            <a:spLocks xmlns:a="http://schemas.openxmlformats.org/drawingml/2006/main" noGrp="1"/>
          </p:cNvSpPr>
          <p:nvPr/>
        </p:nvSpPr>
        <p:spPr>
          <a:xfrm xmlns:a="http://schemas.openxmlformats.org/drawingml/2006/main">
            <a:off x="381000" y="6191250"/>
            <a:ext cx="11382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4192F"/>
                </a:solidFill>
                <a:latin typeface="Arial"/>
                <a:ea typeface="Arial"/>
                <a:cs typeface="Arial"/>
              </a:defRPr>
            </a:pPr>
            <a:r>
              <a:rPr sz="1500" b="1">
                <a:solidFill>
                  <a:srgbClr val="14192F"/>
                </a:solidFill>
                <a:latin typeface="Arial"/>
                <a:ea typeface="Arial"/>
                <a:cs typeface="Arial"/>
              </a:rPr>
              <a:t>Chỉ số tự xây dựng, chưa phải Ragas chuẩn hoặc đánh giá phỏng vấn đầu cuối.</a:t>
            </a:r>
          </a:p>
        </p:txBody>
      </p:sp>
      <p:sp>
        <p:nvSpPr>
          <p:cNvPr id="15" name="">
            <a:extLst xmlns:a="http://schemas.openxmlformats.org/drawingml/2006/main">
              <a:ext uri="{FF2B5EF4-FFF2-40B4-BE49-F238E27FC236}">
                <a16:creationId xmlns:a16="http://schemas.microsoft.com/office/drawing/2014/main" id="{D9C3AD22-3695-43FF-9E9F-124AB2CDD57B}"/>
              </a:ext>
            </a:extLst>
          </p:cNvPr>
          <p:cNvSpPr>
            <a:spLocks xmlns:a="http://schemas.openxmlformats.org/drawingml/2006/main" noGrp="1"/>
          </p:cNvSpPr>
          <p:nvPr/>
        </p:nvSpPr>
        <p:spPr>
          <a:xfrm xmlns:a="http://schemas.openxmlformats.org/drawingml/2006/main">
            <a:off x="381000" y="64389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6078"/>
                </a:solidFill>
                <a:latin typeface="Arial"/>
                <a:ea typeface="Arial"/>
                <a:cs typeface="Arial"/>
              </a:defRPr>
            </a:pPr>
            <a:r>
              <a:rPr sz="1050" b="0">
                <a:solidFill>
                  <a:srgbClr val="566078"/>
                </a:solidFill>
                <a:latin typeface="Arial"/>
                <a:ea typeface="Arial"/>
                <a:cs typeface="Arial"/>
              </a:rPr>
              <a:t>Nguồn: batch_evaluation_results.csv và src/evaluation/metrics.py</a:t>
            </a:r>
          </a:p>
        </p:txBody>
      </p:sp>
    </p:spTree>
    <p:extLst>
      <p:ext uri="{BB962C8B-B14F-4D97-AF65-F5344CB8AC3E}">
        <p14:creationId xmlns:p14="http://schemas.microsoft.com/office/powerpoint/2010/main" val="13317721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2026-09-30T17:03:07.5670000Z</dcterms:created>
  <dcterms:modified xsi:type="dcterms:W3CDTF">2026-09-30T17:03:07.5670000Z</dcterms:modified>
</coreProperties>
</file>