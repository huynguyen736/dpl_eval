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3e673c16884748" /><Relationship Type="http://schemas.openxmlformats.org/officeDocument/2006/relationships/extended-properties" Target="/docProps/app.xml" Id="R75b0b10d201b4014" /><Relationship Type="http://schemas.openxmlformats.org/officeDocument/2006/relationships/officeDocument" Target="/ppt/presentation.xml" Id="R7ef8d6d892674811" /></Relationships>
</file>

<file path=ppt/presentation.xml><?xml version="1.0" encoding="utf-8"?>
<p:presentation xmlns:p="http://schemas.openxmlformats.org/presentationml/2006/main">
  <p:sldMasterIdLst>
    <p:sldMasterId xmlns:r="http://schemas.openxmlformats.org/officeDocument/2006/relationships" id="2147483648" r:id="R9a85a400666b47b2"/>
  </p:sldMasterIdLst>
  <p:notesMasterIdLst>
    <p:notesMasterId xmlns:r="http://schemas.openxmlformats.org/officeDocument/2006/relationships" r:id="Rbc938695129f4870"/>
  </p:notesMasterIdLst>
  <p:sldIdLst>
    <p:sldId xmlns:r="http://schemas.openxmlformats.org/officeDocument/2006/relationships" id="256" r:id="R8fd4009943ec4650"/>
    <p:sldId xmlns:r="http://schemas.openxmlformats.org/officeDocument/2006/relationships" id="257" r:id="R21a114b493374289"/>
    <p:sldId xmlns:r="http://schemas.openxmlformats.org/officeDocument/2006/relationships" id="258" r:id="R60aad40e3bcf47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d26619d29745b1" /><Relationship Type="http://schemas.openxmlformats.org/officeDocument/2006/relationships/slideMaster" Target="/ppt/slideMasters/slideMaster1.xml" Id="R9a85a400666b47b2" /><Relationship Type="http://schemas.openxmlformats.org/officeDocument/2006/relationships/notesMaster" Target="/ppt/notesMasters/notesMaster1.xml" Id="Rbc938695129f4870" /><Relationship Type="http://schemas.openxmlformats.org/officeDocument/2006/relationships/presProps" Target="/ppt/presProps.xml" Id="Ref137d45ca3448de" /><Relationship Type="http://schemas.openxmlformats.org/officeDocument/2006/relationships/tableStyles" Target="/ppt/tableStyles.xml" Id="R3d9fa659643548f3" /><Relationship Type="http://schemas.openxmlformats.org/officeDocument/2006/relationships/slide" Target="/ppt/slides/slide1.xml" Id="R8fd4009943ec4650" /><Relationship Type="http://schemas.openxmlformats.org/officeDocument/2006/relationships/slide" Target="/ppt/slides/slide2.xml" Id="R21a114b493374289" /><Relationship Type="http://schemas.openxmlformats.org/officeDocument/2006/relationships/slide" Target="/ppt/slides/slide3.xml" Id="R60aad40e3bcf47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96ceae30fa4f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8ad4e74ab34ed1" /><Relationship Type="http://schemas.openxmlformats.org/officeDocument/2006/relationships/notesMaster" Target="/ppt/notesMasters/notesMaster1.xml" Id="Ra6a24e0838bc42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95a83708254da5" /><Relationship Type="http://schemas.openxmlformats.org/officeDocument/2006/relationships/notesMaster" Target="/ppt/notesMasters/notesMaster1.xml" Id="R6f61fe4e75be4ad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d67a850f9242e2" /><Relationship Type="http://schemas.openxmlformats.org/officeDocument/2006/relationships/notesMaster" Target="/ppt/notesMasters/notesMaster1.xml" Id="R4b0431068eb540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trong repository C:/Users/Admin/NNH/Projects/VScode/evaludate: data/*.json và pipeline src/. Số liệu do audit repository xác nhận: 300 CV, 395 JD, 25 frameworks, 350 technical questions. Input là profile có cấu trúc đã chuẩn hóa, không khẳng định đã triển khai parser PDF. Output là context XML chứa bộ câu hỏi, rubric và interview stages để AI interviewer downstream sử dụng. 350 chỉ đếm câu hỏi kỹ thuật.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audit dữ liệu repository evaludate/data/*.json. CV có119 tên kỹ năng khác nhau, JD69, giao29; Jaccard29/(119+69-29)=18.23899%. Đây là so khớp exact lowercase và là overlap từ vựng tổng thể, không phải khoảng thiếu kỹ năng của một ứng viên. 185/300CV Fresher=61.7%;211/395JD Junior=53.4%;42/300CV mid/senior=14% nằm ngoài framework. 350technical questions có answer và rubric3mức. question_id cần đi với position_id. Persistence hiện tại SQLite records+JSON, index BM25 cùng TF-IDF/SVD vector files; không phải pretrained neural embedding. EDA là căn cứ thiết kế, chưa chứng minh tối ưu toàn cục.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C:/Users/Admin/NNH/Projects/VScode/evaludate/batch_evaluation_results.csv và src/evaluation/metrics.py. Benchmark pilot8CV React/Fresher×4strategies=32evaluations,3uniqueJD. Custom metrics: coverage S1=.25,S2=.30,S3=.55,S4=.325; alignment .617,.75,.95,.95; rubric .40,1,1,1. S3 coverage exceeds S4 by22.5percentage points. Coverage uses substring presence for first5JD skills; alignment60%role+40%level; rubric is structural. Excludes faithfulness and composite because mixed hardcoded and LLM-derived values. Results are neither standard Ragas evaluation nor end-to-end interview quality. Generalization to all roles/levels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13ce5454594b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2ca2593b5244cd" /><Relationship Type="http://schemas.openxmlformats.org/officeDocument/2006/relationships/slideLayout" Target="/ppt/slideLayouts/slideLayout1.xml" Id="R15b5350ab0d749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b5350ab0d749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9e8da670614d21" /><Relationship Type="http://schemas.openxmlformats.org/officeDocument/2006/relationships/notesSlide" Target="/ppt/notesSlides/notesSlide1.xml" Id="R0b3253af114c48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b42e0ae078145b9" /><Relationship Type="http://schemas.openxmlformats.org/officeDocument/2006/relationships/notesSlide" Target="/ppt/notesSlides/notesSlide2.xml" Id="R2918edc5da8a4c5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56388083e04a25" /><Relationship Type="http://schemas.openxmlformats.org/officeDocument/2006/relationships/notesSlide" Target="/ppt/notesSlides/notesSlide3.xml" Id="R5c4f3403986244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46D231A-9224-4A60-9683-BB1B10C85C8C}"/>
              </a:ext>
            </a:extLst>
          </p:cNvPr>
          <p:cNvSpPr>
            <a:spLocks xmlns:a="http://schemas.openxmlformats.org/drawingml/2006/main" noGrp="1"/>
          </p:cNvSpPr>
          <p:nvPr/>
        </p:nvSpPr>
        <p:spPr>
          <a:xfrm xmlns:a="http://schemas.openxmlformats.org/drawingml/2006/main">
            <a:off x="3810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79A4E0-D95C-43F5-A94C-A1018399EB6B}"/>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Tổng quan</a:t>
            </a:r>
          </a:p>
        </p:txBody>
      </p:sp>
      <p:sp>
        <p:nvSpPr>
          <p:cNvPr id="3" name="">
            <a:extLst xmlns:a="http://schemas.openxmlformats.org/drawingml/2006/main">
              <a:ext uri="{FF2B5EF4-FFF2-40B4-BE49-F238E27FC236}">
                <a16:creationId xmlns:a16="http://schemas.microsoft.com/office/drawing/2014/main" id="{2B2DE3C2-6BFC-43E7-A09B-30C7B5677CF9}"/>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4" name="">
            <a:extLst xmlns:a="http://schemas.openxmlformats.org/drawingml/2006/main">
              <a:ext uri="{FF2B5EF4-FFF2-40B4-BE49-F238E27FC236}">
                <a16:creationId xmlns:a16="http://schemas.microsoft.com/office/drawing/2014/main" id="{3E5679F8-284D-4D8D-9D3A-748A83C82A88}"/>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EDA</a:t>
            </a:r>
          </a:p>
        </p:txBody>
      </p:sp>
      <p:sp>
        <p:nvSpPr>
          <p:cNvPr id="5" name="">
            <a:extLst xmlns:a="http://schemas.openxmlformats.org/drawingml/2006/main">
              <a:ext uri="{FF2B5EF4-FFF2-40B4-BE49-F238E27FC236}">
                <a16:creationId xmlns:a16="http://schemas.microsoft.com/office/drawing/2014/main" id="{A6F947E2-0732-45CC-8C10-FDC8E2BA06AF}"/>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675E41B9-9E51-4D39-8F8B-750B83347107}"/>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7F11735-A73E-4B07-9A6A-69DB6BAC20FD}"/>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Ngữ cảnh cho AI phỏng vấn kỹ thuật</a:t>
            </a:r>
          </a:p>
        </p:txBody>
      </p:sp>
      <p:sp>
        <p:nvSpPr>
          <p:cNvPr id="8" name="">
            <a:extLst xmlns:a="http://schemas.openxmlformats.org/drawingml/2006/main">
              <a:ext uri="{FF2B5EF4-FFF2-40B4-BE49-F238E27FC236}">
                <a16:creationId xmlns:a16="http://schemas.microsoft.com/office/drawing/2014/main" id="{82C8AD99-75BA-4C8D-A9DC-DFC7AB5C10E1}"/>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7D166B7-2D5C-49AC-9D1D-4EBC0F5352D8}"/>
              </a:ext>
            </a:extLst>
          </p:cNvPr>
          <p:cNvSpPr>
            <a:spLocks xmlns:a="http://schemas.openxmlformats.org/drawingml/2006/main" noGrp="1"/>
          </p:cNvSpPr>
          <p:nvPr/>
        </p:nvSpPr>
        <p:spPr>
          <a:xfrm xmlns:a="http://schemas.openxmlformats.org/drawingml/2006/main">
            <a:off x="381000" y="1438275"/>
            <a:ext cx="152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35FF"/>
                </a:solidFill>
                <a:latin typeface="Arial"/>
                <a:ea typeface="Arial"/>
                <a:cs typeface="Arial"/>
              </a:defRPr>
            </a:pPr>
            <a:r>
              <a:rPr sz="1875" b="1">
                <a:solidFill>
                  <a:srgbClr val="1635FF"/>
                </a:solidFill>
                <a:latin typeface="Arial"/>
                <a:ea typeface="Arial"/>
                <a:cs typeface="Arial"/>
              </a:rPr>
              <a:t>Bài toán</a:t>
            </a:r>
          </a:p>
        </p:txBody>
      </p:sp>
      <p:sp>
        <p:nvSpPr>
          <p:cNvPr id="10" name="">
            <a:extLst xmlns:a="http://schemas.openxmlformats.org/drawingml/2006/main">
              <a:ext uri="{FF2B5EF4-FFF2-40B4-BE49-F238E27FC236}">
                <a16:creationId xmlns:a16="http://schemas.microsoft.com/office/drawing/2014/main" id="{20EF8551-DDEB-42D6-AE0A-A18781573F84}"/>
              </a:ext>
            </a:extLst>
          </p:cNvPr>
          <p:cNvSpPr>
            <a:spLocks xmlns:a="http://schemas.openxmlformats.org/drawingml/2006/main" noGrp="1"/>
          </p:cNvSpPr>
          <p:nvPr/>
        </p:nvSpPr>
        <p:spPr>
          <a:xfrm xmlns:a="http://schemas.openxmlformats.org/drawingml/2006/main">
            <a:off x="1943100" y="142875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192F"/>
                </a:solidFill>
                <a:latin typeface="Arial"/>
                <a:ea typeface="Arial"/>
                <a:cs typeface="Arial"/>
              </a:defRPr>
            </a:pPr>
            <a:r>
              <a:rPr sz="2025" b="0">
                <a:solidFill>
                  <a:srgbClr val="14192F"/>
                </a:solidFill>
                <a:latin typeface="Arial"/>
                <a:ea typeface="Arial"/>
                <a:cs typeface="Arial"/>
              </a:rPr>
              <a:t>Câu hỏi chung chung, lệch JD/cấp độ, thiếu tiêu chí chấm</a:t>
            </a:r>
          </a:p>
        </p:txBody>
      </p:sp>
      <p:sp>
        <p:nvSpPr>
          <p:cNvPr id="11" name="">
            <a:extLst xmlns:a="http://schemas.openxmlformats.org/drawingml/2006/main">
              <a:ext uri="{FF2B5EF4-FFF2-40B4-BE49-F238E27FC236}">
                <a16:creationId xmlns:a16="http://schemas.microsoft.com/office/drawing/2014/main" id="{075B898E-44E3-4EC2-AA3F-6D07FB6DEC83}"/>
              </a:ext>
            </a:extLst>
          </p:cNvPr>
          <p:cNvSpPr>
            <a:spLocks xmlns:a="http://schemas.openxmlformats.org/drawingml/2006/main" noGrp="1"/>
          </p:cNvSpPr>
          <p:nvPr/>
        </p:nvSpPr>
        <p:spPr>
          <a:xfrm xmlns:a="http://schemas.openxmlformats.org/drawingml/2006/main">
            <a:off x="381000" y="216217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ĐẦU VÀO</a:t>
            </a:r>
          </a:p>
        </p:txBody>
      </p:sp>
      <p:sp>
        <p:nvSpPr>
          <p:cNvPr id="12" name="">
            <a:extLst xmlns:a="http://schemas.openxmlformats.org/drawingml/2006/main">
              <a:ext uri="{FF2B5EF4-FFF2-40B4-BE49-F238E27FC236}">
                <a16:creationId xmlns:a16="http://schemas.microsoft.com/office/drawing/2014/main" id="{4CE10286-A66C-4D8E-9421-E195FE8DB181}"/>
              </a:ext>
            </a:extLst>
          </p:cNvPr>
          <p:cNvSpPr>
            <a:spLocks xmlns:a="http://schemas.openxmlformats.org/drawingml/2006/main" noGrp="1"/>
          </p:cNvSpPr>
          <p:nvPr/>
        </p:nvSpPr>
        <p:spPr>
          <a:xfrm xmlns:a="http://schemas.openxmlformats.org/drawingml/2006/main">
            <a:off x="381000" y="2533650"/>
            <a:ext cx="3333750" cy="2857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13EE25-AB50-4BA9-8FE1-AAFA87BEDDDA}"/>
              </a:ext>
            </a:extLst>
          </p:cNvPr>
          <p:cNvSpPr>
            <a:spLocks xmlns:a="http://schemas.openxmlformats.org/drawingml/2006/main" noGrp="1"/>
          </p:cNvSpPr>
          <p:nvPr/>
        </p:nvSpPr>
        <p:spPr>
          <a:xfrm xmlns:a="http://schemas.openxmlformats.org/drawingml/2006/main">
            <a:off x="381000" y="27051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Hồ sơ ứng viên đã chuẩn hóa</a:t>
            </a:r>
          </a:p>
        </p:txBody>
      </p:sp>
      <p:sp>
        <p:nvSpPr>
          <p:cNvPr id="14" name="">
            <a:extLst xmlns:a="http://schemas.openxmlformats.org/drawingml/2006/main">
              <a:ext uri="{FF2B5EF4-FFF2-40B4-BE49-F238E27FC236}">
                <a16:creationId xmlns:a16="http://schemas.microsoft.com/office/drawing/2014/main" id="{E9A95645-6AB7-4D4E-B3CC-5D9904C77A31}"/>
              </a:ext>
            </a:extLst>
          </p:cNvPr>
          <p:cNvSpPr>
            <a:spLocks xmlns:a="http://schemas.openxmlformats.org/drawingml/2006/main" noGrp="1"/>
          </p:cNvSpPr>
          <p:nvPr/>
        </p:nvSpPr>
        <p:spPr>
          <a:xfrm xmlns:a="http://schemas.openxmlformats.org/drawingml/2006/main">
            <a:off x="381000" y="348615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Kỹ năng, dự án, kinh nghiệm</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JD, vị trí và cấp độ mục tiêu</a:t>
            </a:r>
          </a:p>
        </p:txBody>
      </p:sp>
      <p:sp>
        <p:nvSpPr>
          <p:cNvPr id="15" name="">
            <a:extLst xmlns:a="http://schemas.openxmlformats.org/drawingml/2006/main">
              <a:ext uri="{FF2B5EF4-FFF2-40B4-BE49-F238E27FC236}">
                <a16:creationId xmlns:a16="http://schemas.microsoft.com/office/drawing/2014/main" id="{E7FE3207-33FD-4AC7-B4A4-BE567458AED7}"/>
              </a:ext>
            </a:extLst>
          </p:cNvPr>
          <p:cNvSpPr>
            <a:spLocks xmlns:a="http://schemas.openxmlformats.org/drawingml/2006/main" noGrp="1"/>
          </p:cNvSpPr>
          <p:nvPr/>
        </p:nvSpPr>
        <p:spPr>
          <a:xfrm xmlns:a="http://schemas.openxmlformats.org/drawingml/2006/main">
            <a:off x="4438650" y="2162175"/>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XỬ LÝ</a:t>
            </a:r>
          </a:p>
        </p:txBody>
      </p:sp>
      <p:sp>
        <p:nvSpPr>
          <p:cNvPr id="16" name="">
            <a:extLst xmlns:a="http://schemas.openxmlformats.org/drawingml/2006/main">
              <a:ext uri="{FF2B5EF4-FFF2-40B4-BE49-F238E27FC236}">
                <a16:creationId xmlns:a16="http://schemas.microsoft.com/office/drawing/2014/main" id="{F5236417-971B-4341-B347-294095DC3CA7}"/>
              </a:ext>
            </a:extLst>
          </p:cNvPr>
          <p:cNvSpPr>
            <a:spLocks xmlns:a="http://schemas.openxmlformats.org/drawingml/2006/main" noGrp="1"/>
          </p:cNvSpPr>
          <p:nvPr/>
        </p:nvSpPr>
        <p:spPr>
          <a:xfrm xmlns:a="http://schemas.openxmlformats.org/drawingml/2006/main">
            <a:off x="4438650" y="2533650"/>
            <a:ext cx="3276600" cy="2857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83016C4-8FBA-41AE-BBFB-65331B7FBCD7}"/>
              </a:ext>
            </a:extLst>
          </p:cNvPr>
          <p:cNvSpPr>
            <a:spLocks xmlns:a="http://schemas.openxmlformats.org/drawingml/2006/main" noGrp="1"/>
          </p:cNvSpPr>
          <p:nvPr/>
        </p:nvSpPr>
        <p:spPr>
          <a:xfrm xmlns:a="http://schemas.openxmlformats.org/drawingml/2006/main">
            <a:off x="4438650" y="2705100"/>
            <a:ext cx="327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Chọn đúng kiến thức cần hỏi</a:t>
            </a:r>
          </a:p>
        </p:txBody>
      </p:sp>
      <p:sp>
        <p:nvSpPr>
          <p:cNvPr id="18" name="">
            <a:extLst xmlns:a="http://schemas.openxmlformats.org/drawingml/2006/main">
              <a:ext uri="{FF2B5EF4-FFF2-40B4-BE49-F238E27FC236}">
                <a16:creationId xmlns:a16="http://schemas.microsoft.com/office/drawing/2014/main" id="{38737C7C-8FE2-45A7-806F-877AD47A333C}"/>
              </a:ext>
            </a:extLst>
          </p:cNvPr>
          <p:cNvSpPr>
            <a:spLocks xmlns:a="http://schemas.openxmlformats.org/drawingml/2006/main" noGrp="1"/>
          </p:cNvSpPr>
          <p:nvPr/>
        </p:nvSpPr>
        <p:spPr>
          <a:xfrm xmlns:a="http://schemas.openxmlformats.org/drawingml/2006/main">
            <a:off x="4438650" y="3486150"/>
            <a:ext cx="3276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Chuẩn hóa kỹ năng</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Khớp vị trí và skill gap</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Chọn câu hỏi và rubric</a:t>
            </a:r>
          </a:p>
        </p:txBody>
      </p:sp>
      <p:sp>
        <p:nvSpPr>
          <p:cNvPr id="19" name="">
            <a:extLst xmlns:a="http://schemas.openxmlformats.org/drawingml/2006/main">
              <a:ext uri="{FF2B5EF4-FFF2-40B4-BE49-F238E27FC236}">
                <a16:creationId xmlns:a16="http://schemas.microsoft.com/office/drawing/2014/main" id="{1B4C6121-C295-4964-9559-A055DD937BFC}"/>
              </a:ext>
            </a:extLst>
          </p:cNvPr>
          <p:cNvSpPr>
            <a:spLocks xmlns:a="http://schemas.openxmlformats.org/drawingml/2006/main" noGrp="1"/>
          </p:cNvSpPr>
          <p:nvPr/>
        </p:nvSpPr>
        <p:spPr>
          <a:xfrm xmlns:a="http://schemas.openxmlformats.org/drawingml/2006/main">
            <a:off x="8439150" y="2162175"/>
            <a:ext cx="3371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ĐẦU RA</a:t>
            </a:r>
          </a:p>
        </p:txBody>
      </p:sp>
      <p:sp>
        <p:nvSpPr>
          <p:cNvPr id="20" name="">
            <a:extLst xmlns:a="http://schemas.openxmlformats.org/drawingml/2006/main">
              <a:ext uri="{FF2B5EF4-FFF2-40B4-BE49-F238E27FC236}">
                <a16:creationId xmlns:a16="http://schemas.microsoft.com/office/drawing/2014/main" id="{902BF4D0-7604-47CF-8093-A501799D102E}"/>
              </a:ext>
            </a:extLst>
          </p:cNvPr>
          <p:cNvSpPr>
            <a:spLocks xmlns:a="http://schemas.openxmlformats.org/drawingml/2006/main" noGrp="1"/>
          </p:cNvSpPr>
          <p:nvPr/>
        </p:nvSpPr>
        <p:spPr>
          <a:xfrm xmlns:a="http://schemas.openxmlformats.org/drawingml/2006/main">
            <a:off x="8439150" y="2533650"/>
            <a:ext cx="3371850" cy="28575"/>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E280503-621B-4CF2-8241-367D9D22DC97}"/>
              </a:ext>
            </a:extLst>
          </p:cNvPr>
          <p:cNvSpPr>
            <a:spLocks xmlns:a="http://schemas.openxmlformats.org/drawingml/2006/main" noGrp="1"/>
          </p:cNvSpPr>
          <p:nvPr/>
        </p:nvSpPr>
        <p:spPr>
          <a:xfrm xmlns:a="http://schemas.openxmlformats.org/drawingml/2006/main">
            <a:off x="8439150" y="2705100"/>
            <a:ext cx="3371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192F"/>
                </a:solidFill>
                <a:latin typeface="Arial"/>
                <a:ea typeface="Arial"/>
                <a:cs typeface="Arial"/>
              </a:defRPr>
            </a:pPr>
            <a:r>
              <a:rPr sz="2100" b="1">
                <a:solidFill>
                  <a:srgbClr val="14192F"/>
                </a:solidFill>
                <a:latin typeface="Arial"/>
                <a:ea typeface="Arial"/>
                <a:cs typeface="Arial"/>
              </a:rPr>
              <a:t>Context XML cho AI phỏng vấn</a:t>
            </a:r>
          </a:p>
        </p:txBody>
      </p:sp>
      <p:sp>
        <p:nvSpPr>
          <p:cNvPr id="22" name="">
            <a:extLst xmlns:a="http://schemas.openxmlformats.org/drawingml/2006/main">
              <a:ext uri="{FF2B5EF4-FFF2-40B4-BE49-F238E27FC236}">
                <a16:creationId xmlns:a16="http://schemas.microsoft.com/office/drawing/2014/main" id="{C8A3801F-6B68-4437-BEAC-77FDD469B540}"/>
              </a:ext>
            </a:extLst>
          </p:cNvPr>
          <p:cNvSpPr>
            <a:spLocks xmlns:a="http://schemas.openxmlformats.org/drawingml/2006/main" noGrp="1"/>
          </p:cNvSpPr>
          <p:nvPr/>
        </p:nvSpPr>
        <p:spPr>
          <a:xfrm xmlns:a="http://schemas.openxmlformats.org/drawingml/2006/main">
            <a:off x="8439150" y="3486150"/>
            <a:ext cx="3371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3 câu kỹ thuật + 1 câu STAR</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Đáp án, rubric, các chặng hỏi</a:t>
            </a:r>
          </a:p>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Mốc chấm điểm 1–5</a:t>
            </a:r>
          </a:p>
        </p:txBody>
      </p:sp>
      <p:sp>
        <p:nvSpPr>
          <p:cNvPr id="23" name="">
            <a:extLst xmlns:a="http://schemas.openxmlformats.org/drawingml/2006/main">
              <a:ext uri="{FF2B5EF4-FFF2-40B4-BE49-F238E27FC236}">
                <a16:creationId xmlns:a16="http://schemas.microsoft.com/office/drawing/2014/main" id="{EC00AE31-7490-4CC2-814A-29AED2B4D519}"/>
              </a:ext>
            </a:extLst>
          </p:cNvPr>
          <p:cNvSpPr>
            <a:spLocks xmlns:a="http://schemas.openxmlformats.org/drawingml/2006/main" noGrp="1"/>
          </p:cNvSpPr>
          <p:nvPr/>
        </p:nvSpPr>
        <p:spPr>
          <a:xfrm xmlns:a="http://schemas.openxmlformats.org/drawingml/2006/main">
            <a:off x="3895725" y="3114675"/>
            <a:ext cx="342900" cy="238125"/>
          </a:xfrm>
          <a:prstGeom xmlns:a="http://schemas.openxmlformats.org/drawingml/2006/main" prst="rightArrow">
            <a:avLst/>
          </a:prstGeom>
          <a:solidFill xmlns:a="http://schemas.openxmlformats.org/drawingml/2006/main">
            <a:srgbClr val="1635FF"/>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B8B6B00-C26F-4A08-8DD5-3B6A7150678A}"/>
              </a:ext>
            </a:extLst>
          </p:cNvPr>
          <p:cNvSpPr>
            <a:spLocks xmlns:a="http://schemas.openxmlformats.org/drawingml/2006/main" noGrp="1"/>
          </p:cNvSpPr>
          <p:nvPr/>
        </p:nvSpPr>
        <p:spPr>
          <a:xfrm xmlns:a="http://schemas.openxmlformats.org/drawingml/2006/main">
            <a:off x="7905750" y="3114675"/>
            <a:ext cx="342900" cy="238125"/>
          </a:xfrm>
          <a:prstGeom xmlns:a="http://schemas.openxmlformats.org/drawingml/2006/main" prst="rightArrow">
            <a:avLst/>
          </a:prstGeom>
          <a:solidFill xmlns:a="http://schemas.openxmlformats.org/drawingml/2006/main">
            <a:srgbClr val="1635F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F353582-BA69-4FAD-8816-E3F3E12E3052}"/>
              </a:ext>
            </a:extLst>
          </p:cNvPr>
          <p:cNvSpPr>
            <a:spLocks xmlns:a="http://schemas.openxmlformats.org/drawingml/2006/main" noGrp="1"/>
          </p:cNvSpPr>
          <p:nvPr/>
        </p:nvSpPr>
        <p:spPr>
          <a:xfrm xmlns:a="http://schemas.openxmlformats.org/drawingml/2006/main">
            <a:off x="381000" y="5029200"/>
            <a:ext cx="11430000" cy="933450"/>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FCFDECD-D846-447C-8E5D-ACA7280B8D7C}"/>
              </a:ext>
            </a:extLst>
          </p:cNvPr>
          <p:cNvSpPr>
            <a:spLocks xmlns:a="http://schemas.openxmlformats.org/drawingml/2006/main" noGrp="1"/>
          </p:cNvSpPr>
          <p:nvPr/>
        </p:nvSpPr>
        <p:spPr>
          <a:xfrm xmlns:a="http://schemas.openxmlformats.org/drawingml/2006/main">
            <a:off x="590550"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300</a:t>
            </a:r>
          </a:p>
        </p:txBody>
      </p:sp>
      <p:sp>
        <p:nvSpPr>
          <p:cNvPr id="27" name="">
            <a:extLst xmlns:a="http://schemas.openxmlformats.org/drawingml/2006/main">
              <a:ext uri="{FF2B5EF4-FFF2-40B4-BE49-F238E27FC236}">
                <a16:creationId xmlns:a16="http://schemas.microsoft.com/office/drawing/2014/main" id="{A2D2A49C-0D83-482F-BE19-2D242A99A9D9}"/>
              </a:ext>
            </a:extLst>
          </p:cNvPr>
          <p:cNvSpPr>
            <a:spLocks xmlns:a="http://schemas.openxmlformats.org/drawingml/2006/main" noGrp="1"/>
          </p:cNvSpPr>
          <p:nvPr/>
        </p:nvSpPr>
        <p:spPr>
          <a:xfrm xmlns:a="http://schemas.openxmlformats.org/drawingml/2006/main">
            <a:off x="590550"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CV</a:t>
            </a:r>
          </a:p>
        </p:txBody>
      </p:sp>
      <p:sp>
        <p:nvSpPr>
          <p:cNvPr id="28" name="">
            <a:extLst xmlns:a="http://schemas.openxmlformats.org/drawingml/2006/main">
              <a:ext uri="{FF2B5EF4-FFF2-40B4-BE49-F238E27FC236}">
                <a16:creationId xmlns:a16="http://schemas.microsoft.com/office/drawing/2014/main" id="{BCAB2465-C32D-4D4E-BF29-B0F0E1340A11}"/>
              </a:ext>
            </a:extLst>
          </p:cNvPr>
          <p:cNvSpPr>
            <a:spLocks xmlns:a="http://schemas.openxmlformats.org/drawingml/2006/main" noGrp="1"/>
          </p:cNvSpPr>
          <p:nvPr/>
        </p:nvSpPr>
        <p:spPr>
          <a:xfrm xmlns:a="http://schemas.openxmlformats.org/drawingml/2006/main">
            <a:off x="3419475"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395</a:t>
            </a:r>
          </a:p>
        </p:txBody>
      </p:sp>
      <p:sp>
        <p:nvSpPr>
          <p:cNvPr id="29" name="">
            <a:extLst xmlns:a="http://schemas.openxmlformats.org/drawingml/2006/main">
              <a:ext uri="{FF2B5EF4-FFF2-40B4-BE49-F238E27FC236}">
                <a16:creationId xmlns:a16="http://schemas.microsoft.com/office/drawing/2014/main" id="{F369DC5C-0D59-4D8C-AA54-EE7159623801}"/>
              </a:ext>
            </a:extLst>
          </p:cNvPr>
          <p:cNvSpPr>
            <a:spLocks xmlns:a="http://schemas.openxmlformats.org/drawingml/2006/main" noGrp="1"/>
          </p:cNvSpPr>
          <p:nvPr/>
        </p:nvSpPr>
        <p:spPr>
          <a:xfrm xmlns:a="http://schemas.openxmlformats.org/drawingml/2006/main">
            <a:off x="3419475"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JD</a:t>
            </a:r>
          </a:p>
        </p:txBody>
      </p:sp>
      <p:sp>
        <p:nvSpPr>
          <p:cNvPr id="30" name="">
            <a:extLst xmlns:a="http://schemas.openxmlformats.org/drawingml/2006/main">
              <a:ext uri="{FF2B5EF4-FFF2-40B4-BE49-F238E27FC236}">
                <a16:creationId xmlns:a16="http://schemas.microsoft.com/office/drawing/2014/main" id="{A217E22D-5F45-4760-B83A-29E15AD86ABC}"/>
              </a:ext>
            </a:extLst>
          </p:cNvPr>
          <p:cNvSpPr>
            <a:spLocks xmlns:a="http://schemas.openxmlformats.org/drawingml/2006/main" noGrp="1"/>
          </p:cNvSpPr>
          <p:nvPr/>
        </p:nvSpPr>
        <p:spPr>
          <a:xfrm xmlns:a="http://schemas.openxmlformats.org/drawingml/2006/main">
            <a:off x="6248400"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25</a:t>
            </a:r>
          </a:p>
        </p:txBody>
      </p:sp>
      <p:sp>
        <p:nvSpPr>
          <p:cNvPr id="31" name="">
            <a:extLst xmlns:a="http://schemas.openxmlformats.org/drawingml/2006/main">
              <a:ext uri="{FF2B5EF4-FFF2-40B4-BE49-F238E27FC236}">
                <a16:creationId xmlns:a16="http://schemas.microsoft.com/office/drawing/2014/main" id="{2E654D62-3828-42BF-A984-3F2EDA879E12}"/>
              </a:ext>
            </a:extLst>
          </p:cNvPr>
          <p:cNvSpPr>
            <a:spLocks xmlns:a="http://schemas.openxmlformats.org/drawingml/2006/main" noGrp="1"/>
          </p:cNvSpPr>
          <p:nvPr/>
        </p:nvSpPr>
        <p:spPr>
          <a:xfrm xmlns:a="http://schemas.openxmlformats.org/drawingml/2006/main">
            <a:off x="6248400"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framework</a:t>
            </a:r>
          </a:p>
        </p:txBody>
      </p:sp>
      <p:sp>
        <p:nvSpPr>
          <p:cNvPr id="32" name="">
            <a:extLst xmlns:a="http://schemas.openxmlformats.org/drawingml/2006/main">
              <a:ext uri="{FF2B5EF4-FFF2-40B4-BE49-F238E27FC236}">
                <a16:creationId xmlns:a16="http://schemas.microsoft.com/office/drawing/2014/main" id="{E46677A0-12BF-4B01-A271-7884DB1D815C}"/>
              </a:ext>
            </a:extLst>
          </p:cNvPr>
          <p:cNvSpPr>
            <a:spLocks xmlns:a="http://schemas.openxmlformats.org/drawingml/2006/main" noGrp="1"/>
          </p:cNvSpPr>
          <p:nvPr/>
        </p:nvSpPr>
        <p:spPr>
          <a:xfrm xmlns:a="http://schemas.openxmlformats.org/drawingml/2006/main">
            <a:off x="9077325" y="5133975"/>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5FF"/>
                </a:solidFill>
                <a:latin typeface="Arial"/>
                <a:ea typeface="Arial"/>
                <a:cs typeface="Arial"/>
              </a:defRPr>
            </a:pPr>
            <a:r>
              <a:rPr sz="2700" b="1">
                <a:solidFill>
                  <a:srgbClr val="1635FF"/>
                </a:solidFill>
                <a:latin typeface="Arial"/>
                <a:ea typeface="Arial"/>
                <a:cs typeface="Arial"/>
              </a:rPr>
              <a:t>350</a:t>
            </a:r>
          </a:p>
        </p:txBody>
      </p:sp>
      <p:sp>
        <p:nvSpPr>
          <p:cNvPr id="33" name="">
            <a:extLst xmlns:a="http://schemas.openxmlformats.org/drawingml/2006/main">
              <a:ext uri="{FF2B5EF4-FFF2-40B4-BE49-F238E27FC236}">
                <a16:creationId xmlns:a16="http://schemas.microsoft.com/office/drawing/2014/main" id="{87D76EF1-3FF0-4875-8833-B76B4732E202}"/>
              </a:ext>
            </a:extLst>
          </p:cNvPr>
          <p:cNvSpPr>
            <a:spLocks xmlns:a="http://schemas.openxmlformats.org/drawingml/2006/main" noGrp="1"/>
          </p:cNvSpPr>
          <p:nvPr/>
        </p:nvSpPr>
        <p:spPr>
          <a:xfrm xmlns:a="http://schemas.openxmlformats.org/drawingml/2006/main">
            <a:off x="9077325" y="556260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câu hỏi kỹ thuật</a:t>
            </a:r>
          </a:p>
        </p:txBody>
      </p:sp>
      <p:sp>
        <p:nvSpPr>
          <p:cNvPr id="34" name="">
            <a:extLst xmlns:a="http://schemas.openxmlformats.org/drawingml/2006/main">
              <a:ext uri="{FF2B5EF4-FFF2-40B4-BE49-F238E27FC236}">
                <a16:creationId xmlns:a16="http://schemas.microsoft.com/office/drawing/2014/main" id="{30459894-1B2E-4CEC-B4D6-40C4D35C7459}"/>
              </a:ext>
            </a:extLst>
          </p:cNvPr>
          <p:cNvSpPr>
            <a:spLocks xmlns:a="http://schemas.openxmlformats.org/drawingml/2006/main" noGrp="1"/>
          </p:cNvSpPr>
          <p:nvPr/>
        </p:nvSpPr>
        <p:spPr>
          <a:xfrm xmlns:a="http://schemas.openxmlformats.org/drawingml/2006/main">
            <a:off x="381000" y="6086475"/>
            <a:ext cx="1133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66078"/>
                </a:solidFill>
                <a:latin typeface="Arial"/>
                <a:ea typeface="Arial"/>
                <a:cs typeface="Arial"/>
              </a:defRPr>
            </a:pPr>
            <a:r>
              <a:rPr sz="1575" b="0">
                <a:solidFill>
                  <a:srgbClr val="566078"/>
                </a:solidFill>
                <a:latin typeface="Arial"/>
                <a:ea typeface="Arial"/>
                <a:cs typeface="Arial"/>
              </a:rPr>
              <a:t>Phạm vi: prototype truy xuất ngữ cảnh. AI thực hiện buổi phỏng vấn ở bước sau.</a:t>
            </a:r>
          </a:p>
        </p:txBody>
      </p:sp>
      <p:sp>
        <p:nvSpPr>
          <p:cNvPr id="35" name="">
            <a:extLst xmlns:a="http://schemas.openxmlformats.org/drawingml/2006/main">
              <a:ext uri="{FF2B5EF4-FFF2-40B4-BE49-F238E27FC236}">
                <a16:creationId xmlns:a16="http://schemas.microsoft.com/office/drawing/2014/main" id="{2BA5606D-0948-4DF1-AA03-7919BAB72DBC}"/>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dữ liệu project evaludate và pipeline tạo context</a:t>
            </a:r>
          </a:p>
        </p:txBody>
      </p:sp>
    </p:spTree>
    <p:extLst>
      <p:ext uri="{BB962C8B-B14F-4D97-AF65-F5344CB8AC3E}">
        <p14:creationId xmlns:p14="http://schemas.microsoft.com/office/powerpoint/2010/main" val="12609479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E6AB79F-3676-482F-B476-F7C706413F6D}"/>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Tổng quan</a:t>
            </a:r>
          </a:p>
        </p:txBody>
      </p:sp>
      <p:sp>
        <p:nvSpPr>
          <p:cNvPr id="2" name="">
            <a:extLst xmlns:a="http://schemas.openxmlformats.org/drawingml/2006/main">
              <a:ext uri="{FF2B5EF4-FFF2-40B4-BE49-F238E27FC236}">
                <a16:creationId xmlns:a16="http://schemas.microsoft.com/office/drawing/2014/main" id="{6EE7D857-3CCB-445B-8C61-BD7CEB644197}"/>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3" name="">
            <a:extLst xmlns:a="http://schemas.openxmlformats.org/drawingml/2006/main">
              <a:ext uri="{FF2B5EF4-FFF2-40B4-BE49-F238E27FC236}">
                <a16:creationId xmlns:a16="http://schemas.microsoft.com/office/drawing/2014/main" id="{3EB44FE2-709B-4BCD-AA74-E71ED9119807}"/>
              </a:ext>
            </a:extLst>
          </p:cNvPr>
          <p:cNvSpPr>
            <a:spLocks xmlns:a="http://schemas.openxmlformats.org/drawingml/2006/main" noGrp="1"/>
          </p:cNvSpPr>
          <p:nvPr/>
        </p:nvSpPr>
        <p:spPr>
          <a:xfrm xmlns:a="http://schemas.openxmlformats.org/drawingml/2006/main">
            <a:off x="32766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C674ED-F8E8-4F3F-8831-2EB4B973CD56}"/>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EDA</a:t>
            </a:r>
          </a:p>
        </p:txBody>
      </p:sp>
      <p:sp>
        <p:nvSpPr>
          <p:cNvPr id="5" name="">
            <a:extLst xmlns:a="http://schemas.openxmlformats.org/drawingml/2006/main">
              <a:ext uri="{FF2B5EF4-FFF2-40B4-BE49-F238E27FC236}">
                <a16:creationId xmlns:a16="http://schemas.microsoft.com/office/drawing/2014/main" id="{28C5AF73-2829-46EA-AACD-67098A8E065D}"/>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27A6AF57-1EBE-447B-B00F-D0D4D7CB3420}"/>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10C0BA-73D2-4F88-9876-BDF0BFFF8536}"/>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EDA định hướng lưu trữ và truy xuất</a:t>
            </a:r>
          </a:p>
        </p:txBody>
      </p:sp>
      <p:sp>
        <p:nvSpPr>
          <p:cNvPr id="8" name="">
            <a:extLst xmlns:a="http://schemas.openxmlformats.org/drawingml/2006/main">
              <a:ext uri="{FF2B5EF4-FFF2-40B4-BE49-F238E27FC236}">
                <a16:creationId xmlns:a16="http://schemas.microsoft.com/office/drawing/2014/main" id="{8816C7F9-0D36-45A5-9D80-B1ADC6A7905F}"/>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8D50B26A-D3C1-4724-928D-DE831AE18B0D}"/>
              </a:ext>
            </a:extLst>
          </p:cNvPr>
          <p:cNvSpPr>
            <a:spLocks xmlns:a="http://schemas.openxmlformats.org/drawingml/2006/main" noGrp="1"/>
          </p:cNvSpPr>
          <p:nvPr/>
        </p:nvSpPr>
        <p:spPr>
          <a:xfrm xmlns:a="http://schemas.openxmlformats.org/drawingml/2006/main">
            <a:off x="381000" y="1419225"/>
            <a:ext cx="1143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192F"/>
                </a:solidFill>
                <a:latin typeface="Arial"/>
                <a:ea typeface="Arial"/>
                <a:cs typeface="Arial"/>
              </a:defRPr>
            </a:pPr>
            <a:r>
              <a:rPr sz="1950" b="0">
                <a:solidFill>
                  <a:srgbClr val="14192F"/>
                </a:solidFill>
                <a:latin typeface="Arial"/>
                <a:ea typeface="Arial"/>
                <a:cs typeface="Arial"/>
              </a:rPr>
              <a:t>300 CV, 395 JD và 25 framework cho thấy ba điểm cần xử lý</a:t>
            </a:r>
          </a:p>
        </p:txBody>
      </p:sp>
      <p:graphicFrame>
        <p:nvGraphicFramePr>
          <p:cNvPr id="34" name=""/>
          <p:cNvGraphicFramePr/>
          <p:nvPr/>
        </p:nvGraphicFramePr>
        <p:xfrm>
          <a:off xmlns:a="http://schemas.openxmlformats.org/drawingml/2006/main" x="381000" y="2028825"/>
          <a:ext xmlns:a="http://schemas.openxmlformats.org/drawingml/2006/main" cx="11430000" cy="2867025"/>
        </p:xfrm>
        <a:graphic xmlns:a="http://schemas.openxmlformats.org/drawingml/2006/main">
          <a:graphicData uri="http://schemas.openxmlformats.org/drawingml/2006/table">
            <a:tbl>
              <a:tblPr/>
              <a:tblGrid>
                <a:gridCol w="3762375"/>
                <a:gridCol w="3524250"/>
                <a:gridCol w="4143375"/>
              </a:tblGrid>
              <a:tr h="716756">
                <a:tc>
                  <a:txBody>
                    <a:bodyPr/>
                    <a:lstStyle/>
                    <a:p>
                      <a:r>
                        <a:rPr sz="1725" b="1">
                          <a:solidFill>
                            <a:srgbClr val="FFFFFF"/>
                          </a:solidFill>
                          <a:latin typeface="Arial"/>
                          <a:ea typeface="Arial"/>
                          <a:cs typeface="Arial"/>
                        </a:rPr>
                        <a:t>Bằng chứng từ dữ liệu</a:t>
                      </a:r>
                    </a:p>
                  </a:txBody>
                  <a:tcPr marL="91440" marR="91440" marT="45720" marB="45720">
                    <a:solidFill>
                      <a:srgbClr val="1635FF"/>
                    </a:solidFill>
                  </a:tcPr>
                </a:tc>
                <a:tc>
                  <a:txBody>
                    <a:bodyPr/>
                    <a:lstStyle/>
                    <a:p>
                      <a:r>
                        <a:rPr sz="1725" b="1">
                          <a:solidFill>
                            <a:srgbClr val="FFFFFF"/>
                          </a:solidFill>
                          <a:latin typeface="Arial"/>
                          <a:ea typeface="Arial"/>
                          <a:cs typeface="Arial"/>
                        </a:rPr>
                        <a:t>Insight</a:t>
                      </a:r>
                    </a:p>
                  </a:txBody>
                  <a:tcPr marL="91440" marR="91440" marT="45720" marB="45720">
                    <a:solidFill>
                      <a:srgbClr val="1635FF"/>
                    </a:solidFill>
                  </a:tcPr>
                </a:tc>
                <a:tc>
                  <a:txBody>
                    <a:bodyPr/>
                    <a:lstStyle/>
                    <a:p>
                      <a:r>
                        <a:rPr sz="1725" b="1">
                          <a:solidFill>
                            <a:srgbClr val="FFFFFF"/>
                          </a:solidFill>
                          <a:latin typeface="Arial"/>
                          <a:ea typeface="Arial"/>
                          <a:cs typeface="Arial"/>
                        </a:rPr>
                        <a:t>Cách lưu và truy xuất</a:t>
                      </a:r>
                    </a:p>
                  </a:txBody>
                  <a:tcPr marL="91440" marR="91440" marT="45720" marB="45720">
                    <a:solidFill>
                      <a:srgbClr val="1635FF"/>
                    </a:solidFill>
                  </a:tcPr>
                </a:tc>
              </a:tr>
              <a:tr h="716756">
                <a:tc>
                  <a:txBody>
                    <a:bodyPr/>
                    <a:lstStyle/>
                    <a:p>
                      <a:r>
                        <a:rPr sz="1875" b="0">
                          <a:solidFill>
                            <a:srgbClr val="14192F"/>
                          </a:solidFill>
                          <a:latin typeface="Arial"/>
                          <a:ea typeface="Arial"/>
                          <a:cs typeface="Arial"/>
                        </a:rPr>
                        <a:t>18,2% trùng từ vựng kỹ năng</a:t>
                      </a:r>
                    </a:p>
                    <a:p>
                      <a:r>
                        <a:rPr sz="1875" b="0">
                          <a:solidFill>
                            <a:srgbClr val="14192F"/>
                          </a:solidFill>
                          <a:latin typeface="Arial"/>
                          <a:ea typeface="Arial"/>
                          <a:cs typeface="Arial"/>
                        </a:rPr>
                        <a:t>CV 119, JD 69, chung 29</a:t>
                      </a:r>
                    </a:p>
                  </a:txBody>
                  <a:tcPr marL="91440" marR="91440" marT="45720" marB="45720">
                    <a:solidFill>
                      <a:srgbClr val="EDF0FF"/>
                    </a:solidFill>
                  </a:tcPr>
                </a:tc>
                <a:tc>
                  <a:txBody>
                    <a:bodyPr/>
                    <a:lstStyle/>
                    <a:p>
                      <a:r>
                        <a:rPr sz="1875" b="0">
                          <a:solidFill>
                            <a:srgbClr val="14192F"/>
                          </a:solidFill>
                          <a:latin typeface="Arial"/>
                          <a:ea typeface="Arial"/>
                          <a:cs typeface="Arial"/>
                        </a:rPr>
                        <a:t>Tên kỹ năng chưa đồng nhất</a:t>
                      </a:r>
                    </a:p>
                  </a:txBody>
                  <a:tcPr marL="91440" marR="91440" marT="45720" marB="45720">
                    <a:solidFill>
                      <a:srgbClr val="EDF0FF"/>
                    </a:solidFill>
                  </a:tcPr>
                </a:tc>
                <a:tc>
                  <a:txBody>
                    <a:bodyPr/>
                    <a:lstStyle/>
                    <a:p>
                      <a:r>
                        <a:rPr sz="1875" b="0">
                          <a:solidFill>
                            <a:srgbClr val="14192F"/>
                          </a:solidFill>
                          <a:latin typeface="Arial"/>
                          <a:ea typeface="Arial"/>
                          <a:cs typeface="Arial"/>
                        </a:rPr>
                        <a:t>Chuẩn hóa alias trước</a:t>
                      </a:r>
                    </a:p>
                    <a:p>
                      <a:r>
                        <a:rPr sz="1875" b="0">
                          <a:solidFill>
                            <a:srgbClr val="14192F"/>
                          </a:solidFill>
                          <a:latin typeface="Arial"/>
                          <a:ea typeface="Arial"/>
                          <a:cs typeface="Arial"/>
                        </a:rPr>
                        <a:t>khi xác định skill gap</a:t>
                      </a:r>
                    </a:p>
                  </a:txBody>
                  <a:tcPr marL="91440" marR="91440" marT="45720" marB="45720">
                    <a:solidFill>
                      <a:srgbClr val="EDF0FF"/>
                    </a:solidFill>
                  </a:tcPr>
                </a:tc>
              </a:tr>
              <a:tr h="716756">
                <a:tc>
                  <a:txBody>
                    <a:bodyPr/>
                    <a:lstStyle/>
                    <a:p>
                      <a:r>
                        <a:rPr sz="1875" b="0">
                          <a:solidFill>
                            <a:srgbClr val="14192F"/>
                          </a:solidFill>
                          <a:latin typeface="Arial"/>
                          <a:ea typeface="Arial"/>
                          <a:cs typeface="Arial"/>
                        </a:rPr>
                        <a:t>350 câu hỏi kỹ thuật</a:t>
                      </a:r>
                    </a:p>
                    <a:p>
                      <a:r>
                        <a:rPr sz="1875" b="0">
                          <a:solidFill>
                            <a:srgbClr val="14192F"/>
                          </a:solidFill>
                          <a:latin typeface="Arial"/>
                          <a:ea typeface="Arial"/>
                          <a:cs typeface="Arial"/>
                        </a:rPr>
                        <a:t>đều có đáp án + rubric 3 mức</a:t>
                      </a:r>
                    </a:p>
                  </a:txBody>
                  <a:tcPr marL="91440" marR="91440" marT="45720" marB="45720">
                    <a:solidFill>
                      <a:srgbClr val="F8F9FD"/>
                    </a:solidFill>
                  </a:tcPr>
                </a:tc>
                <a:tc>
                  <a:txBody>
                    <a:bodyPr/>
                    <a:lstStyle/>
                    <a:p>
                      <a:r>
                        <a:rPr sz="1875" b="0">
                          <a:solidFill>
                            <a:srgbClr val="14192F"/>
                          </a:solidFill>
                          <a:latin typeface="Arial"/>
                          <a:ea typeface="Arial"/>
                          <a:cs typeface="Arial"/>
                        </a:rPr>
                        <a:t>Câu hỏi cần đi cùng</a:t>
                      </a:r>
                    </a:p>
                    <a:p>
                      <a:r>
                        <a:rPr sz="1875" b="0">
                          <a:solidFill>
                            <a:srgbClr val="14192F"/>
                          </a:solidFill>
                          <a:latin typeface="Arial"/>
                          <a:ea typeface="Arial"/>
                          <a:cs typeface="Arial"/>
                        </a:rPr>
                        <a:t>tiêu chí chấm</a:t>
                      </a:r>
                    </a:p>
                  </a:txBody>
                  <a:tcPr marL="91440" marR="91440" marT="45720" marB="45720">
                    <a:solidFill>
                      <a:srgbClr val="F8F9FD"/>
                    </a:solidFill>
                  </a:tcPr>
                </a:tc>
                <a:tc>
                  <a:txBody>
                    <a:bodyPr/>
                    <a:lstStyle/>
                    <a:p>
                      <a:r>
                        <a:rPr sz="1875" b="0">
                          <a:solidFill>
                            <a:srgbClr val="14192F"/>
                          </a:solidFill>
                          <a:latin typeface="Arial"/>
                          <a:ea typeface="Arial"/>
                          <a:cs typeface="Arial"/>
                        </a:rPr>
                        <a:t>Lưu nguyên bộ câu hỏi</a:t>
                      </a:r>
                    </a:p>
                    <a:p>
                      <a:r>
                        <a:rPr sz="1875" b="0">
                          <a:solidFill>
                            <a:srgbClr val="14192F"/>
                          </a:solidFill>
                          <a:latin typeface="Arial"/>
                          <a:ea typeface="Arial"/>
                          <a:cs typeface="Arial"/>
                        </a:rPr>
                        <a:t>Khóa: vị trí + question_id</a:t>
                      </a:r>
                    </a:p>
                  </a:txBody>
                  <a:tcPr marL="91440" marR="91440" marT="45720" marB="45720">
                    <a:solidFill>
                      <a:srgbClr val="F8F9FD"/>
                    </a:solidFill>
                  </a:tcPr>
                </a:tc>
              </a:tr>
              <a:tr h="716756">
                <a:tc>
                  <a:txBody>
                    <a:bodyPr/>
                    <a:lstStyle/>
                    <a:p>
                      <a:r>
                        <a:rPr sz="1875" b="0">
                          <a:solidFill>
                            <a:srgbClr val="14192F"/>
                          </a:solidFill>
                          <a:latin typeface="Arial"/>
                          <a:ea typeface="Arial"/>
                          <a:cs typeface="Arial"/>
                        </a:rPr>
                        <a:t>61,7% CV là Fresher</a:t>
                      </a:r>
                    </a:p>
                    <a:p>
                      <a:r>
                        <a:rPr sz="1875" b="0">
                          <a:solidFill>
                            <a:srgbClr val="14192F"/>
                          </a:solidFill>
                          <a:latin typeface="Arial"/>
                          <a:ea typeface="Arial"/>
                          <a:cs typeface="Arial"/>
                        </a:rPr>
                        <a:t>53,4% JD là Junior</a:t>
                      </a:r>
                    </a:p>
                  </a:txBody>
                  <a:tcPr marL="91440" marR="91440" marT="45720" marB="45720">
                    <a:solidFill>
                      <a:srgbClr val="EDF0FF"/>
                    </a:solidFill>
                  </a:tcPr>
                </a:tc>
                <a:tc>
                  <a:txBody>
                    <a:bodyPr/>
                    <a:lstStyle/>
                    <a:p>
                      <a:r>
                        <a:rPr sz="1875" b="0">
                          <a:solidFill>
                            <a:srgbClr val="14192F"/>
                          </a:solidFill>
                          <a:latin typeface="Arial"/>
                          <a:ea typeface="Arial"/>
                          <a:cs typeface="Arial"/>
                        </a:rPr>
                        <a:t>Phân bố cấp độ lệch nhau</a:t>
                      </a:r>
                    </a:p>
                    <a:p>
                      <a:r>
                        <a:rPr sz="1875" b="0">
                          <a:solidFill>
                            <a:srgbClr val="14192F"/>
                          </a:solidFill>
                          <a:latin typeface="Arial"/>
                          <a:ea typeface="Arial"/>
                          <a:cs typeface="Arial"/>
                        </a:rPr>
                        <a:t>14% CV ngoài framework</a:t>
                      </a:r>
                    </a:p>
                  </a:txBody>
                  <a:tcPr marL="91440" marR="91440" marT="45720" marB="45720">
                    <a:solidFill>
                      <a:srgbClr val="EDF0FF"/>
                    </a:solidFill>
                  </a:tcPr>
                </a:tc>
                <a:tc>
                  <a:txBody>
                    <a:bodyPr/>
                    <a:lstStyle/>
                    <a:p>
                      <a:r>
                        <a:rPr sz="1875" b="0">
                          <a:solidFill>
                            <a:srgbClr val="14192F"/>
                          </a:solidFill>
                          <a:latin typeface="Arial"/>
                          <a:ea typeface="Arial"/>
                          <a:cs typeface="Arial"/>
                        </a:rPr>
                        <a:t>Lọc role, ưu tiên level</a:t>
                      </a:r>
                    </a:p>
                    <a:p>
                      <a:r>
                        <a:rPr sz="1875" b="0">
                          <a:solidFill>
                            <a:srgbClr val="14192F"/>
                          </a:solidFill>
                          <a:latin typeface="Arial"/>
                          <a:ea typeface="Arial"/>
                          <a:cs typeface="Arial"/>
                        </a:rPr>
                        <a:t>Fallback khi thiếu dữ liệu</a:t>
                      </a:r>
                    </a:p>
                  </a:txBody>
                  <a:tcPr marL="91440" marR="91440" marT="45720" marB="45720">
                    <a:solidFill>
                      <a:srgbClr val="EDF0FF"/>
                    </a:solidFill>
                  </a:tcPr>
                </a:tc>
              </a:tr>
            </a:tbl>
          </a:graphicData>
        </a:graphic>
      </p:graphicFrame>
      <p:sp>
        <p:nvSpPr>
          <p:cNvPr id="11" name="">
            <a:extLst xmlns:a="http://schemas.openxmlformats.org/drawingml/2006/main">
              <a:ext uri="{FF2B5EF4-FFF2-40B4-BE49-F238E27FC236}">
                <a16:creationId xmlns:a16="http://schemas.microsoft.com/office/drawing/2014/main" id="{8995A0D8-5A85-4396-8DFE-54F15B088A84}"/>
              </a:ext>
            </a:extLst>
          </p:cNvPr>
          <p:cNvSpPr>
            <a:spLocks xmlns:a="http://schemas.openxmlformats.org/drawingml/2006/main" noGrp="1"/>
          </p:cNvSpPr>
          <p:nvPr/>
        </p:nvSpPr>
        <p:spPr>
          <a:xfrm xmlns:a="http://schemas.openxmlformats.org/drawingml/2006/main">
            <a:off x="381000" y="5153025"/>
            <a:ext cx="2428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35FF"/>
                </a:solidFill>
                <a:latin typeface="Arial"/>
                <a:ea typeface="Arial"/>
                <a:cs typeface="Arial"/>
              </a:defRPr>
            </a:pPr>
            <a:r>
              <a:rPr sz="1800" b="1">
                <a:solidFill>
                  <a:srgbClr val="1635FF"/>
                </a:solidFill>
                <a:latin typeface="Arial"/>
                <a:ea typeface="Arial"/>
                <a:cs typeface="Arial"/>
              </a:rPr>
              <a:t>Lưu trữ hiện tại</a:t>
            </a:r>
          </a:p>
        </p:txBody>
      </p:sp>
      <p:sp>
        <p:nvSpPr>
          <p:cNvPr id="12" name="">
            <a:extLst xmlns:a="http://schemas.openxmlformats.org/drawingml/2006/main">
              <a:ext uri="{FF2B5EF4-FFF2-40B4-BE49-F238E27FC236}">
                <a16:creationId xmlns:a16="http://schemas.microsoft.com/office/drawing/2014/main" id="{01B6259E-09DA-4A57-849F-4B9AC5F670B6}"/>
              </a:ext>
            </a:extLst>
          </p:cNvPr>
          <p:cNvSpPr>
            <a:spLocks xmlns:a="http://schemas.openxmlformats.org/drawingml/2006/main" noGrp="1"/>
          </p:cNvSpPr>
          <p:nvPr/>
        </p:nvSpPr>
        <p:spPr>
          <a:xfrm xmlns:a="http://schemas.openxmlformats.org/drawingml/2006/main">
            <a:off x="2857500" y="5153025"/>
            <a:ext cx="2609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192F"/>
                </a:solidFill>
                <a:latin typeface="Arial"/>
                <a:ea typeface="Arial"/>
                <a:cs typeface="Arial"/>
              </a:defRPr>
            </a:pPr>
            <a:r>
              <a:rPr sz="1875" b="1">
                <a:solidFill>
                  <a:srgbClr val="14192F"/>
                </a:solidFill>
                <a:latin typeface="Arial"/>
                <a:ea typeface="Arial"/>
                <a:cs typeface="Arial"/>
              </a:rPr>
              <a:t>SQLite + JSON</a:t>
            </a:r>
          </a:p>
        </p:txBody>
      </p:sp>
      <p:sp>
        <p:nvSpPr>
          <p:cNvPr id="13" name="">
            <a:extLst xmlns:a="http://schemas.openxmlformats.org/drawingml/2006/main">
              <a:ext uri="{FF2B5EF4-FFF2-40B4-BE49-F238E27FC236}">
                <a16:creationId xmlns:a16="http://schemas.microsoft.com/office/drawing/2014/main" id="{62C7CC9F-EF51-41BF-9209-21A4AC405141}"/>
              </a:ext>
            </a:extLst>
          </p:cNvPr>
          <p:cNvSpPr>
            <a:spLocks xmlns:a="http://schemas.openxmlformats.org/drawingml/2006/main" noGrp="1"/>
          </p:cNvSpPr>
          <p:nvPr/>
        </p:nvSpPr>
        <p:spPr>
          <a:xfrm xmlns:a="http://schemas.openxmlformats.org/drawingml/2006/main">
            <a:off x="5800725" y="5162550"/>
            <a:ext cx="60102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192F"/>
                </a:solidFill>
                <a:latin typeface="Arial"/>
                <a:ea typeface="Arial"/>
                <a:cs typeface="Arial"/>
              </a:defRPr>
            </a:pPr>
            <a:r>
              <a:rPr sz="1725" b="0">
                <a:solidFill>
                  <a:srgbClr val="14192F"/>
                </a:solidFill>
                <a:latin typeface="Arial"/>
                <a:ea typeface="Arial"/>
                <a:cs typeface="Arial"/>
              </a:rPr>
              <a:t>Chỉ mục BM25 và TF-IDF/SVD lưu ra tệp</a:t>
            </a:r>
          </a:p>
        </p:txBody>
      </p:sp>
      <p:sp>
        <p:nvSpPr>
          <p:cNvPr id="14" name="">
            <a:extLst xmlns:a="http://schemas.openxmlformats.org/drawingml/2006/main">
              <a:ext uri="{FF2B5EF4-FFF2-40B4-BE49-F238E27FC236}">
                <a16:creationId xmlns:a16="http://schemas.microsoft.com/office/drawing/2014/main" id="{B8F3FFD7-0384-49C1-9B5B-D75E76EDA433}"/>
              </a:ext>
            </a:extLst>
          </p:cNvPr>
          <p:cNvSpPr>
            <a:spLocks xmlns:a="http://schemas.openxmlformats.org/drawingml/2006/main" noGrp="1"/>
          </p:cNvSpPr>
          <p:nvPr/>
        </p:nvSpPr>
        <p:spPr>
          <a:xfrm xmlns:a="http://schemas.openxmlformats.org/drawingml/2006/main">
            <a:off x="381000" y="5676900"/>
            <a:ext cx="157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92F"/>
                </a:solidFill>
                <a:latin typeface="Arial"/>
                <a:ea typeface="Arial"/>
                <a:cs typeface="Arial"/>
              </a:defRPr>
            </a:pPr>
            <a:r>
              <a:rPr sz="1500" b="0">
                <a:solidFill>
                  <a:srgbClr val="14192F"/>
                </a:solidFill>
                <a:latin typeface="Arial"/>
                <a:ea typeface="Arial"/>
                <a:cs typeface="Arial"/>
              </a:rPr>
              <a:t>CV Fresher</a:t>
            </a:r>
          </a:p>
        </p:txBody>
      </p:sp>
      <p:sp>
        <p:nvSpPr>
          <p:cNvPr id="15" name="">
            <a:extLst xmlns:a="http://schemas.openxmlformats.org/drawingml/2006/main">
              <a:ext uri="{FF2B5EF4-FFF2-40B4-BE49-F238E27FC236}">
                <a16:creationId xmlns:a16="http://schemas.microsoft.com/office/drawing/2014/main" id="{63B3DFBC-E9C3-498F-9CD9-AFF30E1F5DE7}"/>
              </a:ext>
            </a:extLst>
          </p:cNvPr>
          <p:cNvSpPr>
            <a:spLocks xmlns:a="http://schemas.openxmlformats.org/drawingml/2006/main" noGrp="1"/>
          </p:cNvSpPr>
          <p:nvPr/>
        </p:nvSpPr>
        <p:spPr>
          <a:xfrm xmlns:a="http://schemas.openxmlformats.org/drawingml/2006/main">
            <a:off x="2038350" y="5734050"/>
            <a:ext cx="2381250" cy="152400"/>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F214D8A-E5A1-4D6C-9B84-B03EF55BAADD}"/>
              </a:ext>
            </a:extLst>
          </p:cNvPr>
          <p:cNvSpPr>
            <a:spLocks xmlns:a="http://schemas.openxmlformats.org/drawingml/2006/main" noGrp="1"/>
          </p:cNvSpPr>
          <p:nvPr/>
        </p:nvSpPr>
        <p:spPr>
          <a:xfrm xmlns:a="http://schemas.openxmlformats.org/drawingml/2006/main">
            <a:off x="2038350" y="5734050"/>
            <a:ext cx="1469231" cy="15240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B960275-33E8-4278-8500-C75CC19F68D6}"/>
              </a:ext>
            </a:extLst>
          </p:cNvPr>
          <p:cNvSpPr>
            <a:spLocks xmlns:a="http://schemas.openxmlformats.org/drawingml/2006/main" noGrp="1"/>
          </p:cNvSpPr>
          <p:nvPr/>
        </p:nvSpPr>
        <p:spPr>
          <a:xfrm xmlns:a="http://schemas.openxmlformats.org/drawingml/2006/main">
            <a:off x="4572000" y="567690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61,7%</a:t>
            </a:r>
          </a:p>
        </p:txBody>
      </p:sp>
      <p:sp>
        <p:nvSpPr>
          <p:cNvPr id="18" name="">
            <a:extLst xmlns:a="http://schemas.openxmlformats.org/drawingml/2006/main">
              <a:ext uri="{FF2B5EF4-FFF2-40B4-BE49-F238E27FC236}">
                <a16:creationId xmlns:a16="http://schemas.microsoft.com/office/drawing/2014/main" id="{9A55C770-3DB6-4EBF-A77D-8AD77BF39538}"/>
              </a:ext>
            </a:extLst>
          </p:cNvPr>
          <p:cNvSpPr>
            <a:spLocks xmlns:a="http://schemas.openxmlformats.org/drawingml/2006/main" noGrp="1"/>
          </p:cNvSpPr>
          <p:nvPr/>
        </p:nvSpPr>
        <p:spPr>
          <a:xfrm xmlns:a="http://schemas.openxmlformats.org/drawingml/2006/main">
            <a:off x="381000" y="5972175"/>
            <a:ext cx="1571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192F"/>
                </a:solidFill>
                <a:latin typeface="Arial"/>
                <a:ea typeface="Arial"/>
                <a:cs typeface="Arial"/>
              </a:defRPr>
            </a:pPr>
            <a:r>
              <a:rPr sz="1500" b="0">
                <a:solidFill>
                  <a:srgbClr val="14192F"/>
                </a:solidFill>
                <a:latin typeface="Arial"/>
                <a:ea typeface="Arial"/>
                <a:cs typeface="Arial"/>
              </a:rPr>
              <a:t>JD Junior</a:t>
            </a:r>
          </a:p>
        </p:txBody>
      </p:sp>
      <p:sp>
        <p:nvSpPr>
          <p:cNvPr id="19" name="">
            <a:extLst xmlns:a="http://schemas.openxmlformats.org/drawingml/2006/main">
              <a:ext uri="{FF2B5EF4-FFF2-40B4-BE49-F238E27FC236}">
                <a16:creationId xmlns:a16="http://schemas.microsoft.com/office/drawing/2014/main" id="{A358A008-1914-426C-B9C6-0DDBFDBB2841}"/>
              </a:ext>
            </a:extLst>
          </p:cNvPr>
          <p:cNvSpPr>
            <a:spLocks xmlns:a="http://schemas.openxmlformats.org/drawingml/2006/main" noGrp="1"/>
          </p:cNvSpPr>
          <p:nvPr/>
        </p:nvSpPr>
        <p:spPr>
          <a:xfrm xmlns:a="http://schemas.openxmlformats.org/drawingml/2006/main">
            <a:off x="2038350" y="6029325"/>
            <a:ext cx="2381250" cy="152400"/>
          </a:xfrm>
          <a:prstGeom xmlns:a="http://schemas.openxmlformats.org/drawingml/2006/main" prst="rect">
            <a:avLst/>
          </a:prstGeom>
          <a:solidFill xmlns:a="http://schemas.openxmlformats.org/drawingml/2006/main">
            <a:srgbClr val="EDF0FF"/>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0782BEF-2C41-47CC-B3D5-466115798441}"/>
              </a:ext>
            </a:extLst>
          </p:cNvPr>
          <p:cNvSpPr>
            <a:spLocks xmlns:a="http://schemas.openxmlformats.org/drawingml/2006/main" noGrp="1"/>
          </p:cNvSpPr>
          <p:nvPr/>
        </p:nvSpPr>
        <p:spPr>
          <a:xfrm xmlns:a="http://schemas.openxmlformats.org/drawingml/2006/main">
            <a:off x="2038350" y="6029325"/>
            <a:ext cx="1271588" cy="15240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91F9F1D-6061-4585-A2CC-20E745A71EF5}"/>
              </a:ext>
            </a:extLst>
          </p:cNvPr>
          <p:cNvSpPr>
            <a:spLocks xmlns:a="http://schemas.openxmlformats.org/drawingml/2006/main" noGrp="1"/>
          </p:cNvSpPr>
          <p:nvPr/>
        </p:nvSpPr>
        <p:spPr>
          <a:xfrm xmlns:a="http://schemas.openxmlformats.org/drawingml/2006/main">
            <a:off x="4572000" y="59721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35FF"/>
                </a:solidFill>
                <a:latin typeface="Arial"/>
                <a:ea typeface="Arial"/>
                <a:cs typeface="Arial"/>
              </a:defRPr>
            </a:pPr>
            <a:r>
              <a:rPr sz="1500" b="1">
                <a:solidFill>
                  <a:srgbClr val="1635FF"/>
                </a:solidFill>
                <a:latin typeface="Arial"/>
                <a:ea typeface="Arial"/>
                <a:cs typeface="Arial"/>
              </a:rPr>
              <a:t>53,4%</a:t>
            </a:r>
          </a:p>
        </p:txBody>
      </p:sp>
      <p:sp>
        <p:nvSpPr>
          <p:cNvPr id="22" name="">
            <a:extLst xmlns:a="http://schemas.openxmlformats.org/drawingml/2006/main">
              <a:ext uri="{FF2B5EF4-FFF2-40B4-BE49-F238E27FC236}">
                <a16:creationId xmlns:a16="http://schemas.microsoft.com/office/drawing/2014/main" id="{7C6BF098-DABB-458E-B863-B6E96DF977A8}"/>
              </a:ext>
            </a:extLst>
          </p:cNvPr>
          <p:cNvSpPr>
            <a:spLocks xmlns:a="http://schemas.openxmlformats.org/drawingml/2006/main" noGrp="1"/>
          </p:cNvSpPr>
          <p:nvPr/>
        </p:nvSpPr>
        <p:spPr>
          <a:xfrm xmlns:a="http://schemas.openxmlformats.org/drawingml/2006/main">
            <a:off x="5962650" y="5629275"/>
            <a:ext cx="5848350" cy="628650"/>
          </a:xfrm>
          <a:prstGeom xmlns:a="http://schemas.openxmlformats.org/drawingml/2006/main" prst="rect">
            <a:avLst/>
          </a:prstGeom>
          <a:solidFill xmlns:a="http://schemas.openxmlformats.org/drawingml/2006/main">
            <a:srgbClr val="FFF29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7F865E1-7440-4456-8F9B-E620977485E0}"/>
              </a:ext>
            </a:extLst>
          </p:cNvPr>
          <p:cNvSpPr>
            <a:spLocks xmlns:a="http://schemas.openxmlformats.org/drawingml/2006/main" noGrp="1"/>
          </p:cNvSpPr>
          <p:nvPr/>
        </p:nvSpPr>
        <p:spPr>
          <a:xfrm xmlns:a="http://schemas.openxmlformats.org/drawingml/2006/main">
            <a:off x="6115050" y="5695950"/>
            <a:ext cx="557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192F"/>
                </a:solidFill>
                <a:latin typeface="Arial"/>
                <a:ea typeface="Arial"/>
                <a:cs typeface="Arial"/>
              </a:defRPr>
            </a:pPr>
            <a:r>
              <a:rPr sz="1725" b="1">
                <a:solidFill>
                  <a:srgbClr val="14192F"/>
                </a:solidFill>
                <a:latin typeface="Arial"/>
                <a:ea typeface="Arial"/>
                <a:cs typeface="Arial"/>
              </a:rPr>
              <a:t>EDA định hướng thiết kế. Benchmark kiểm tra hiệu quả truy xuất.</a:t>
            </a:r>
          </a:p>
        </p:txBody>
      </p:sp>
      <p:sp>
        <p:nvSpPr>
          <p:cNvPr id="24" name="">
            <a:extLst xmlns:a="http://schemas.openxmlformats.org/drawingml/2006/main">
              <a:ext uri="{FF2B5EF4-FFF2-40B4-BE49-F238E27FC236}">
                <a16:creationId xmlns:a16="http://schemas.microsoft.com/office/drawing/2014/main" id="{4F434734-905F-4070-9CB2-3417F26ABFF5}"/>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data/*.json. Jaccard dùng tên kỹ năng viết thường chính xác, không phải skill gap từng CV.</a:t>
            </a:r>
          </a:p>
        </p:txBody>
      </p:sp>
    </p:spTree>
    <p:extLst>
      <p:ext uri="{BB962C8B-B14F-4D97-AF65-F5344CB8AC3E}">
        <p14:creationId xmlns:p14="http://schemas.microsoft.com/office/powerpoint/2010/main" val="13895299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09DDE60-F2E6-42C9-9F16-2C3C5C3CC335}"/>
              </a:ext>
            </a:extLst>
          </p:cNvPr>
          <p:cNvSpPr>
            <a:spLocks xmlns:a="http://schemas.openxmlformats.org/drawingml/2006/main" noGrp="1"/>
          </p:cNvSpPr>
          <p:nvPr/>
        </p:nvSpPr>
        <p:spPr>
          <a:xfrm xmlns:a="http://schemas.openxmlformats.org/drawingml/2006/main">
            <a:off x="4953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Tổng quan</a:t>
            </a:r>
          </a:p>
        </p:txBody>
      </p:sp>
      <p:sp>
        <p:nvSpPr>
          <p:cNvPr id="2" name="">
            <a:extLst xmlns:a="http://schemas.openxmlformats.org/drawingml/2006/main">
              <a:ext uri="{FF2B5EF4-FFF2-40B4-BE49-F238E27FC236}">
                <a16:creationId xmlns:a16="http://schemas.microsoft.com/office/drawing/2014/main" id="{78CED4F7-AFC7-49FD-9329-0DD2F184C332}"/>
              </a:ext>
            </a:extLst>
          </p:cNvPr>
          <p:cNvSpPr>
            <a:spLocks xmlns:a="http://schemas.openxmlformats.org/drawingml/2006/main" noGrp="1"/>
          </p:cNvSpPr>
          <p:nvPr/>
        </p:nvSpPr>
        <p:spPr>
          <a:xfrm xmlns:a="http://schemas.openxmlformats.org/drawingml/2006/main">
            <a:off x="19431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Thu thập</a:t>
            </a:r>
          </a:p>
        </p:txBody>
      </p:sp>
      <p:sp>
        <p:nvSpPr>
          <p:cNvPr id="3" name="">
            <a:extLst xmlns:a="http://schemas.openxmlformats.org/drawingml/2006/main">
              <a:ext uri="{FF2B5EF4-FFF2-40B4-BE49-F238E27FC236}">
                <a16:creationId xmlns:a16="http://schemas.microsoft.com/office/drawing/2014/main" id="{386ED258-9D23-4E54-AFCE-ECCF36ABC444}"/>
              </a:ext>
            </a:extLst>
          </p:cNvPr>
          <p:cNvSpPr>
            <a:spLocks xmlns:a="http://schemas.openxmlformats.org/drawingml/2006/main" noGrp="1"/>
          </p:cNvSpPr>
          <p:nvPr/>
        </p:nvSpPr>
        <p:spPr>
          <a:xfrm xmlns:a="http://schemas.openxmlformats.org/drawingml/2006/main">
            <a:off x="33909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078"/>
                </a:solidFill>
                <a:latin typeface="Arial"/>
                <a:ea typeface="Arial"/>
                <a:cs typeface="Arial"/>
              </a:defRPr>
            </a:pPr>
            <a:r>
              <a:rPr sz="1425" b="0">
                <a:solidFill>
                  <a:srgbClr val="566078"/>
                </a:solidFill>
                <a:latin typeface="Arial"/>
                <a:ea typeface="Arial"/>
                <a:cs typeface="Arial"/>
              </a:rPr>
              <a:t>EDA</a:t>
            </a:r>
          </a:p>
        </p:txBody>
      </p:sp>
      <p:sp>
        <p:nvSpPr>
          <p:cNvPr id="4" name="">
            <a:extLst xmlns:a="http://schemas.openxmlformats.org/drawingml/2006/main">
              <a:ext uri="{FF2B5EF4-FFF2-40B4-BE49-F238E27FC236}">
                <a16:creationId xmlns:a16="http://schemas.microsoft.com/office/drawing/2014/main" id="{B622477E-E101-439B-95BF-FD1B65A740A2}"/>
              </a:ext>
            </a:extLst>
          </p:cNvPr>
          <p:cNvSpPr>
            <a:spLocks xmlns:a="http://schemas.openxmlformats.org/drawingml/2006/main" noGrp="1"/>
          </p:cNvSpPr>
          <p:nvPr/>
        </p:nvSpPr>
        <p:spPr>
          <a:xfrm xmlns:a="http://schemas.openxmlformats.org/drawingml/2006/main">
            <a:off x="4724400" y="190500"/>
            <a:ext cx="1333500" cy="323850"/>
          </a:xfrm>
          <a:prstGeom xmlns:a="http://schemas.openxmlformats.org/drawingml/2006/main" prst="roundRect">
            <a:avLst>
              <a:gd name="adj" fmla="val 23529"/>
            </a:avLst>
          </a:prstGeom>
          <a:solidFill xmlns:a="http://schemas.openxmlformats.org/drawingml/2006/main">
            <a:srgbClr val="1635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9EE73BE-D311-4213-A355-DF34F7A033B5}"/>
              </a:ext>
            </a:extLst>
          </p:cNvPr>
          <p:cNvSpPr>
            <a:spLocks xmlns:a="http://schemas.openxmlformats.org/drawingml/2006/main" noGrp="1"/>
          </p:cNvSpPr>
          <p:nvPr/>
        </p:nvSpPr>
        <p:spPr>
          <a:xfrm xmlns:a="http://schemas.openxmlformats.org/drawingml/2006/main">
            <a:off x="4838700" y="228600"/>
            <a:ext cx="121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Đánh giá</a:t>
            </a:r>
          </a:p>
        </p:txBody>
      </p:sp>
      <p:sp>
        <p:nvSpPr>
          <p:cNvPr id="6" name="">
            <a:extLst xmlns:a="http://schemas.openxmlformats.org/drawingml/2006/main">
              <a:ext uri="{FF2B5EF4-FFF2-40B4-BE49-F238E27FC236}">
                <a16:creationId xmlns:a16="http://schemas.microsoft.com/office/drawing/2014/main" id="{E950213F-04DF-4F4C-A965-101E112D02D3}"/>
              </a:ext>
            </a:extLst>
          </p:cNvPr>
          <p:cNvSpPr>
            <a:spLocks xmlns:a="http://schemas.openxmlformats.org/drawingml/2006/main" noGrp="1"/>
          </p:cNvSpPr>
          <p:nvPr/>
        </p:nvSpPr>
        <p:spPr>
          <a:xfrm xmlns:a="http://schemas.openxmlformats.org/drawingml/2006/main">
            <a:off x="0" y="647700"/>
            <a:ext cx="12192000" cy="590550"/>
          </a:xfrm>
          <a:prstGeom xmlns:a="http://schemas.openxmlformats.org/drawingml/2006/main" prst="rect">
            <a:avLst/>
          </a:prstGeom>
          <a:solidFill xmlns:a="http://schemas.openxmlformats.org/drawingml/2006/main">
            <a:srgbClr val="1635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7747000-6DA1-4A93-976F-9E12C3468488}"/>
              </a:ext>
            </a:extLst>
          </p:cNvPr>
          <p:cNvSpPr>
            <a:spLocks xmlns:a="http://schemas.openxmlformats.org/drawingml/2006/main" noGrp="1"/>
          </p:cNvSpPr>
          <p:nvPr/>
        </p:nvSpPr>
        <p:spPr>
          <a:xfrm xmlns:a="http://schemas.openxmlformats.org/drawingml/2006/main">
            <a:off x="381000" y="742950"/>
            <a:ext cx="1143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Benchmark nội bộ: Skill-gap có độ phủ cao nhất</a:t>
            </a:r>
          </a:p>
        </p:txBody>
      </p:sp>
      <p:sp>
        <p:nvSpPr>
          <p:cNvPr id="8" name="">
            <a:extLst xmlns:a="http://schemas.openxmlformats.org/drawingml/2006/main">
              <a:ext uri="{FF2B5EF4-FFF2-40B4-BE49-F238E27FC236}">
                <a16:creationId xmlns:a16="http://schemas.microsoft.com/office/drawing/2014/main" id="{2D903164-0F70-4A9E-9D00-983B8070803C}"/>
              </a:ext>
            </a:extLst>
          </p:cNvPr>
          <p:cNvSpPr>
            <a:spLocks xmlns:a="http://schemas.openxmlformats.org/drawingml/2006/main" noGrp="1"/>
          </p:cNvSpPr>
          <p:nvPr/>
        </p:nvSpPr>
        <p:spPr>
          <a:xfrm xmlns:a="http://schemas.openxmlformats.org/drawingml/2006/main">
            <a:off x="11268075" y="642937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35FF"/>
                </a:solidFill>
                <a:latin typeface="Arial"/>
                <a:ea typeface="Arial"/>
                <a:cs typeface="Arial"/>
              </a:defRPr>
            </a:pPr>
            <a:r>
              <a:rPr sz="1275" b="1">
                <a:solidFill>
                  <a:srgbClr val="1635FF"/>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BF3EED5D-DDE3-4B36-94C5-0D9B8AC03873}"/>
              </a:ext>
            </a:extLst>
          </p:cNvPr>
          <p:cNvSpPr>
            <a:spLocks xmlns:a="http://schemas.openxmlformats.org/drawingml/2006/main" noGrp="1"/>
          </p:cNvSpPr>
          <p:nvPr/>
        </p:nvSpPr>
        <p:spPr>
          <a:xfrm xmlns:a="http://schemas.openxmlformats.org/drawingml/2006/main">
            <a:off x="381000" y="1438275"/>
            <a:ext cx="1143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192F"/>
                </a:solidFill>
                <a:latin typeface="Arial"/>
                <a:ea typeface="Arial"/>
                <a:cs typeface="Arial"/>
              </a:defRPr>
            </a:pPr>
            <a:r>
              <a:rPr sz="1875" b="0">
                <a:solidFill>
                  <a:srgbClr val="14192F"/>
                </a:solidFill>
                <a:latin typeface="Arial"/>
                <a:ea typeface="Arial"/>
                <a:cs typeface="Arial"/>
              </a:rPr>
              <a:t>Pilot: 8 CV React/Fresher × 4 chiến lược = 32 lượt đánh giá, chỉ 3 JD khác nhau</a:t>
            </a:r>
          </a:p>
        </p:txBody>
      </p:sp>
      <p:graphicFrame>
        <p:nvGraphicFramePr>
          <p:cNvPr id="25" name=""/>
          <p:cNvGraphicFramePr/>
          <p:nvPr/>
        </p:nvGraphicFramePr>
        <p:xfrm>
          <a:off xmlns:a="http://schemas.openxmlformats.org/drawingml/2006/main" x="381000" y="2057400"/>
          <a:ext xmlns:a="http://schemas.openxmlformats.org/drawingml/2006/main" cx="11430000" cy="2657475"/>
        </p:xfrm>
        <a:graphic xmlns:a="http://schemas.openxmlformats.org/drawingml/2006/main">
          <a:graphicData uri="http://schemas.openxmlformats.org/drawingml/2006/table">
            <a:tbl>
              <a:tblPr/>
              <a:tblGrid>
                <a:gridCol w="3448050"/>
                <a:gridCol w="2667000"/>
                <a:gridCol w="3124200"/>
                <a:gridCol w="2190750"/>
              </a:tblGrid>
              <a:tr h="531495">
                <a:tc>
                  <a:txBody>
                    <a:bodyPr/>
                    <a:lstStyle/>
                    <a:p>
                      <a:r>
                        <a:rPr sz="1725" b="1">
                          <a:solidFill>
                            <a:srgbClr val="FFFFFF"/>
                          </a:solidFill>
                          <a:latin typeface="Arial"/>
                          <a:ea typeface="Arial"/>
                          <a:cs typeface="Arial"/>
                        </a:rPr>
                        <a:t>Chiến lược</a:t>
                      </a:r>
                    </a:p>
                  </a:txBody>
                  <a:tcPr marL="91440" marR="91440" marT="45720" marB="45720">
                    <a:solidFill>
                      <a:srgbClr val="1635FF"/>
                    </a:solidFill>
                  </a:tcPr>
                </a:tc>
                <a:tc>
                  <a:txBody>
                    <a:bodyPr/>
                    <a:lstStyle/>
                    <a:p>
                      <a:r>
                        <a:rPr sz="1725" b="1">
                          <a:solidFill>
                            <a:srgbClr val="FFFFFF"/>
                          </a:solidFill>
                          <a:latin typeface="Arial"/>
                          <a:ea typeface="Arial"/>
                          <a:cs typeface="Arial"/>
                        </a:rPr>
                        <a:t>Độ phủ kỹ năng</a:t>
                      </a:r>
                    </a:p>
                  </a:txBody>
                  <a:tcPr marL="91440" marR="91440" marT="45720" marB="45720">
                    <a:solidFill>
                      <a:srgbClr val="1635FF"/>
                    </a:solidFill>
                  </a:tcPr>
                </a:tc>
                <a:tc>
                  <a:txBody>
                    <a:bodyPr/>
                    <a:lstStyle/>
                    <a:p>
                      <a:r>
                        <a:rPr sz="1725" b="1">
                          <a:solidFill>
                            <a:srgbClr val="FFFFFF"/>
                          </a:solidFill>
                          <a:latin typeface="Arial"/>
                          <a:ea typeface="Arial"/>
                          <a:cs typeface="Arial"/>
                        </a:rPr>
                        <a:t>Khớp vị trí/cấp độ</a:t>
                      </a:r>
                    </a:p>
                  </a:txBody>
                  <a:tcPr marL="91440" marR="91440" marT="45720" marB="45720">
                    <a:solidFill>
                      <a:srgbClr val="1635FF"/>
                    </a:solidFill>
                  </a:tcPr>
                </a:tc>
                <a:tc>
                  <a:txBody>
                    <a:bodyPr/>
                    <a:lstStyle/>
                    <a:p>
                      <a:r>
                        <a:rPr sz="1725" b="1">
                          <a:solidFill>
                            <a:srgbClr val="FFFFFF"/>
                          </a:solidFill>
                          <a:latin typeface="Arial"/>
                          <a:ea typeface="Arial"/>
                          <a:cs typeface="Arial"/>
                        </a:rPr>
                        <a:t>Đủ rubric</a:t>
                      </a:r>
                    </a:p>
                  </a:txBody>
                  <a:tcPr marL="91440" marR="91440" marT="45720" marB="45720">
                    <a:solidFill>
                      <a:srgbClr val="1635FF"/>
                    </a:solidFill>
                  </a:tcPr>
                </a:tc>
              </a:tr>
              <a:tr h="531495">
                <a:tc>
                  <a:txBody>
                    <a:bodyPr/>
                    <a:lstStyle/>
                    <a:p>
                      <a:r>
                        <a:rPr sz="1875" b="0">
                          <a:solidFill>
                            <a:srgbClr val="14192F"/>
                          </a:solidFill>
                          <a:latin typeface="Arial"/>
                          <a:ea typeface="Arial"/>
                          <a:cs typeface="Arial"/>
                        </a:rPr>
                        <a:t>S1  BM25</a:t>
                      </a:r>
                    </a:p>
                  </a:txBody>
                  <a:tcPr marL="91440" marR="91440" marT="45720" marB="45720">
                    <a:solidFill>
                      <a:srgbClr val="EDF0FF"/>
                    </a:solidFill>
                  </a:tcPr>
                </a:tc>
                <a:tc>
                  <a:txBody>
                    <a:bodyPr/>
                    <a:lstStyle/>
                    <a:p>
                      <a:r>
                        <a:rPr sz="1875" b="0">
                          <a:solidFill>
                            <a:srgbClr val="14192F"/>
                          </a:solidFill>
                          <a:latin typeface="Arial"/>
                          <a:ea typeface="Arial"/>
                          <a:cs typeface="Arial"/>
                        </a:rPr>
                        <a:t>25,0%</a:t>
                      </a:r>
                    </a:p>
                  </a:txBody>
                  <a:tcPr marL="91440" marR="91440" marT="45720" marB="45720">
                    <a:solidFill>
                      <a:srgbClr val="EDF0FF"/>
                    </a:solidFill>
                  </a:tcPr>
                </a:tc>
                <a:tc>
                  <a:txBody>
                    <a:bodyPr/>
                    <a:lstStyle/>
                    <a:p>
                      <a:r>
                        <a:rPr sz="1875" b="0">
                          <a:solidFill>
                            <a:srgbClr val="14192F"/>
                          </a:solidFill>
                          <a:latin typeface="Arial"/>
                          <a:ea typeface="Arial"/>
                          <a:cs typeface="Arial"/>
                        </a:rPr>
                        <a:t>61,7%</a:t>
                      </a:r>
                    </a:p>
                  </a:txBody>
                  <a:tcPr marL="91440" marR="91440" marT="45720" marB="45720">
                    <a:solidFill>
                      <a:srgbClr val="EDF0FF"/>
                    </a:solidFill>
                  </a:tcPr>
                </a:tc>
                <a:tc>
                  <a:txBody>
                    <a:bodyPr/>
                    <a:lstStyle/>
                    <a:p>
                      <a:r>
                        <a:rPr sz="1875" b="0">
                          <a:solidFill>
                            <a:srgbClr val="14192F"/>
                          </a:solidFill>
                          <a:latin typeface="Arial"/>
                          <a:ea typeface="Arial"/>
                          <a:cs typeface="Arial"/>
                        </a:rPr>
                        <a:t>40,0%</a:t>
                      </a:r>
                    </a:p>
                  </a:txBody>
                  <a:tcPr marL="91440" marR="91440" marT="45720" marB="45720">
                    <a:solidFill>
                      <a:srgbClr val="EDF0FF"/>
                    </a:solidFill>
                  </a:tcPr>
                </a:tc>
              </a:tr>
              <a:tr h="531495">
                <a:tc>
                  <a:txBody>
                    <a:bodyPr/>
                    <a:lstStyle/>
                    <a:p>
                      <a:r>
                        <a:rPr sz="1875" b="0">
                          <a:solidFill>
                            <a:srgbClr val="14192F"/>
                          </a:solidFill>
                          <a:latin typeface="Arial"/>
                          <a:ea typeface="Arial"/>
                          <a:cs typeface="Arial"/>
                        </a:rPr>
                        <a:t>S2  Metadata</a:t>
                      </a:r>
                    </a:p>
                  </a:txBody>
                  <a:tcPr marL="91440" marR="91440" marT="45720" marB="45720">
                    <a:solidFill>
                      <a:srgbClr val="F8F9FD"/>
                    </a:solidFill>
                  </a:tcPr>
                </a:tc>
                <a:tc>
                  <a:txBody>
                    <a:bodyPr/>
                    <a:lstStyle/>
                    <a:p>
                      <a:r>
                        <a:rPr sz="1875" b="0">
                          <a:solidFill>
                            <a:srgbClr val="14192F"/>
                          </a:solidFill>
                          <a:latin typeface="Arial"/>
                          <a:ea typeface="Arial"/>
                          <a:cs typeface="Arial"/>
                        </a:rPr>
                        <a:t>30,0%</a:t>
                      </a:r>
                    </a:p>
                  </a:txBody>
                  <a:tcPr marL="91440" marR="91440" marT="45720" marB="45720">
                    <a:solidFill>
                      <a:srgbClr val="F8F9FD"/>
                    </a:solidFill>
                  </a:tcPr>
                </a:tc>
                <a:tc>
                  <a:txBody>
                    <a:bodyPr/>
                    <a:lstStyle/>
                    <a:p>
                      <a:r>
                        <a:rPr sz="1875" b="0">
                          <a:solidFill>
                            <a:srgbClr val="14192F"/>
                          </a:solidFill>
                          <a:latin typeface="Arial"/>
                          <a:ea typeface="Arial"/>
                          <a:cs typeface="Arial"/>
                        </a:rPr>
                        <a:t>75,0%</a:t>
                      </a:r>
                    </a:p>
                  </a:txBody>
                  <a:tcPr marL="91440" marR="91440" marT="45720" marB="45720">
                    <a:solidFill>
                      <a:srgbClr val="F8F9FD"/>
                    </a:solidFill>
                  </a:tcPr>
                </a:tc>
                <a:tc>
                  <a:txBody>
                    <a:bodyPr/>
                    <a:lstStyle/>
                    <a:p>
                      <a:r>
                        <a:rPr sz="1875" b="0">
                          <a:solidFill>
                            <a:srgbClr val="14192F"/>
                          </a:solidFill>
                          <a:latin typeface="Arial"/>
                          <a:ea typeface="Arial"/>
                          <a:cs typeface="Arial"/>
                        </a:rPr>
                        <a:t>100%</a:t>
                      </a:r>
                    </a:p>
                  </a:txBody>
                  <a:tcPr marL="91440" marR="91440" marT="45720" marB="45720">
                    <a:solidFill>
                      <a:srgbClr val="F8F9FD"/>
                    </a:solidFill>
                  </a:tcPr>
                </a:tc>
              </a:tr>
              <a:tr h="531495">
                <a:tc>
                  <a:txBody>
                    <a:bodyPr/>
                    <a:lstStyle/>
                    <a:p>
                      <a:r>
                        <a:rPr sz="1875" b="1">
                          <a:solidFill>
                            <a:srgbClr val="14192F"/>
                          </a:solidFill>
                          <a:latin typeface="Arial"/>
                          <a:ea typeface="Arial"/>
                          <a:cs typeface="Arial"/>
                        </a:rPr>
                        <a:t>S3  Skill-gap</a:t>
                      </a:r>
                    </a:p>
                  </a:txBody>
                  <a:tcPr marL="91440" marR="91440" marT="45720" marB="45720">
                    <a:solidFill>
                      <a:srgbClr val="FFF293"/>
                    </a:solidFill>
                  </a:tcPr>
                </a:tc>
                <a:tc>
                  <a:txBody>
                    <a:bodyPr/>
                    <a:lstStyle/>
                    <a:p>
                      <a:r>
                        <a:rPr sz="1875" b="1">
                          <a:solidFill>
                            <a:srgbClr val="14192F"/>
                          </a:solidFill>
                          <a:latin typeface="Arial"/>
                          <a:ea typeface="Arial"/>
                          <a:cs typeface="Arial"/>
                        </a:rPr>
                        <a:t>55,0%</a:t>
                      </a:r>
                    </a:p>
                  </a:txBody>
                  <a:tcPr marL="91440" marR="91440" marT="45720" marB="45720">
                    <a:solidFill>
                      <a:srgbClr val="FFF293"/>
                    </a:solidFill>
                  </a:tcPr>
                </a:tc>
                <a:tc>
                  <a:txBody>
                    <a:bodyPr/>
                    <a:lstStyle/>
                    <a:p>
                      <a:r>
                        <a:rPr sz="1875" b="1">
                          <a:solidFill>
                            <a:srgbClr val="14192F"/>
                          </a:solidFill>
                          <a:latin typeface="Arial"/>
                          <a:ea typeface="Arial"/>
                          <a:cs typeface="Arial"/>
                        </a:rPr>
                        <a:t>95,0%</a:t>
                      </a:r>
                    </a:p>
                  </a:txBody>
                  <a:tcPr marL="91440" marR="91440" marT="45720" marB="45720">
                    <a:solidFill>
                      <a:srgbClr val="FFF293"/>
                    </a:solidFill>
                  </a:tcPr>
                </a:tc>
                <a:tc>
                  <a:txBody>
                    <a:bodyPr/>
                    <a:lstStyle/>
                    <a:p>
                      <a:r>
                        <a:rPr sz="1875" b="1">
                          <a:solidFill>
                            <a:srgbClr val="14192F"/>
                          </a:solidFill>
                          <a:latin typeface="Arial"/>
                          <a:ea typeface="Arial"/>
                          <a:cs typeface="Arial"/>
                        </a:rPr>
                        <a:t>100%</a:t>
                      </a:r>
                    </a:p>
                  </a:txBody>
                  <a:tcPr marL="91440" marR="91440" marT="45720" marB="45720">
                    <a:solidFill>
                      <a:srgbClr val="FFF293"/>
                    </a:solidFill>
                  </a:tcPr>
                </a:tc>
              </a:tr>
              <a:tr h="531495">
                <a:tc>
                  <a:txBody>
                    <a:bodyPr/>
                    <a:lstStyle/>
                    <a:p>
                      <a:r>
                        <a:rPr sz="1875" b="0">
                          <a:solidFill>
                            <a:srgbClr val="14192F"/>
                          </a:solidFill>
                          <a:latin typeface="Arial"/>
                          <a:ea typeface="Arial"/>
                          <a:cs typeface="Arial"/>
                        </a:rPr>
                        <a:t>S4  Hybrid RRF</a:t>
                      </a:r>
                    </a:p>
                  </a:txBody>
                  <a:tcPr marL="91440" marR="91440" marT="45720" marB="45720">
                    <a:solidFill>
                      <a:srgbClr val="F8F9FD"/>
                    </a:solidFill>
                  </a:tcPr>
                </a:tc>
                <a:tc>
                  <a:txBody>
                    <a:bodyPr/>
                    <a:lstStyle/>
                    <a:p>
                      <a:r>
                        <a:rPr sz="1875" b="0">
                          <a:solidFill>
                            <a:srgbClr val="14192F"/>
                          </a:solidFill>
                          <a:latin typeface="Arial"/>
                          <a:ea typeface="Arial"/>
                          <a:cs typeface="Arial"/>
                        </a:rPr>
                        <a:t>32,5%</a:t>
                      </a:r>
                    </a:p>
                  </a:txBody>
                  <a:tcPr marL="91440" marR="91440" marT="45720" marB="45720">
                    <a:solidFill>
                      <a:srgbClr val="F8F9FD"/>
                    </a:solidFill>
                  </a:tcPr>
                </a:tc>
                <a:tc>
                  <a:txBody>
                    <a:bodyPr/>
                    <a:lstStyle/>
                    <a:p>
                      <a:r>
                        <a:rPr sz="1875" b="0">
                          <a:solidFill>
                            <a:srgbClr val="14192F"/>
                          </a:solidFill>
                          <a:latin typeface="Arial"/>
                          <a:ea typeface="Arial"/>
                          <a:cs typeface="Arial"/>
                        </a:rPr>
                        <a:t>95,0%</a:t>
                      </a:r>
                    </a:p>
                  </a:txBody>
                  <a:tcPr marL="91440" marR="91440" marT="45720" marB="45720">
                    <a:solidFill>
                      <a:srgbClr val="F8F9FD"/>
                    </a:solidFill>
                  </a:tcPr>
                </a:tc>
                <a:tc>
                  <a:txBody>
                    <a:bodyPr/>
                    <a:lstStyle/>
                    <a:p>
                      <a:r>
                        <a:rPr sz="1875" b="0">
                          <a:solidFill>
                            <a:srgbClr val="14192F"/>
                          </a:solidFill>
                          <a:latin typeface="Arial"/>
                          <a:ea typeface="Arial"/>
                          <a:cs typeface="Arial"/>
                        </a:rPr>
                        <a:t>100%</a:t>
                      </a:r>
                    </a:p>
                  </a:txBody>
                  <a:tcPr marL="91440" marR="91440" marT="45720" marB="45720">
                    <a:solidFill>
                      <a:srgbClr val="F8F9FD"/>
                    </a:solidFill>
                  </a:tcPr>
                </a:tc>
              </a:tr>
            </a:tbl>
          </a:graphicData>
        </a:graphic>
      </p:graphicFrame>
      <p:sp>
        <p:nvSpPr>
          <p:cNvPr id="11" name="">
            <a:extLst xmlns:a="http://schemas.openxmlformats.org/drawingml/2006/main">
              <a:ext uri="{FF2B5EF4-FFF2-40B4-BE49-F238E27FC236}">
                <a16:creationId xmlns:a16="http://schemas.microsoft.com/office/drawing/2014/main" id="{C7607F12-B80F-45F7-9A47-D591ED96DD96}"/>
              </a:ext>
            </a:extLst>
          </p:cNvPr>
          <p:cNvSpPr>
            <a:spLocks xmlns:a="http://schemas.openxmlformats.org/drawingml/2006/main" noGrp="1"/>
          </p:cNvSpPr>
          <p:nvPr/>
        </p:nvSpPr>
        <p:spPr>
          <a:xfrm xmlns:a="http://schemas.openxmlformats.org/drawingml/2006/main">
            <a:off x="381000" y="4914900"/>
            <a:ext cx="285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635FF"/>
                </a:solidFill>
                <a:latin typeface="Arial"/>
                <a:ea typeface="Arial"/>
                <a:cs typeface="Arial"/>
              </a:defRPr>
            </a:pPr>
            <a:r>
              <a:rPr sz="2925" b="1">
                <a:solidFill>
                  <a:srgbClr val="1635FF"/>
                </a:solidFill>
                <a:latin typeface="Arial"/>
                <a:ea typeface="Arial"/>
                <a:cs typeface="Arial"/>
              </a:rPr>
              <a:t>+22,5 điểm %</a:t>
            </a:r>
          </a:p>
        </p:txBody>
      </p:sp>
      <p:sp>
        <p:nvSpPr>
          <p:cNvPr id="12" name="">
            <a:extLst xmlns:a="http://schemas.openxmlformats.org/drawingml/2006/main">
              <a:ext uri="{FF2B5EF4-FFF2-40B4-BE49-F238E27FC236}">
                <a16:creationId xmlns:a16="http://schemas.microsoft.com/office/drawing/2014/main" id="{A4BBA89D-9E65-431E-A091-F1A7EA1C61DA}"/>
              </a:ext>
            </a:extLst>
          </p:cNvPr>
          <p:cNvSpPr>
            <a:spLocks xmlns:a="http://schemas.openxmlformats.org/drawingml/2006/main" noGrp="1"/>
          </p:cNvSpPr>
          <p:nvPr/>
        </p:nvSpPr>
        <p:spPr>
          <a:xfrm xmlns:a="http://schemas.openxmlformats.org/drawingml/2006/main">
            <a:off x="3409950" y="4905375"/>
            <a:ext cx="828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192F"/>
                </a:solidFill>
                <a:latin typeface="Arial"/>
                <a:ea typeface="Arial"/>
                <a:cs typeface="Arial"/>
              </a:defRPr>
            </a:pPr>
            <a:r>
              <a:rPr sz="1950" b="1">
                <a:solidFill>
                  <a:srgbClr val="14192F"/>
                </a:solidFill>
                <a:latin typeface="Arial"/>
                <a:ea typeface="Arial"/>
                <a:cs typeface="Arial"/>
              </a:rPr>
              <a:t>độ phủ của S3 so với S4.</a:t>
            </a:r>
          </a:p>
          <a:p xmlns:a="http://schemas.openxmlformats.org/drawingml/2006/main">
            <a:pPr>
              <a:defRPr sz="1950" b="1">
                <a:solidFill>
                  <a:srgbClr val="14192F"/>
                </a:solidFill>
                <a:latin typeface="Arial"/>
                <a:ea typeface="Arial"/>
                <a:cs typeface="Arial"/>
              </a:defRPr>
            </a:pPr>
            <a:r>
              <a:rPr sz="1950" b="1">
                <a:solidFill>
                  <a:srgbClr val="14192F"/>
                </a:solidFill>
                <a:latin typeface="Arial"/>
                <a:ea typeface="Arial"/>
                <a:cs typeface="Arial"/>
              </a:rPr>
              <a:t>Hybrid chưa tốt hơn trên mẫu thử này.</a:t>
            </a:r>
          </a:p>
        </p:txBody>
      </p:sp>
      <p:sp>
        <p:nvSpPr>
          <p:cNvPr id="13" name="">
            <a:extLst xmlns:a="http://schemas.openxmlformats.org/drawingml/2006/main">
              <a:ext uri="{FF2B5EF4-FFF2-40B4-BE49-F238E27FC236}">
                <a16:creationId xmlns:a16="http://schemas.microsoft.com/office/drawing/2014/main" id="{4CAAE520-8244-453F-A034-A2A1D3167F49}"/>
              </a:ext>
            </a:extLst>
          </p:cNvPr>
          <p:cNvSpPr>
            <a:spLocks xmlns:a="http://schemas.openxmlformats.org/drawingml/2006/main" noGrp="1"/>
          </p:cNvSpPr>
          <p:nvPr/>
        </p:nvSpPr>
        <p:spPr>
          <a:xfrm xmlns:a="http://schemas.openxmlformats.org/drawingml/2006/main">
            <a:off x="381000" y="5619750"/>
            <a:ext cx="11430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66078"/>
                </a:solidFill>
                <a:latin typeface="Arial"/>
                <a:ea typeface="Arial"/>
                <a:cs typeface="Arial"/>
              </a:defRPr>
            </a:pPr>
            <a:r>
              <a:rPr sz="1500" b="0">
                <a:solidFill>
                  <a:srgbClr val="566078"/>
                </a:solidFill>
                <a:latin typeface="Arial"/>
                <a:ea typeface="Arial"/>
                <a:cs typeface="Arial"/>
              </a:rPr>
              <a:t>Độ phủ: so chuỗi với 5 kỹ năng JD đầu. Khớp: 60% vị trí + 40% cấp độ.</a:t>
            </a:r>
          </a:p>
          <a:p xmlns:a="http://schemas.openxmlformats.org/drawingml/2006/main">
            <a:pPr>
              <a:defRPr sz="1500" b="0">
                <a:solidFill>
                  <a:srgbClr val="566078"/>
                </a:solidFill>
                <a:latin typeface="Arial"/>
                <a:ea typeface="Arial"/>
                <a:cs typeface="Arial"/>
              </a:defRPr>
            </a:pPr>
            <a:r>
              <a:rPr sz="1500" b="0">
                <a:solidFill>
                  <a:srgbClr val="566078"/>
                </a:solidFill>
                <a:latin typeface="Arial"/>
                <a:ea typeface="Arial"/>
                <a:cs typeface="Arial"/>
              </a:rPr>
              <a:t>Đủ rubric: kiểm tra cấu trúc nội dung.</a:t>
            </a:r>
          </a:p>
        </p:txBody>
      </p:sp>
      <p:sp>
        <p:nvSpPr>
          <p:cNvPr id="14" name="">
            <a:extLst xmlns:a="http://schemas.openxmlformats.org/drawingml/2006/main">
              <a:ext uri="{FF2B5EF4-FFF2-40B4-BE49-F238E27FC236}">
                <a16:creationId xmlns:a16="http://schemas.microsoft.com/office/drawing/2014/main" id="{A7F25962-CD2E-4436-8E3E-21E91C0F9B4B}"/>
              </a:ext>
            </a:extLst>
          </p:cNvPr>
          <p:cNvSpPr>
            <a:spLocks xmlns:a="http://schemas.openxmlformats.org/drawingml/2006/main" noGrp="1"/>
          </p:cNvSpPr>
          <p:nvPr/>
        </p:nvSpPr>
        <p:spPr>
          <a:xfrm xmlns:a="http://schemas.openxmlformats.org/drawingml/2006/main">
            <a:off x="381000" y="6191250"/>
            <a:ext cx="11382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192F"/>
                </a:solidFill>
                <a:latin typeface="Arial"/>
                <a:ea typeface="Arial"/>
                <a:cs typeface="Arial"/>
              </a:defRPr>
            </a:pPr>
            <a:r>
              <a:rPr sz="1500" b="1">
                <a:solidFill>
                  <a:srgbClr val="14192F"/>
                </a:solidFill>
                <a:latin typeface="Arial"/>
                <a:ea typeface="Arial"/>
                <a:cs typeface="Arial"/>
              </a:rPr>
              <a:t>Chỉ số tự xây dựng, chưa phải Ragas chuẩn hoặc đánh giá phỏng vấn đầu cuối.</a:t>
            </a:r>
          </a:p>
        </p:txBody>
      </p:sp>
      <p:sp>
        <p:nvSpPr>
          <p:cNvPr id="15" name="">
            <a:extLst xmlns:a="http://schemas.openxmlformats.org/drawingml/2006/main">
              <a:ext uri="{FF2B5EF4-FFF2-40B4-BE49-F238E27FC236}">
                <a16:creationId xmlns:a16="http://schemas.microsoft.com/office/drawing/2014/main" id="{DFDA4D02-B8E7-4AD0-8849-9FE82E4FC7D5}"/>
              </a:ext>
            </a:extLst>
          </p:cNvPr>
          <p:cNvSpPr>
            <a:spLocks xmlns:a="http://schemas.openxmlformats.org/drawingml/2006/main" noGrp="1"/>
          </p:cNvSpPr>
          <p:nvPr/>
        </p:nvSpPr>
        <p:spPr>
          <a:xfrm xmlns:a="http://schemas.openxmlformats.org/drawingml/2006/main">
            <a:off x="381000" y="64389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66078"/>
                </a:solidFill>
                <a:latin typeface="Arial"/>
                <a:ea typeface="Arial"/>
                <a:cs typeface="Arial"/>
              </a:defRPr>
            </a:pPr>
            <a:r>
              <a:rPr sz="1050" b="0">
                <a:solidFill>
                  <a:srgbClr val="566078"/>
                </a:solidFill>
                <a:latin typeface="Arial"/>
                <a:ea typeface="Arial"/>
                <a:cs typeface="Arial"/>
              </a:rPr>
              <a:t>Nguồn: batch_evaluation_results.csv và src/evaluation/metrics.py</a:t>
            </a:r>
          </a:p>
        </p:txBody>
      </p:sp>
    </p:spTree>
    <p:extLst>
      <p:ext uri="{BB962C8B-B14F-4D97-AF65-F5344CB8AC3E}">
        <p14:creationId xmlns:p14="http://schemas.microsoft.com/office/powerpoint/2010/main" val="265254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2026-09-30T16:41:59.9050000Z</dcterms:created>
  <dcterms:modified xsi:type="dcterms:W3CDTF">2026-09-30T16:41:59.9050000Z</dcterms:modified>
</coreProperties>
</file>